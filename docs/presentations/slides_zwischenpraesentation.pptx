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8"/>
  </p:notesMasterIdLst>
  <p:sldIdLst>
    <p:sldId id="257" r:id="rId5"/>
    <p:sldId id="258" r:id="rId6"/>
    <p:sldId id="259" r:id="rId7"/>
    <p:sldId id="269" r:id="rId8"/>
    <p:sldId id="266" r:id="rId9"/>
    <p:sldId id="267" r:id="rId10"/>
    <p:sldId id="260" r:id="rId11"/>
    <p:sldId id="261" r:id="rId12"/>
    <p:sldId id="262" r:id="rId13"/>
    <p:sldId id="263" r:id="rId14"/>
    <p:sldId id="264" r:id="rId15"/>
    <p:sldId id="265" r:id="rId16"/>
    <p:sldId id="268" r:id="rId17"/>
  </p:sldIdLst>
  <p:sldSz cx="9144000" cy="5143500" type="screen16x9"/>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4DD0BC-64DA-4061-A31C-AF23B44E10FC}" v="161" dt="2026-06-25T13:21:21.866"/>
    <p1510:client id="{AD7006A9-E681-7545-B61A-A43B3C234827}" v="254" dt="2026-06-25T13:29:14.682"/>
    <p1510:client id="{C1BC43F8-2D39-1B49-998B-DBEDAA07C645}" v="181" dt="2026-06-25T12:43:12.531"/>
    <p1510:client id="{C721899F-7122-9D4A-B2CA-F16C0D1C28F1}" v="308" dt="2026-06-25T13:33:12.502"/>
    <p1510:client id="{C85C008B-2FBE-4772-99AA-EEB02AF702D7}" v="20" dt="2026-06-24T20:42:10.4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anna Thiele" userId="12c4960e-9528-40b0-98c9-6f2ce59ab231" providerId="ADAL" clId="{C81B1E0E-4038-5733-955D-6B8E569645A3}"/>
    <pc:docChg chg="undo custSel addSld delSld modSld">
      <pc:chgData name="Johanna Thiele" userId="12c4960e-9528-40b0-98c9-6f2ce59ab231" providerId="ADAL" clId="{C81B1E0E-4038-5733-955D-6B8E569645A3}" dt="2026-06-25T12:43:12.531" v="175" actId="20577"/>
      <pc:docMkLst>
        <pc:docMk/>
      </pc:docMkLst>
      <pc:sldChg chg="add del">
        <pc:chgData name="Johanna Thiele" userId="12c4960e-9528-40b0-98c9-6f2ce59ab231" providerId="ADAL" clId="{C81B1E0E-4038-5733-955D-6B8E569645A3}" dt="2026-06-25T12:37:45.474" v="165" actId="2696"/>
        <pc:sldMkLst>
          <pc:docMk/>
          <pc:sldMk cId="3162621897" sldId="256"/>
        </pc:sldMkLst>
      </pc:sldChg>
      <pc:sldChg chg="modSp mod modNotesTx">
        <pc:chgData name="Johanna Thiele" userId="12c4960e-9528-40b0-98c9-6f2ce59ab231" providerId="ADAL" clId="{C81B1E0E-4038-5733-955D-6B8E569645A3}" dt="2026-06-25T12:38:37.541" v="166" actId="113"/>
        <pc:sldMkLst>
          <pc:docMk/>
          <pc:sldMk cId="747657349" sldId="260"/>
        </pc:sldMkLst>
        <pc:spChg chg="mod">
          <ac:chgData name="Johanna Thiele" userId="12c4960e-9528-40b0-98c9-6f2ce59ab231" providerId="ADAL" clId="{C81B1E0E-4038-5733-955D-6B8E569645A3}" dt="2026-06-25T12:38:37.541" v="166" actId="113"/>
          <ac:spMkLst>
            <pc:docMk/>
            <pc:sldMk cId="747657349" sldId="260"/>
            <ac:spMk id="2" creationId="{792D1315-CDDA-43CC-990F-F14462E59531}"/>
          </ac:spMkLst>
        </pc:spChg>
        <pc:spChg chg="mod">
          <ac:chgData name="Johanna Thiele" userId="12c4960e-9528-40b0-98c9-6f2ce59ab231" providerId="ADAL" clId="{C81B1E0E-4038-5733-955D-6B8E569645A3}" dt="2026-06-25T12:36:20.015" v="161" actId="1076"/>
          <ac:spMkLst>
            <pc:docMk/>
            <pc:sldMk cId="747657349" sldId="260"/>
            <ac:spMk id="3" creationId="{5069EF8B-2344-42A6-B25A-1E759DAF7CDA}"/>
          </ac:spMkLst>
        </pc:spChg>
        <pc:spChg chg="mod">
          <ac:chgData name="Johanna Thiele" userId="12c4960e-9528-40b0-98c9-6f2ce59ab231" providerId="ADAL" clId="{C81B1E0E-4038-5733-955D-6B8E569645A3}" dt="2026-06-25T12:36:13.035" v="160" actId="1076"/>
          <ac:spMkLst>
            <pc:docMk/>
            <pc:sldMk cId="747657349" sldId="260"/>
            <ac:spMk id="6" creationId="{ED6F983E-DA32-42F3-A3DF-13A79828D7D9}"/>
          </ac:spMkLst>
        </pc:spChg>
      </pc:sldChg>
      <pc:sldChg chg="modSp mod modNotesTx">
        <pc:chgData name="Johanna Thiele" userId="12c4960e-9528-40b0-98c9-6f2ce59ab231" providerId="ADAL" clId="{C81B1E0E-4038-5733-955D-6B8E569645A3}" dt="2026-06-25T12:43:12.531" v="175" actId="20577"/>
        <pc:sldMkLst>
          <pc:docMk/>
          <pc:sldMk cId="1467402393" sldId="261"/>
        </pc:sldMkLst>
        <pc:spChg chg="mod">
          <ac:chgData name="Johanna Thiele" userId="12c4960e-9528-40b0-98c9-6f2ce59ab231" providerId="ADAL" clId="{C81B1E0E-4038-5733-955D-6B8E569645A3}" dt="2026-06-25T12:38:41.336" v="167" actId="113"/>
          <ac:spMkLst>
            <pc:docMk/>
            <pc:sldMk cId="1467402393" sldId="261"/>
            <ac:spMk id="2" creationId="{0CCFA744-AFDD-44CC-BE04-0FEC9571669A}"/>
          </ac:spMkLst>
        </pc:spChg>
        <pc:spChg chg="mod">
          <ac:chgData name="Johanna Thiele" userId="12c4960e-9528-40b0-98c9-6f2ce59ab231" providerId="ADAL" clId="{C81B1E0E-4038-5733-955D-6B8E569645A3}" dt="2026-06-25T12:11:16.139" v="73" actId="1076"/>
          <ac:spMkLst>
            <pc:docMk/>
            <pc:sldMk cId="1467402393" sldId="261"/>
            <ac:spMk id="3" creationId="{EBAC0D4C-E14C-49F5-96AF-55F493232798}"/>
          </ac:spMkLst>
        </pc:spChg>
        <pc:spChg chg="mod">
          <ac:chgData name="Johanna Thiele" userId="12c4960e-9528-40b0-98c9-6f2ce59ab231" providerId="ADAL" clId="{C81B1E0E-4038-5733-955D-6B8E569645A3}" dt="2026-06-25T12:01:53.055" v="45" actId="20577"/>
          <ac:spMkLst>
            <pc:docMk/>
            <pc:sldMk cId="1467402393" sldId="261"/>
            <ac:spMk id="14" creationId="{E76AFE2B-DBA9-49DC-ACCF-C95E8EDA780A}"/>
          </ac:spMkLst>
        </pc:spChg>
        <pc:spChg chg="mod">
          <ac:chgData name="Johanna Thiele" userId="12c4960e-9528-40b0-98c9-6f2ce59ab231" providerId="ADAL" clId="{C81B1E0E-4038-5733-955D-6B8E569645A3}" dt="2026-06-25T12:11:05.190" v="72" actId="1076"/>
          <ac:spMkLst>
            <pc:docMk/>
            <pc:sldMk cId="1467402393" sldId="261"/>
            <ac:spMk id="29" creationId="{B34E8598-39FB-4BE4-AE88-08F5462CFFDC}"/>
          </ac:spMkLst>
        </pc:spChg>
        <pc:spChg chg="mod">
          <ac:chgData name="Johanna Thiele" userId="12c4960e-9528-40b0-98c9-6f2ce59ab231" providerId="ADAL" clId="{C81B1E0E-4038-5733-955D-6B8E569645A3}" dt="2026-06-25T12:10:57.843" v="71" actId="1076"/>
          <ac:spMkLst>
            <pc:docMk/>
            <pc:sldMk cId="1467402393" sldId="261"/>
            <ac:spMk id="32" creationId="{0C8EE8A3-7F89-42AD-8DEA-BE476949A596}"/>
          </ac:spMkLst>
        </pc:spChg>
      </pc:sldChg>
      <pc:sldChg chg="modSp mod">
        <pc:chgData name="Johanna Thiele" userId="12c4960e-9528-40b0-98c9-6f2ce59ab231" providerId="ADAL" clId="{C81B1E0E-4038-5733-955D-6B8E569645A3}" dt="2026-06-25T12:38:47.852" v="168" actId="113"/>
        <pc:sldMkLst>
          <pc:docMk/>
          <pc:sldMk cId="1211974920" sldId="263"/>
        </pc:sldMkLst>
        <pc:spChg chg="mod">
          <ac:chgData name="Johanna Thiele" userId="12c4960e-9528-40b0-98c9-6f2ce59ab231" providerId="ADAL" clId="{C81B1E0E-4038-5733-955D-6B8E569645A3}" dt="2026-06-25T12:38:47.852" v="168" actId="113"/>
          <ac:spMkLst>
            <pc:docMk/>
            <pc:sldMk cId="1211974920" sldId="263"/>
            <ac:spMk id="2" creationId="{7D7EFCF1-9761-41D1-91FA-EACB80B766AA}"/>
          </ac:spMkLst>
        </pc:spChg>
      </pc:sldChg>
    </pc:docChg>
  </pc:docChgLst>
  <pc:docChgLst>
    <pc:chgData name="Tara Golle" userId="974432cd-efcb-4ccc-aabf-ed94400d38ed" providerId="ADAL" clId="{E6E64988-90A0-542A-AA93-74804D079122}"/>
    <pc:docChg chg="modSld">
      <pc:chgData name="Tara Golle" userId="974432cd-efcb-4ccc-aabf-ed94400d38ed" providerId="ADAL" clId="{E6E64988-90A0-542A-AA93-74804D079122}" dt="2026-06-25T06:52:50.541" v="250" actId="20577"/>
      <pc:docMkLst>
        <pc:docMk/>
      </pc:docMkLst>
      <pc:sldChg chg="modSp mod modNotesTx">
        <pc:chgData name="Tara Golle" userId="974432cd-efcb-4ccc-aabf-ed94400d38ed" providerId="ADAL" clId="{E6E64988-90A0-542A-AA93-74804D079122}" dt="2026-06-25T06:52:50.541" v="250" actId="20577"/>
        <pc:sldMkLst>
          <pc:docMk/>
          <pc:sldMk cId="0" sldId="269"/>
        </pc:sldMkLst>
        <pc:spChg chg="mod">
          <ac:chgData name="Tara Golle" userId="974432cd-efcb-4ccc-aabf-ed94400d38ed" providerId="ADAL" clId="{E6E64988-90A0-542A-AA93-74804D079122}" dt="2026-06-25T06:50:20.789" v="204" actId="20577"/>
          <ac:spMkLst>
            <pc:docMk/>
            <pc:sldMk cId="0" sldId="269"/>
            <ac:spMk id="4" creationId="{00000000-0000-0000-0000-000000000000}"/>
          </ac:spMkLst>
        </pc:spChg>
        <pc:spChg chg="mod">
          <ac:chgData name="Tara Golle" userId="974432cd-efcb-4ccc-aabf-ed94400d38ed" providerId="ADAL" clId="{E6E64988-90A0-542A-AA93-74804D079122}" dt="2026-06-25T06:50:57.339" v="213" actId="20577"/>
          <ac:spMkLst>
            <pc:docMk/>
            <pc:sldMk cId="0" sldId="269"/>
            <ac:spMk id="71" creationId="{00000000-0000-0000-0000-000000000000}"/>
          </ac:spMkLst>
        </pc:spChg>
        <pc:spChg chg="mod">
          <ac:chgData name="Tara Golle" userId="974432cd-efcb-4ccc-aabf-ed94400d38ed" providerId="ADAL" clId="{E6E64988-90A0-542A-AA93-74804D079122}" dt="2026-06-25T06:51:37.184" v="235" actId="20577"/>
          <ac:spMkLst>
            <pc:docMk/>
            <pc:sldMk cId="0" sldId="269"/>
            <ac:spMk id="73" creationId="{00000000-0000-0000-0000-000000000000}"/>
          </ac:spMkLst>
        </pc:spChg>
      </pc:sldChg>
    </pc:docChg>
  </pc:docChgLst>
  <pc:docChgLst>
    <pc:chgData name="Moritz Binder" userId="8f032e70-613a-4e66-a83b-c768b5b61e1c" providerId="ADAL" clId="{1FD0BED8-1FF0-5B12-A622-343E70343151}"/>
    <pc:docChg chg="undo custSel addSld modSld sldOrd">
      <pc:chgData name="Moritz Binder" userId="8f032e70-613a-4e66-a83b-c768b5b61e1c" providerId="ADAL" clId="{1FD0BED8-1FF0-5B12-A622-343E70343151}" dt="2026-06-25T13:33:12.501" v="468" actId="729"/>
      <pc:docMkLst>
        <pc:docMk/>
      </pc:docMkLst>
      <pc:sldChg chg="addSp delSp modSp mod modShow">
        <pc:chgData name="Moritz Binder" userId="8f032e70-613a-4e66-a83b-c768b5b61e1c" providerId="ADAL" clId="{1FD0BED8-1FF0-5B12-A622-343E70343151}" dt="2026-06-25T06:45:21.698" v="150" actId="729"/>
        <pc:sldMkLst>
          <pc:docMk/>
          <pc:sldMk cId="1221009033" sldId="259"/>
        </pc:sldMkLst>
        <pc:spChg chg="mod">
          <ac:chgData name="Moritz Binder" userId="8f032e70-613a-4e66-a83b-c768b5b61e1c" providerId="ADAL" clId="{1FD0BED8-1FF0-5B12-A622-343E70343151}" dt="2026-06-25T06:21:23.909" v="84" actId="1037"/>
          <ac:spMkLst>
            <pc:docMk/>
            <pc:sldMk cId="1221009033" sldId="259"/>
            <ac:spMk id="9" creationId="{56FF4DF1-68CF-4786-854D-0CADA7DD50A4}"/>
          </ac:spMkLst>
        </pc:spChg>
        <pc:spChg chg="mod">
          <ac:chgData name="Moritz Binder" userId="8f032e70-613a-4e66-a83b-c768b5b61e1c" providerId="ADAL" clId="{1FD0BED8-1FF0-5B12-A622-343E70343151}" dt="2026-06-25T06:21:23.909" v="84" actId="1037"/>
          <ac:spMkLst>
            <pc:docMk/>
            <pc:sldMk cId="1221009033" sldId="259"/>
            <ac:spMk id="11" creationId="{8A8E15B6-9A6B-4AD0-A909-CE3DE334A352}"/>
          </ac:spMkLst>
        </pc:spChg>
        <pc:spChg chg="mod">
          <ac:chgData name="Moritz Binder" userId="8f032e70-613a-4e66-a83b-c768b5b61e1c" providerId="ADAL" clId="{1FD0BED8-1FF0-5B12-A622-343E70343151}" dt="2026-06-25T06:21:23.909" v="84" actId="1037"/>
          <ac:spMkLst>
            <pc:docMk/>
            <pc:sldMk cId="1221009033" sldId="259"/>
            <ac:spMk id="12" creationId="{0355E2C1-6A3E-44C8-948D-FA7DE5D9B410}"/>
          </ac:spMkLst>
        </pc:spChg>
        <pc:spChg chg="mod">
          <ac:chgData name="Moritz Binder" userId="8f032e70-613a-4e66-a83b-c768b5b61e1c" providerId="ADAL" clId="{1FD0BED8-1FF0-5B12-A622-343E70343151}" dt="2026-06-25T06:21:23.909" v="84" actId="1037"/>
          <ac:spMkLst>
            <pc:docMk/>
            <pc:sldMk cId="1221009033" sldId="259"/>
            <ac:spMk id="13" creationId="{61307571-48ED-4654-BBC6-51F919080B07}"/>
          </ac:spMkLst>
        </pc:spChg>
        <pc:spChg chg="mod">
          <ac:chgData name="Moritz Binder" userId="8f032e70-613a-4e66-a83b-c768b5b61e1c" providerId="ADAL" clId="{1FD0BED8-1FF0-5B12-A622-343E70343151}" dt="2026-06-25T06:21:23.909" v="84" actId="1037"/>
          <ac:spMkLst>
            <pc:docMk/>
            <pc:sldMk cId="1221009033" sldId="259"/>
            <ac:spMk id="14" creationId="{395D3234-7D4F-477C-8A81-9D5D094191DF}"/>
          </ac:spMkLst>
        </pc:spChg>
        <pc:spChg chg="mod">
          <ac:chgData name="Moritz Binder" userId="8f032e70-613a-4e66-a83b-c768b5b61e1c" providerId="ADAL" clId="{1FD0BED8-1FF0-5B12-A622-343E70343151}" dt="2026-06-25T06:21:23.909" v="84" actId="1037"/>
          <ac:spMkLst>
            <pc:docMk/>
            <pc:sldMk cId="1221009033" sldId="259"/>
            <ac:spMk id="15" creationId="{F0C649E2-5DD9-4CA1-B090-03BCEEE60417}"/>
          </ac:spMkLst>
        </pc:spChg>
        <pc:spChg chg="mod">
          <ac:chgData name="Moritz Binder" userId="8f032e70-613a-4e66-a83b-c768b5b61e1c" providerId="ADAL" clId="{1FD0BED8-1FF0-5B12-A622-343E70343151}" dt="2026-06-25T06:21:23.909" v="84" actId="1037"/>
          <ac:spMkLst>
            <pc:docMk/>
            <pc:sldMk cId="1221009033" sldId="259"/>
            <ac:spMk id="16" creationId="{559F3DF0-30E3-41A5-AAD1-9DE301BBD4E2}"/>
          </ac:spMkLst>
        </pc:spChg>
        <pc:spChg chg="mod">
          <ac:chgData name="Moritz Binder" userId="8f032e70-613a-4e66-a83b-c768b5b61e1c" providerId="ADAL" clId="{1FD0BED8-1FF0-5B12-A622-343E70343151}" dt="2026-06-25T06:21:23.909" v="84" actId="1037"/>
          <ac:spMkLst>
            <pc:docMk/>
            <pc:sldMk cId="1221009033" sldId="259"/>
            <ac:spMk id="17" creationId="{F9AA4F5B-11C2-4974-BAB6-79298688DDD0}"/>
          </ac:spMkLst>
        </pc:spChg>
        <pc:spChg chg="mod">
          <ac:chgData name="Moritz Binder" userId="8f032e70-613a-4e66-a83b-c768b5b61e1c" providerId="ADAL" clId="{1FD0BED8-1FF0-5B12-A622-343E70343151}" dt="2026-06-25T06:21:23.909" v="84" actId="1037"/>
          <ac:spMkLst>
            <pc:docMk/>
            <pc:sldMk cId="1221009033" sldId="259"/>
            <ac:spMk id="18" creationId="{B5A61A37-9365-4977-841F-6D66CF893013}"/>
          </ac:spMkLst>
        </pc:spChg>
        <pc:spChg chg="mod">
          <ac:chgData name="Moritz Binder" userId="8f032e70-613a-4e66-a83b-c768b5b61e1c" providerId="ADAL" clId="{1FD0BED8-1FF0-5B12-A622-343E70343151}" dt="2026-06-25T06:21:23.909" v="84" actId="1037"/>
          <ac:spMkLst>
            <pc:docMk/>
            <pc:sldMk cId="1221009033" sldId="259"/>
            <ac:spMk id="20" creationId="{6BC0BA2C-B7FC-4C40-92EB-4D38445A9A88}"/>
          </ac:spMkLst>
        </pc:spChg>
        <pc:spChg chg="add del">
          <ac:chgData name="Moritz Binder" userId="8f032e70-613a-4e66-a83b-c768b5b61e1c" providerId="ADAL" clId="{1FD0BED8-1FF0-5B12-A622-343E70343151}" dt="2026-06-25T06:44:47.110" v="148" actId="22"/>
          <ac:spMkLst>
            <pc:docMk/>
            <pc:sldMk cId="1221009033" sldId="259"/>
            <ac:spMk id="22" creationId="{E7C5789C-A149-FBED-B61E-BBE1B47944C5}"/>
          </ac:spMkLst>
        </pc:spChg>
      </pc:sldChg>
      <pc:sldChg chg="mod modShow">
        <pc:chgData name="Moritz Binder" userId="8f032e70-613a-4e66-a83b-c768b5b61e1c" providerId="ADAL" clId="{1FD0BED8-1FF0-5B12-A622-343E70343151}" dt="2026-06-25T13:33:12.501" v="468" actId="729"/>
        <pc:sldMkLst>
          <pc:docMk/>
          <pc:sldMk cId="1712137402" sldId="265"/>
        </pc:sldMkLst>
      </pc:sldChg>
      <pc:sldChg chg="modSp add mod modNotesTx">
        <pc:chgData name="Moritz Binder" userId="8f032e70-613a-4e66-a83b-c768b5b61e1c" providerId="ADAL" clId="{1FD0BED8-1FF0-5B12-A622-343E70343151}" dt="2026-06-25T13:19:03.006" v="462" actId="20577"/>
        <pc:sldMkLst>
          <pc:docMk/>
          <pc:sldMk cId="0" sldId="266"/>
        </pc:sldMkLst>
        <pc:spChg chg="mod">
          <ac:chgData name="Moritz Binder" userId="8f032e70-613a-4e66-a83b-c768b5b61e1c" providerId="ADAL" clId="{1FD0BED8-1FF0-5B12-A622-343E70343151}" dt="2026-06-25T07:53:01.477" v="391" actId="5793"/>
          <ac:spMkLst>
            <pc:docMk/>
            <pc:sldMk cId="0" sldId="266"/>
            <ac:spMk id="15" creationId="{00000000-0000-0000-0000-000000000000}"/>
          </ac:spMkLst>
        </pc:spChg>
      </pc:sldChg>
      <pc:sldChg chg="add modNotesTx">
        <pc:chgData name="Moritz Binder" userId="8f032e70-613a-4e66-a83b-c768b5b61e1c" providerId="ADAL" clId="{1FD0BED8-1FF0-5B12-A622-343E70343151}" dt="2026-06-25T13:20:23.319" v="467" actId="20577"/>
        <pc:sldMkLst>
          <pc:docMk/>
          <pc:sldMk cId="0" sldId="267"/>
        </pc:sldMkLst>
      </pc:sldChg>
      <pc:sldChg chg="modSp add mod ord setBg modNotesTx">
        <pc:chgData name="Moritz Binder" userId="8f032e70-613a-4e66-a83b-c768b5b61e1c" providerId="ADAL" clId="{1FD0BED8-1FF0-5B12-A622-343E70343151}" dt="2026-06-25T11:58:51.216" v="457" actId="20578"/>
        <pc:sldMkLst>
          <pc:docMk/>
          <pc:sldMk cId="0" sldId="268"/>
        </pc:sldMkLst>
        <pc:spChg chg="mod">
          <ac:chgData name="Moritz Binder" userId="8f032e70-613a-4e66-a83b-c768b5b61e1c" providerId="ADAL" clId="{1FD0BED8-1FF0-5B12-A622-343E70343151}" dt="2026-06-25T11:58:33.436" v="454" actId="20577"/>
          <ac:spMkLst>
            <pc:docMk/>
            <pc:sldMk cId="0" sldId="268"/>
            <ac:spMk id="3" creationId="{00000000-0000-0000-0000-000000000000}"/>
          </ac:spMkLst>
        </pc:spChg>
      </pc:sldChg>
      <pc:sldChg chg="add">
        <pc:chgData name="Moritz Binder" userId="8f032e70-613a-4e66-a83b-c768b5b61e1c" providerId="ADAL" clId="{1FD0BED8-1FF0-5B12-A622-343E70343151}" dt="2026-06-25T06:44:53.606" v="149"/>
        <pc:sldMkLst>
          <pc:docMk/>
          <pc:sldMk cId="0" sldId="269"/>
        </pc:sldMkLst>
      </pc:sldChg>
    </pc:docChg>
  </pc:docChgLst>
  <pc:docChgLst>
    <pc:chgData name="Pascal Müller" userId="7d0aeeb0-d32c-470c-80be-6f5b5039f143" providerId="ADAL" clId="{C3CAF78E-84A3-4DB2-A303-83FA3EC8E424}"/>
    <pc:docChg chg="modSld">
      <pc:chgData name="Pascal Müller" userId="7d0aeeb0-d32c-470c-80be-6f5b5039f143" providerId="ADAL" clId="{C3CAF78E-84A3-4DB2-A303-83FA3EC8E424}" dt="2026-06-24T20:42:10.481" v="19" actId="20577"/>
      <pc:docMkLst>
        <pc:docMk/>
      </pc:docMkLst>
      <pc:sldChg chg="modNotesTx">
        <pc:chgData name="Pascal Müller" userId="7d0aeeb0-d32c-470c-80be-6f5b5039f143" providerId="ADAL" clId="{C3CAF78E-84A3-4DB2-A303-83FA3EC8E424}" dt="2026-06-24T20:42:10.481" v="19" actId="20577"/>
        <pc:sldMkLst>
          <pc:docMk/>
          <pc:sldMk cId="468474815" sldId="262"/>
        </pc:sldMkLst>
      </pc:sldChg>
      <pc:sldChg chg="mod modShow">
        <pc:chgData name="Pascal Müller" userId="7d0aeeb0-d32c-470c-80be-6f5b5039f143" providerId="ADAL" clId="{C3CAF78E-84A3-4DB2-A303-83FA3EC8E424}" dt="2026-06-24T20:29:48.353" v="0" actId="729"/>
        <pc:sldMkLst>
          <pc:docMk/>
          <pc:sldMk cId="1939395903" sldId="264"/>
        </pc:sldMkLst>
      </pc:sldChg>
    </pc:docChg>
  </pc:docChgLst>
  <pc:docChgLst>
    <pc:chgData name="Pascal Müller" userId="7d0aeeb0-d32c-470c-80be-6f5b5039f143" providerId="ADAL" clId="{AA5E28B2-B344-4808-8B53-835B2819AC80}"/>
    <pc:docChg chg="modSld">
      <pc:chgData name="Pascal Müller" userId="7d0aeeb0-d32c-470c-80be-6f5b5039f143" providerId="ADAL" clId="{AA5E28B2-B344-4808-8B53-835B2819AC80}" dt="2026-06-25T13:21:21.865" v="160" actId="20577"/>
      <pc:docMkLst>
        <pc:docMk/>
      </pc:docMkLst>
      <pc:sldChg chg="modNotesTx">
        <pc:chgData name="Pascal Müller" userId="7d0aeeb0-d32c-470c-80be-6f5b5039f143" providerId="ADAL" clId="{AA5E28B2-B344-4808-8B53-835B2819AC80}" dt="2026-06-25T13:21:21.865" v="160" actId="20577"/>
        <pc:sldMkLst>
          <pc:docMk/>
          <pc:sldMk cId="1211974920" sldId="263"/>
        </pc:sldMkLst>
      </pc:sldChg>
      <pc:sldChg chg="modNotesTx">
        <pc:chgData name="Pascal Müller" userId="7d0aeeb0-d32c-470c-80be-6f5b5039f143" providerId="ADAL" clId="{AA5E28B2-B344-4808-8B53-835B2819AC80}" dt="2026-06-25T12:03:38.490" v="57" actId="20577"/>
        <pc:sldMkLst>
          <pc:docMk/>
          <pc:sldMk cId="1712137402" sldId="26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Wir entwickeln einen Dynamic </a:t>
            </a:r>
            <a:r>
              <a:rPr lang="de-DE" err="1"/>
              <a:t>Used</a:t>
            </a:r>
            <a:r>
              <a:rPr lang="de-DE"/>
              <a:t> Car Pricing Agent.</a:t>
            </a:r>
          </a:p>
          <a:p>
            <a:endParaRPr lang="de-DE"/>
          </a:p>
          <a:p>
            <a:r>
              <a:rPr lang="de-DE"/>
              <a:t>Dort kann man Daten für das eigene Auto eingeben und der Agent trifft eine Vorhersage welchen </a:t>
            </a:r>
            <a:r>
              <a:rPr lang="de-DE" err="1"/>
              <a:t>Selling</a:t>
            </a:r>
            <a:r>
              <a:rPr lang="de-DE"/>
              <a:t> Price wir erwarten können. Wir können Daten wie Marke, Kilometerstand oder auch die Saisonalität miteinberechnen um den Verkaufspreis möglichst genau vorherzusagen.</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Bevor wir zum Modell kommen, kurz zu unseren Daten — denn die Qualität der Grundlage entscheidet über alles.</a:t>
            </a:r>
          </a:p>
          <a:p>
            <a:endParaRPr lang="de-DE"/>
          </a:p>
          <a:p>
            <a:r>
              <a:rPr lang="de-DE"/>
              <a:t>Wir arbeiten mit zwei Datenquellen, die wir bewusst kombiniert haben.</a:t>
            </a:r>
          </a:p>
          <a:p>
            <a:endParaRPr lang="de-DE"/>
          </a:p>
          <a:p>
            <a:r>
              <a:rPr lang="de-DE"/>
              <a:t>Erstens: Mikrodaten. Das ist der </a:t>
            </a:r>
            <a:r>
              <a:rPr lang="de-DE" err="1"/>
              <a:t>Manheim</a:t>
            </a:r>
            <a:r>
              <a:rPr lang="de-DE"/>
              <a:t>-Datensatz aus dem B2B-Auktionsmarkt — über 558.000 reale Fahrzeugtransaktionen. Darin stecken Infos wie Marke, Modell, Kilometerstand, Zustand und natürlich der tatsächliche Verkaufspreis. Das ist unsere Trainingsbasis für Stage 1 des Modells.</a:t>
            </a:r>
          </a:p>
          <a:p>
            <a:r>
              <a:rPr lang="de-DE"/>
              <a:t>Wichtig: der Datensatz behandelt nur den US-Markt.</a:t>
            </a:r>
          </a:p>
          <a:p>
            <a:endParaRPr lang="de-DE"/>
          </a:p>
          <a:p>
            <a:r>
              <a:rPr lang="de-DE"/>
              <a:t>Zweitens: Makrodaten. Wir ziehen monatliche CPI-Daten von FRED — der Federal Reserve </a:t>
            </a:r>
            <a:r>
              <a:rPr lang="de-DE" err="1"/>
              <a:t>Economic</a:t>
            </a:r>
            <a:r>
              <a:rPr lang="de-DE"/>
              <a:t> Data. CPI = Consumer Price Index , Indikator zur Messung der Inflation. Enthält auch </a:t>
            </a:r>
            <a:r>
              <a:rPr lang="de-DE" err="1"/>
              <a:t>federal</a:t>
            </a:r>
            <a:r>
              <a:rPr lang="de-DE"/>
              <a:t> </a:t>
            </a:r>
            <a:r>
              <a:rPr lang="de-DE" err="1"/>
              <a:t>funds</a:t>
            </a:r>
            <a:r>
              <a:rPr lang="de-DE"/>
              <a:t> rate = </a:t>
            </a:r>
            <a:r>
              <a:rPr lang="de-DE" err="1"/>
              <a:t>leitzins</a:t>
            </a:r>
            <a:r>
              <a:rPr lang="de-DE"/>
              <a:t>.</a:t>
            </a:r>
          </a:p>
          <a:p>
            <a:r>
              <a:rPr lang="de-DE"/>
              <a:t>Datensatz umfasst 366 Monate und zeigt uns, wie sich die allgemeine Preisentwicklung über Zeit verändert hat. Damit normalisieren wir die Fahrzeugpreise auf ein Basisjahr, damit Stage 2 sauber den Makro-Effekt draufrechnen kann. Die Makrodaten geben uns die externe Perspektive.</a:t>
            </a:r>
          </a:p>
          <a:p>
            <a:endParaRPr lang="de-DE"/>
          </a:p>
          <a:p>
            <a:r>
              <a:rPr lang="de-DE"/>
              <a:t>Die Idee dahinter: Fahrzeugphysik und Makroökonomie getrennt modellieren — und dann zusammenführen.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izenplatzhalter 2"/>
          <p:cNvSpPr>
            <a:spLocks noGrp="1"/>
          </p:cNvSpPr>
          <p:nvPr>
            <p:ph type="body" idx="1"/>
          </p:nvPr>
        </p:nvSpPr>
        <p:spPr>
          <a:xfrm>
            <a:off x="514350" y="4400550"/>
            <a:ext cx="4114800" cy="3600450"/>
          </a:xfrm>
          <a:prstGeom prst="rect">
            <a:avLst/>
          </a:prstGeom>
        </p:spPr>
        <p:txBody>
          <a:bodyPr/>
          <a:lstStyle/>
          <a:p>
            <a:r>
              <a:rPr lang="de-DE"/>
              <a:t>Jetzt kurz dazu, wie wir aus diesen Rohdaten einen sauberen, modellierbaren Datensatz gemacht haben.</a:t>
            </a:r>
          </a:p>
          <a:p>
            <a:endParaRPr lang="de-DE"/>
          </a:p>
          <a:p>
            <a:endParaRPr lang="de-DE"/>
          </a:p>
          <a:p>
            <a:r>
              <a:rPr lang="de-DE"/>
              <a:t>Schritt 1 ist </a:t>
            </a:r>
            <a:r>
              <a:rPr lang="de-DE" err="1"/>
              <a:t>Cleaning</a:t>
            </a:r>
            <a:r>
              <a:rPr lang="de-DE"/>
              <a:t>. Der Rohdatensatz hatte einige Problemstellen: fehlerhafte Zeilen mit zusätzlichen Variablen, fehlende Verkaufspreise oder Kilometerstände. Die haben wir repariert und bereinigt. </a:t>
            </a:r>
          </a:p>
          <a:p>
            <a:endParaRPr lang="de-DE"/>
          </a:p>
          <a:p>
            <a:r>
              <a:rPr lang="de-DE"/>
              <a:t>Zudem haben wir Kategorien normalisiert, also Groß und Kleinschreibung vereinheitlicht und </a:t>
            </a:r>
            <a:r>
              <a:rPr lang="de-DE" err="1"/>
              <a:t>whitespaces</a:t>
            </a:r>
            <a:r>
              <a:rPr lang="de-DE"/>
              <a:t> entfernt</a:t>
            </a:r>
          </a:p>
          <a:p>
            <a:endParaRPr lang="de-DE"/>
          </a:p>
          <a:p>
            <a:r>
              <a:rPr lang="de-DE"/>
              <a:t>Außerdem haben wir Ausreißer ausgeschlossen und aus dem </a:t>
            </a:r>
            <a:r>
              <a:rPr lang="de-DE" err="1"/>
              <a:t>saledate</a:t>
            </a:r>
            <a:r>
              <a:rPr lang="de-DE"/>
              <a:t> </a:t>
            </a:r>
            <a:r>
              <a:rPr lang="de-DE" err="1"/>
              <a:t>year_month</a:t>
            </a:r>
            <a:r>
              <a:rPr lang="de-DE"/>
              <a:t> extrahiert. </a:t>
            </a:r>
          </a:p>
          <a:p>
            <a:endParaRPr lang="de-DE"/>
          </a:p>
          <a:p>
            <a:r>
              <a:rPr lang="de-DE"/>
              <a:t>Nach dem </a:t>
            </a:r>
            <a:r>
              <a:rPr lang="de-DE" err="1"/>
              <a:t>Cleaning</a:t>
            </a:r>
            <a:r>
              <a:rPr lang="de-DE"/>
              <a:t> bleiben uns 558.743 valide Transaktionen.</a:t>
            </a:r>
          </a:p>
          <a:p>
            <a:endParaRPr lang="de-DE"/>
          </a:p>
        </p:txBody>
      </p:sp>
    </p:spTree>
    <p:extLst>
      <p:ext uri="{BB962C8B-B14F-4D97-AF65-F5344CB8AC3E}">
        <p14:creationId xmlns:p14="http://schemas.microsoft.com/office/powerpoint/2010/main" val="39245462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kern="1200">
                <a:effectLst/>
              </a:rPr>
              <a:t>Kommen wir zum Feature Engineering, also der Aufbereitung der Rohdaten fürs Modell. Aus dem ursprünglichen Datensatz haben wir einen sauberen Trainingsdatensatz mit 534.000 Zeilen und vorerst 9 Spalten gemacht. „Vorerst" deshalb, weil wir Stage 1 bewusst schlank halten wollten.</a:t>
            </a:r>
          </a:p>
          <a:p>
            <a:r>
              <a:rPr lang="de-DE" sz="1200" b="0" i="0" kern="1200">
                <a:effectLst/>
              </a:rPr>
              <a:t>Drei Spalten haben wir selbst berechnet, weil sie im Rohdatensatz nicht stehen: das Fahrzeugalter aus Verkaufsjahr minus Baujahr, sowie den Verkaufszeitpunkt einmal als Jahr-Monat-Kombination und einmal nur als Monatszahl, die wir später für saisonale Muster brauchen.</a:t>
            </a:r>
          </a:p>
          <a:p>
            <a:r>
              <a:rPr lang="de-DE" sz="1200" b="0" i="0" kern="1200">
                <a:effectLst/>
              </a:rPr>
              <a:t>Von den übrigen Spalten haben wir nur die preisrelevanten übernommen — Marke, Modell, Karosserieform, Zustand und Kilometerstand — sowie den Verkaufspreis als Zielwert, also den Wert, den das Modell am Ende vorhersagen soll. Zeilen mit fehlenden Angaben haben wir komplett entfernt.</a:t>
            </a:r>
          </a:p>
          <a:p>
            <a:r>
              <a:rPr lang="de-DE" sz="1200" b="0" i="0" kern="1200">
                <a:effectLst/>
              </a:rPr>
              <a:t>Besonders bewusst ausgeschlossen haben wir den MMR, den </a:t>
            </a:r>
            <a:r>
              <a:rPr lang="de-DE" sz="1200" b="0" i="0" kern="1200" err="1">
                <a:effectLst/>
              </a:rPr>
              <a:t>Manheim</a:t>
            </a:r>
            <a:r>
              <a:rPr lang="de-DE" sz="1200" b="0" i="0" kern="1200">
                <a:effectLst/>
              </a:rPr>
              <a:t> Market Report — denn der ist bereits eine fertige Preisschätzung für dasselbe Fahrzeug. Würden wir ihn einbauen, hätten wir Data Leakage: Das Modell würde den Preis nicht aus den Fahrzeugeigenschaften herleiten, sondern nur eine bestehende Schätzung nachplappern.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kern="1200">
                <a:effectLst/>
              </a:rPr>
              <a:t>Warum brauchen wir überhaupt Wirtschaftsdaten? Unser Fahrzeugdatensatz stammt aus den Jahren 2014 und 2015. </a:t>
            </a:r>
          </a:p>
          <a:p>
            <a:r>
              <a:rPr lang="de-DE" sz="1200" b="0" i="0" kern="1200">
                <a:effectLst/>
              </a:rPr>
              <a:t>Wenn wir aber heute einen Preis schätzen wollen, reicht das Auto allein nicht — wir müssen wissen, wie sich der Markt seitdem verändert hat. Genau dafür holen wir wirtschaftliche Kennzahlen dazu.</a:t>
            </a:r>
          </a:p>
          <a:p>
            <a:r>
              <a:rPr lang="de-DE" sz="1200" b="0" i="0" kern="1200">
                <a:effectLst/>
              </a:rPr>
              <a:t>Diese Kennzahlen stammen von FRED — das ist die kostenlose, öffentliche Wirtschaftsdatenbank der US-Notenbank. </a:t>
            </a:r>
          </a:p>
          <a:p>
            <a:r>
              <a:rPr lang="de-DE" sz="1200" b="0" i="0" kern="1200">
                <a:effectLst/>
              </a:rPr>
              <a:t>Die wichtigste ist der Verbraucherpreisindex für Gebrauchtwagen — vereinfacht: ein Maß dafür, wie teuer Gebrauchtwagen im Schnitt gerade sind. </a:t>
            </a:r>
          </a:p>
          <a:p>
            <a:r>
              <a:rPr lang="de-DE" sz="1200" b="0" i="0" kern="1200">
                <a:effectLst/>
              </a:rPr>
              <a:t>Dazu kommen Kennzahlen, die die Nachfrage beeinflussen: der Leitzins, also wie teuer Kredite sind; die Konsumentenstimmung; die Arbeitslosenquote; die Gesamtzahl verkaufter Fahrzeuge; ein Rezessionsindikator; und ein Krisenindikator für Marktstress.</a:t>
            </a:r>
          </a:p>
          <a:p>
            <a:r>
              <a:rPr lang="de-DE" sz="1200" b="0" i="0" kern="1200">
                <a:effectLst/>
              </a:rPr>
              <a:t>Diese Wirtschaftsdaten verbinden wir mit jedem Auto über den Verkaufsmonat. Jedes Auto bekommt also die wirtschaftliche Lage angeheftet, die zum Zeitpunkt seines Verkaufs herrschte. (Fehlt für einen Monat mal ein Wert, füllen wir ihn mit dem letzten bekannten auf. )</a:t>
            </a:r>
          </a:p>
          <a:p>
            <a:r>
              <a:rPr lang="de-DE" sz="1200" b="0" i="0" kern="1200">
                <a:effectLst/>
              </a:rPr>
              <a:t>Aus all dem ziehen wir für Stage 2 eine einzige Kennzahl: den Preis-Multiplikator. Wir setzen das Preisniveau von 2015 auf den Wert 1,0 und messen alles daran. Ein Wert von 1,2177 im Juni 2026 heißt dann ganz konkret: Gebrauchtwagen sind heute rund 22 Prozent teurer als 2015. Mit genau diesem Faktor rechnen wir den 2015er-Basispreis aus Stage 1 auf das heutige Niveau hoch.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de-DE"/>
              <a:t>Wir haben mehrere Modelle unter gleichen Bedingungen getestet.</a:t>
            </a:r>
          </a:p>
          <a:p>
            <a:pPr marL="171450" indent="-171450">
              <a:buFontTx/>
              <a:buChar char="-"/>
            </a:pPr>
            <a:r>
              <a:rPr lang="de-DE"/>
              <a:t>Alle Modelle hatten dieselbe Datenbasis: </a:t>
            </a:r>
            <a:r>
              <a:rPr lang="de-DE" b="1"/>
              <a:t>200.000 Zeilen</a:t>
            </a:r>
            <a:r>
              <a:rPr lang="de-DE"/>
              <a:t>, gleicher </a:t>
            </a:r>
            <a:r>
              <a:rPr lang="de-DE" b="1"/>
              <a:t>80/20 Split</a:t>
            </a:r>
            <a:r>
              <a:rPr lang="de-DE"/>
              <a:t> und dieselben Features.</a:t>
            </a:r>
          </a:p>
          <a:p>
            <a:pPr marL="171450" indent="-171450">
              <a:buFontTx/>
              <a:buChar char="-"/>
            </a:pPr>
            <a:r>
              <a:rPr lang="de-DE"/>
              <a:t>Ziel war herauszufinden, welches Modell sich am besten als Grundlage für unsere Preisprognose eignet.</a:t>
            </a:r>
          </a:p>
          <a:p>
            <a:pPr marL="171450" indent="-171450">
              <a:buFontTx/>
              <a:buChar char="-"/>
            </a:pPr>
            <a:r>
              <a:rPr lang="de-DE"/>
              <a:t>Die wichtigste Kennzahl ist für uns der </a:t>
            </a:r>
            <a:r>
              <a:rPr lang="de-DE" b="1"/>
              <a:t>MAE (</a:t>
            </a:r>
            <a:r>
              <a:rPr lang="de-DE" b="1" err="1"/>
              <a:t>mean</a:t>
            </a:r>
            <a:r>
              <a:rPr lang="de-DE" b="1"/>
              <a:t> </a:t>
            </a:r>
            <a:r>
              <a:rPr lang="de-DE" b="1" err="1"/>
              <a:t>average</a:t>
            </a:r>
            <a:r>
              <a:rPr lang="de-DE" b="1"/>
              <a:t> </a:t>
            </a:r>
            <a:r>
              <a:rPr lang="de-DE" b="1" err="1"/>
              <a:t>error</a:t>
            </a:r>
            <a:r>
              <a:rPr lang="de-DE" b="1"/>
              <a:t>)</a:t>
            </a:r>
            <a:r>
              <a:rPr lang="de-DE"/>
              <a:t>, also die durchschnittliche Abweichung in Dollar.</a:t>
            </a:r>
          </a:p>
          <a:p>
            <a:pPr marL="171450" indent="-171450">
              <a:buFontTx/>
              <a:buChar char="-"/>
            </a:pPr>
            <a:r>
              <a:rPr lang="de-DE" b="1"/>
              <a:t>HistGradientBoosting</a:t>
            </a:r>
            <a:r>
              <a:rPr lang="de-DE"/>
              <a:t> hat mit ca. </a:t>
            </a:r>
            <a:r>
              <a:rPr lang="de-DE" b="1"/>
              <a:t>1.766 Dollar MAE</a:t>
            </a:r>
            <a:r>
              <a:rPr lang="de-DE"/>
              <a:t> am besten abgeschnitten.</a:t>
            </a:r>
          </a:p>
          <a:p>
            <a:pPr marL="171450" indent="-171450">
              <a:buFontTx/>
              <a:buChar char="-"/>
            </a:pPr>
            <a:r>
              <a:rPr lang="de-DE"/>
              <a:t>Es hat außerdem den höchsten R²-Wert und den niedrigsten MAPE (Mean Absolute </a:t>
            </a:r>
            <a:r>
              <a:rPr lang="de-DE" err="1"/>
              <a:t>Percentage</a:t>
            </a:r>
            <a:r>
              <a:rPr lang="de-DE"/>
              <a:t> Error).</a:t>
            </a:r>
          </a:p>
          <a:p>
            <a:pPr marL="171450" indent="-171450">
              <a:buFontTx/>
              <a:buChar char="-"/>
            </a:pPr>
            <a:r>
              <a:rPr lang="de-DE" err="1"/>
              <a:t>XGBoost</a:t>
            </a:r>
            <a:r>
              <a:rPr lang="de-DE"/>
              <a:t> war zwar schneller, aber etwas ungenauer und hatte bei uns technische Systemabhängigkeiten.</a:t>
            </a:r>
          </a:p>
          <a:p>
            <a:pPr marL="171450" indent="-171450">
              <a:buFontTx/>
              <a:buChar char="-"/>
            </a:pPr>
            <a:r>
              <a:rPr lang="de-DE"/>
              <a:t>Deshalb nutzen wir </a:t>
            </a:r>
            <a:r>
              <a:rPr lang="de-DE" b="1"/>
              <a:t>HistGradientBoosting</a:t>
            </a:r>
            <a:r>
              <a:rPr lang="de-DE"/>
              <a:t> als finales Stage-1-Modell.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a:t>Stage 1 ist unser eigentliches </a:t>
            </a:r>
            <a:r>
              <a:rPr lang="de-DE" b="1" err="1"/>
              <a:t>Machine</a:t>
            </a:r>
            <a:r>
              <a:rPr lang="de-DE" b="1"/>
              <a:t>-Learning-Modell.</a:t>
            </a:r>
            <a:endParaRPr lang="de-DE"/>
          </a:p>
          <a:p>
            <a:r>
              <a:rPr lang="de-DE"/>
              <a:t>- Es schätzt aus den Fahrzeugdaten einen ersten </a:t>
            </a:r>
            <a:r>
              <a:rPr lang="de-DE" b="1"/>
              <a:t>Basispreis</a:t>
            </a:r>
            <a:r>
              <a:rPr lang="de-DE"/>
              <a:t>.</a:t>
            </a:r>
          </a:p>
          <a:p>
            <a:r>
              <a:rPr lang="de-DE" b="1"/>
              <a:t>Als Input bekommt das Modell mehrere Fahrzeugmerkmale.</a:t>
            </a:r>
            <a:endParaRPr lang="de-DE"/>
          </a:p>
          <a:p>
            <a:r>
              <a:rPr lang="de-DE"/>
              <a:t>Dazu gehören die Marke, Modell, Fahrzeugalter, Kilometerstand, Zustand und Karosserieform.</a:t>
            </a:r>
          </a:p>
          <a:p>
            <a:r>
              <a:rPr lang="de-DE" b="1"/>
              <a:t>Die Modellleistung ist insgesamt solide.</a:t>
            </a:r>
            <a:endParaRPr lang="de-DE"/>
          </a:p>
          <a:p>
            <a:r>
              <a:rPr lang="de-DE"/>
              <a:t>- Der MAE liegt bei rund </a:t>
            </a:r>
            <a:r>
              <a:rPr lang="de-DE" b="1"/>
              <a:t>1.850 Dollar</a:t>
            </a:r>
            <a:r>
              <a:rPr lang="de-DE"/>
              <a:t>.</a:t>
            </a:r>
          </a:p>
          <a:p>
            <a:r>
              <a:rPr lang="de-DE"/>
              <a:t>- Das bedeutet: Im Durchschnitt liegt das Modell etwa 1.850 Dollar neben dem tatsächlichen Verkaufspreis.</a:t>
            </a:r>
          </a:p>
          <a:p>
            <a:r>
              <a:rPr lang="de-DE" b="1"/>
              <a:t>Das R² liegt bei etwa 0,88.</a:t>
            </a:r>
            <a:endParaRPr lang="de-DE"/>
          </a:p>
          <a:p>
            <a:r>
              <a:rPr lang="de-DE"/>
              <a:t>- Das bedeutet, dass das Modell einen großen Teil der Preisunterschiede erklären kann.</a:t>
            </a:r>
          </a:p>
          <a:p>
            <a:r>
              <a:rPr lang="de-DE"/>
              <a:t>- Es erkennt also wichtige Muster in den Fahrzeugdaten.</a:t>
            </a:r>
          </a:p>
          <a:p>
            <a:r>
              <a:rPr lang="de-DE" b="1"/>
              <a:t>Der MAPE liegt bei rund 16,4 Prozent.</a:t>
            </a:r>
            <a:endParaRPr lang="de-DE"/>
          </a:p>
          <a:p>
            <a:r>
              <a:rPr lang="de-DE"/>
              <a:t>- Das ist der durchschnittliche prozentuale Fehler.</a:t>
            </a:r>
          </a:p>
          <a:p>
            <a:r>
              <a:rPr lang="de-DE"/>
              <a:t>- Er hilft uns, den Fehler unabhängig von der absoluten Preishöhe einzuordnen.</a:t>
            </a:r>
          </a:p>
          <a:p>
            <a:r>
              <a:rPr lang="de-DE" b="1"/>
              <a:t>Die Feature </a:t>
            </a:r>
            <a:r>
              <a:rPr lang="de-DE" b="1" err="1"/>
              <a:t>Importance</a:t>
            </a:r>
            <a:r>
              <a:rPr lang="de-DE" b="1"/>
              <a:t> zeigt, welche Merkmale besonders wichtig sind.</a:t>
            </a:r>
            <a:endParaRPr lang="de-DE"/>
          </a:p>
          <a:p>
            <a:pPr marL="171450" indent="-171450">
              <a:buFontTx/>
              <a:buChar char="-"/>
            </a:pPr>
            <a:r>
              <a:rPr lang="de-DE"/>
              <a:t>Am wichtigsten ist die </a:t>
            </a:r>
            <a:r>
              <a:rPr lang="de-DE" b="1"/>
              <a:t>Marke</a:t>
            </a:r>
            <a:r>
              <a:rPr lang="de-DE"/>
              <a:t>.</a:t>
            </a:r>
          </a:p>
          <a:p>
            <a:pPr marL="171450" indent="-171450">
              <a:buFontTx/>
              <a:buChar char="-"/>
            </a:pPr>
            <a:r>
              <a:rPr lang="de-DE"/>
              <a:t>Danach folgen </a:t>
            </a:r>
            <a:r>
              <a:rPr lang="de-DE" b="1"/>
              <a:t>Fahrzeugalter</a:t>
            </a:r>
            <a:r>
              <a:rPr lang="de-DE"/>
              <a:t>, </a:t>
            </a:r>
            <a:r>
              <a:rPr lang="de-DE" b="1"/>
              <a:t>Karosserieform</a:t>
            </a:r>
            <a:r>
              <a:rPr lang="de-DE"/>
              <a:t>, </a:t>
            </a:r>
            <a:r>
              <a:rPr lang="de-DE" b="1"/>
              <a:t>Kilometerstand</a:t>
            </a:r>
            <a:r>
              <a:rPr lang="de-DE"/>
              <a:t>, </a:t>
            </a:r>
            <a:r>
              <a:rPr lang="de-DE" b="1"/>
              <a:t>Modell</a:t>
            </a:r>
            <a:r>
              <a:rPr lang="de-DE"/>
              <a:t> und </a:t>
            </a:r>
            <a:r>
              <a:rPr lang="de-DE" b="1"/>
              <a:t>Zustand</a:t>
            </a:r>
            <a:r>
              <a:rPr lang="de-DE"/>
              <a:t>.</a:t>
            </a:r>
          </a:p>
          <a:p>
            <a:pPr marL="171450" indent="-171450">
              <a:buFontTx/>
              <a:buChar char="-"/>
            </a:pPr>
            <a:r>
              <a:rPr lang="de-DE"/>
              <a:t>Das passt gut zur Realität, weil Marke, Alter und Fahrzeugtyp stark beeinflussen, wie viel ein Gebrauchtwagen wert ist.</a:t>
            </a:r>
          </a:p>
          <a:p>
            <a:r>
              <a:rPr lang="de-DE" b="1"/>
              <a:t>Die Segmentanalyse zeigt, wo das Modell besonders gut funktioniert.</a:t>
            </a:r>
            <a:endParaRPr lang="de-DE"/>
          </a:p>
          <a:p>
            <a:pPr marL="171450" indent="-171450">
              <a:buFontTx/>
              <a:buChar char="-"/>
            </a:pPr>
            <a:r>
              <a:rPr lang="de-DE"/>
              <a:t>Am besten funktioniert das Modell im </a:t>
            </a:r>
            <a:r>
              <a:rPr lang="de-DE" b="1"/>
              <a:t>Mid-Range-Segment</a:t>
            </a:r>
            <a:r>
              <a:rPr lang="de-DE"/>
              <a:t> zwischen </a:t>
            </a:r>
            <a:r>
              <a:rPr lang="de-DE" b="1"/>
              <a:t>10.000 und 20.000 Dollar</a:t>
            </a:r>
            <a:r>
              <a:rPr lang="de-DE"/>
              <a:t>.</a:t>
            </a:r>
          </a:p>
          <a:p>
            <a:pPr marL="171450" indent="-171450">
              <a:buFontTx/>
              <a:buChar char="-"/>
            </a:pPr>
            <a:r>
              <a:rPr lang="de-DE"/>
              <a:t>Dort liegt der Fehler bei nur ca. </a:t>
            </a:r>
            <a:r>
              <a:rPr lang="de-DE" b="1"/>
              <a:t>10,8 Prozent MAPE</a:t>
            </a:r>
            <a:r>
              <a:rPr lang="de-DE"/>
              <a:t>.</a:t>
            </a:r>
          </a:p>
          <a:p>
            <a:pPr marL="171450" indent="-171450">
              <a:buFontTx/>
              <a:buChar char="-"/>
            </a:pPr>
            <a:r>
              <a:rPr lang="de-DE"/>
              <a:t>Bei sehr günstigen und sehr teuren Fahrzeugen ist die Prognose schwieriger.</a:t>
            </a:r>
          </a:p>
          <a:p>
            <a:pPr marL="171450" indent="-171450">
              <a:buFontTx/>
              <a:buChar char="-"/>
            </a:pPr>
            <a:r>
              <a:rPr lang="de-DE"/>
              <a:t>Bei günstigen Autos wirken kleine absolute Fehler prozentual schnell groß.</a:t>
            </a:r>
          </a:p>
          <a:p>
            <a:pPr marL="171450" indent="-171450">
              <a:buFontTx/>
              <a:buChar char="-"/>
            </a:pPr>
            <a:r>
              <a:rPr lang="de-DE"/>
              <a:t>Bei teuren Autos fehlen uns wahrscheinlich zusätzliche Informationen wie Ausstattung, Sondermodell oder Fahrzeughistorie.</a:t>
            </a:r>
          </a:p>
          <a:p>
            <a:pPr marL="171450" indent="-171450">
              <a:buFontTx/>
              <a:buChar char="-"/>
            </a:pPr>
            <a:endParaRPr lang="de-DE"/>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Stage 2 ist keine zweite konkurrierende KI, sondern eine Marktkorrektur. Wir verwenden den Gebrauchtwagen-CPI aus FRED – einen offiziellen Preisindex, der zeigt, wie sich das Preisniveau über die Jahre verändert hat. Diesen Index normieren wir auf das Basisjahr 2015 mit dem Wert 1,0. Ein Multiplikator von 1,2177 bedeutet konkret: Das Preisniveau liegt rund 21,8 Prozent über dem von 2015. Die Formel ist bewusst einfach: Der Stage-2-Preis entspricht dem Stage-1-Basispreis multipliziert mit dem CPI-Faktor.</a:t>
            </a:r>
          </a:p>
          <a:p>
            <a:r>
              <a:rPr lang="de-DE"/>
              <a:t>Im historischen Backtest verbessert Stage 2 den Fehler nur leicht. Das ist logisch, weil die Testdaten selbst aus 2014 und 2015 stammen und damit sehr nah am Basisjahr liegen. Der eigentliche Mehrwert zeigt sich bei späteren Jahren, insbesondere seit dem starken Preisanstieg ab 2021 (durch Corona).</a:t>
            </a:r>
          </a:p>
          <a:p>
            <a:endParaRPr lang="de-DE"/>
          </a:p>
          <a:p>
            <a:endParaRPr lang="de-DE"/>
          </a:p>
          <a:p>
            <a:endParaRPr lang="de-DE"/>
          </a:p>
          <a:p>
            <a:r>
              <a:rPr lang="de-DE" b="1"/>
              <a:t>Stage 2 – mögliche Rückfragen</a:t>
            </a:r>
          </a:p>
          <a:p>
            <a:r>
              <a:rPr lang="de-DE" b="1"/>
              <a:t>1. Was ist der CPI überhaupt?</a:t>
            </a:r>
          </a:p>
          <a:p>
            <a:r>
              <a:rPr lang="de-DE"/>
              <a:t>„Der CPI ist ein Preisindex. Er zeigt, wie sich das allgemeine Preisniveau für Gebrauchtwagen gegenüber einem Referenzzeitraum verändert hat.“</a:t>
            </a:r>
          </a:p>
          <a:p>
            <a:r>
              <a:rPr lang="de-DE" b="1"/>
              <a:t>2. Woher stammen die CPI-Daten?</a:t>
            </a:r>
          </a:p>
          <a:p>
            <a:r>
              <a:rPr lang="de-DE"/>
              <a:t>„Von FRED, der Wirtschaftsdatenbank der US-Notenbank Federal Reserve. Wir verwenden speziell den amerikanischen Preisindex für gebrauchte Autos und Trucks.“</a:t>
            </a:r>
          </a:p>
          <a:p>
            <a:r>
              <a:rPr lang="de-DE" b="1"/>
              <a:t>3. Warum verwendet ihr amerikanische Daten?</a:t>
            </a:r>
          </a:p>
          <a:p>
            <a:r>
              <a:rPr lang="de-DE"/>
              <a:t>„Auch unsere Fahrzeugdaten stammen aus amerikanischen Auktionen. Dadurch passen Fahrzeug- und Wirtschaftsdaten geografisch zusammen.“</a:t>
            </a:r>
          </a:p>
          <a:p>
            <a:r>
              <a:rPr lang="de-DE" b="1"/>
              <a:t>4. Warum ist 2015 das Basisjahr?</a:t>
            </a:r>
          </a:p>
          <a:p>
            <a:r>
              <a:rPr lang="de-DE"/>
              <a:t>„Unsere Trainingsdaten stammen hauptsächlich aus 2014 und 2015. Deshalb verwenden wir 2015 als Referenzniveau und setzen dieses auf 1,0.“</a:t>
            </a:r>
          </a:p>
          <a:p>
            <a:r>
              <a:rPr lang="de-DE" b="1"/>
              <a:t>5. Was bedeutet der Faktor 1,2177?</a:t>
            </a:r>
          </a:p>
          <a:p>
            <a:r>
              <a:rPr lang="de-DE"/>
              <a:t>„Das Gebrauchtwagenpreisniveau liegt damit rund 21,8 Prozent über dem Niveau von 2015. Ein damaliger Basispreis von 10.000 Dollar würde auf ungefähr 12.177 Dollar angepasst.“</a:t>
            </a:r>
          </a:p>
          <a:p>
            <a:r>
              <a:rPr lang="de-DE" b="1"/>
              <a:t>6. Ist Stage 2 ein weiteres KI-Modell?</a:t>
            </a:r>
          </a:p>
          <a:p>
            <a:r>
              <a:rPr lang="de-DE"/>
              <a:t>„Nein. Stage 2 ist eine transparente mathematische Korrektur. Der von Stage 1 geschätzte Preis wird lediglich mit dem CPI-Faktor multipliziert.“</a:t>
            </a:r>
          </a:p>
          <a:p>
            <a:r>
              <a:rPr lang="de-DE" b="1"/>
              <a:t>7. Warum trainiert ihr den CPI nicht direkt im ML-Modell?</a:t>
            </a:r>
          </a:p>
          <a:p>
            <a:r>
              <a:rPr lang="de-DE"/>
              <a:t>„Wir möchten Fahrzeugwert und Marktveränderung klar trennen. Dadurch bleibt nachvollziehbar, welcher Preisanteil aus den Fahrzeugeigenschaften und welcher aus dem Marktumfeld stammt.“</a:t>
            </a:r>
          </a:p>
          <a:p>
            <a:r>
              <a:rPr lang="de-DE" b="1"/>
              <a:t>8. Warum verwendet ihr nur den CPI?</a:t>
            </a:r>
          </a:p>
          <a:p>
            <a:r>
              <a:rPr lang="de-DE"/>
              <a:t>„Der Gebrauchtwagen-CPI misst direkt das Preisniveau des relevanten Marktes. Andere Faktoren wie Zinsen oder Arbeitslosigkeit beeinflussen zwar die Nachfrage, ihre genaue Gewichtung wäre aber eine zusätzliche Modellierungsaufgabe.“</a:t>
            </a:r>
          </a:p>
          <a:p>
            <a:r>
              <a:rPr lang="de-DE" b="1"/>
              <a:t>9. Warum verbessert Stage 2 den Backtest nur minimal?</a:t>
            </a:r>
          </a:p>
          <a:p>
            <a:r>
              <a:rPr lang="de-DE"/>
              <a:t>„Die Testdaten stammen aus 2014 und 2015 und liegen damit direkt am Basisjahr. Der CPI-Faktor liegt dort fast bei 1,0 und verändert die Preise deshalb kaum.“</a:t>
            </a:r>
          </a:p>
          <a:p>
            <a:r>
              <a:rPr lang="de-DE" b="1"/>
              <a:t>10. Wozu braucht man Stage 2 dann überhaupt?</a:t>
            </a:r>
          </a:p>
          <a:p>
            <a:r>
              <a:rPr lang="de-DE"/>
              <a:t>„Der Nutzen entsteht bei Bewertungen deutlich nach 2015. Besonders ab 2021 hat sich das Gebrauchtwagenpreisniveau stark verändert. Ohne Stage 2 würde das Modell weiterhin Preise auf dem alten Niveau ausgeben.“</a:t>
            </a:r>
          </a:p>
          <a:p>
            <a:r>
              <a:rPr lang="de-DE" b="1"/>
              <a:t>11. Beweist der Backtest, dass Stage 2 funktioniert?</a:t>
            </a:r>
          </a:p>
          <a:p>
            <a:r>
              <a:rPr lang="de-DE"/>
              <a:t>„Er zeigt zumindest, dass die Korrektur im historischen Referenzzeitraum keinen nennenswerten zusätzlichen Fehler erzeugt. Der langfristige Nutzen ergibt sich aus der Aktualisierung auf das spätere Marktpreisniveau.“</a:t>
            </a:r>
          </a:p>
          <a:p>
            <a:r>
              <a:rPr lang="de-DE" b="1"/>
              <a:t>12. Ist der CPI-Faktor eine exakte Preissteigerung für jedes Auto?</a:t>
            </a:r>
          </a:p>
          <a:p>
            <a:r>
              <a:rPr lang="de-DE"/>
              <a:t>„Nein. Er beschreibt die durchschnittliche Entwicklung des gesamten Gebrauchtwagenmarktes. Einzelne Marken, Modelle oder Segmente können sich anders entwickeln.“</a:t>
            </a:r>
          </a:p>
          <a:p>
            <a:r>
              <a:rPr lang="de-DE" b="1"/>
              <a:t>13. Kann Stage 2 zukünftige Preise vorhersagen?</a:t>
            </a:r>
          </a:p>
          <a:p>
            <a:r>
              <a:rPr lang="de-DE"/>
              <a:t>„Nein. Stage 2 ist keine Zukunftsprognose. Sie verwendet den bekannten CPI des gewählten Monats beziehungsweise den zuletzt verfügbaren Wert.“</a:t>
            </a:r>
          </a:p>
          <a:p>
            <a:r>
              <a:rPr lang="de-DE" b="1"/>
              <a:t>14. Was passiert, wenn für einen Monat noch kein CPI vorliegt?</a:t>
            </a:r>
          </a:p>
          <a:p>
            <a:r>
              <a:rPr lang="de-DE"/>
              <a:t>„Dann verwenden wir den zuletzt verfügbaren Wert. Das ist notwendig, weil Wirtschaftsdaten immer mit einer gewissen Verzögerung veröffentlicht werden.“</a:t>
            </a:r>
          </a:p>
          <a:p>
            <a:r>
              <a:rPr lang="de-DE" b="1"/>
              <a:t>15. Ist 1,2177 wirklich ein neuer Messwert für Juni 2026?</a:t>
            </a:r>
          </a:p>
          <a:p>
            <a:r>
              <a:rPr lang="de-DE"/>
              <a:t>„Juni 2026 ist unser Bewertungsdatum. Weil die neuesten CPI-Werte verzögert veröffentlicht werden, wurde für die letzten Monate der zuletzt verfügbare Messwert fortgeschrieben.“</a:t>
            </a:r>
          </a:p>
          <a:p>
            <a:r>
              <a:rPr lang="de-DE" b="1"/>
              <a:t>16. Warum verwendet ihr Multiplikation und keine Addition?</a:t>
            </a:r>
          </a:p>
          <a:p>
            <a:r>
              <a:rPr lang="de-DE"/>
              <a:t>„Preisniveauveränderungen sind relative Veränderungen. Eine Steigerung um 20 Prozent sollte sich bei einem günstigen und einem teuren Fahrzeug proportional auswirken.“</a:t>
            </a:r>
          </a:p>
          <a:p>
            <a:r>
              <a:rPr lang="de-DE" b="1"/>
              <a:t>17. Was ist der größte Schwachpunkt von Stage 2?</a:t>
            </a:r>
          </a:p>
          <a:p>
            <a:r>
              <a:rPr lang="de-DE"/>
              <a:t>„Ein allgemeiner Index kann nicht alle Veränderungen einzelner Marken und Fahrzeugsegmente abbilden. Außerdem erfasst er keine individuellen regionalen oder technologischen Entwicklungen.“</a:t>
            </a:r>
          </a:p>
          <a:p>
            <a:endParaRPr lang="de-DE"/>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Stage 3 ist die feinste Korrektur: die Saisonalität. Die Grundidee ist, dass bestimmte Karosserieformen in einzelnen Monaten etwas höhere oder niedrigere Preise erzielen können.</a:t>
            </a:r>
          </a:p>
          <a:p>
            <a:r>
              <a:rPr lang="de-DE"/>
              <a:t>Dabei vergleichen wir nicht einfach die monatlichen Durchschnittspreise, denn das wäre verzerrt: In manchen Monaten wurden möglicherweise zufällig mehr teure oder neuere Fahrzeuge verkauft. Stattdessen betrachten wir bereinigte Modellabweichungen. Wir prüfen also, in welchen Monaten Fahrzeuge systematisch über oder unter dem von Stage 1 erwarteten Preis verkauft wurden. Der allgemeine CPI-Markteffekt wird dabei ebenfalls berücksichtigt.</a:t>
            </a:r>
          </a:p>
          <a:p>
            <a:r>
              <a:rPr lang="de-DE"/>
              <a:t>Der Effekt ist klein, aber messbar: Der MAE (Mean Absolute Error) sinkt von rund 1.895 auf 1.870 Dollar, also um 1,31 Prozent. Bei Monaten oder Karosserieformen mit zu wenigen Daten bleibt der Faktor neutral bei 1,0. Dadurch gibt die App keine unsicheren Preiskorrekturen oder Empfehlungen aus.</a:t>
            </a:r>
          </a:p>
          <a:p>
            <a:endParaRPr lang="de-DE"/>
          </a:p>
          <a:p>
            <a:endParaRPr lang="de-DE"/>
          </a:p>
          <a:p>
            <a:r>
              <a:rPr lang="de-DE" err="1"/>
              <a:t>streamlit</a:t>
            </a:r>
            <a:r>
              <a:rPr lang="de-DE"/>
              <a:t> </a:t>
            </a:r>
            <a:r>
              <a:rPr lang="de-DE" err="1"/>
              <a:t>demo</a:t>
            </a:r>
            <a:r>
              <a:rPr lang="de-DE"/>
              <a:t>:</a:t>
            </a:r>
          </a:p>
          <a:p>
            <a:r>
              <a:rPr lang="de-DE"/>
              <a:t>Gut dann hier mal alles </a:t>
            </a:r>
            <a:r>
              <a:rPr lang="de-DE" err="1"/>
              <a:t>zsm</a:t>
            </a:r>
            <a:r>
              <a:rPr lang="de-DE"/>
              <a:t> veranschaulicht in unserer </a:t>
            </a:r>
            <a:r>
              <a:rPr lang="de-DE" err="1"/>
              <a:t>Streamlit</a:t>
            </a:r>
            <a:r>
              <a:rPr lang="de-DE"/>
              <a:t>-App. Man gibt Fahrzeugdaten ein — Marke, Modell, Baujahr, Kilometerstand, Zustand und Karosserieform — und wählt zusätzlich ein Bewertungsdatum aus. Im Hintergrund läuft dann genau die Drei-Stage-Pipeline: ML-Basispreis, CPI-Anpassung, Saisonfaktor. Am Ende sieht der Nutzer den finalen Preisvorschlag. </a:t>
            </a:r>
          </a:p>
          <a:p>
            <a:r>
              <a:rPr lang="de-DE"/>
              <a:t>Und damit übergebe ich an Moritz</a:t>
            </a:r>
          </a:p>
          <a:p>
            <a:endParaRPr lang="de-DE"/>
          </a:p>
          <a:p>
            <a:endParaRPr lang="de-DE"/>
          </a:p>
          <a:p>
            <a:r>
              <a:rPr lang="de-DE" b="1"/>
              <a:t>Stage 3 – mögliche Rückfragen</a:t>
            </a:r>
          </a:p>
          <a:p>
            <a:r>
              <a:rPr lang="de-DE" b="1"/>
              <a:t>1. Was macht Stage 3 genau?</a:t>
            </a:r>
          </a:p>
          <a:p>
            <a:r>
              <a:rPr lang="de-DE"/>
              <a:t>„Stage 3 prüft, ob bestimmte Karosserieformen in einzelnen Monaten systematisch etwas über oder unter ihrem erwarteten Preis verkauft werden.“</a:t>
            </a:r>
          </a:p>
          <a:p>
            <a:r>
              <a:rPr lang="de-DE" b="1"/>
              <a:t>2. Ist Stage 3 ein weiteres ML-Modell?</a:t>
            </a:r>
          </a:p>
          <a:p>
            <a:r>
              <a:rPr lang="de-DE"/>
              <a:t>„Nein. Stage 3 ist eine regelbasierte, datenbasierte Korrektur. Sie verwendet zuvor berechnete Saisonfaktoren nach Karosserieform und Monat.“</a:t>
            </a:r>
          </a:p>
          <a:p>
            <a:r>
              <a:rPr lang="de-DE" b="1"/>
              <a:t>3. Was ist ein Saisonfaktor?</a:t>
            </a:r>
          </a:p>
          <a:p>
            <a:r>
              <a:rPr lang="de-DE"/>
              <a:t>„Ein Multiplikator für den Preis. Ein Faktor von 1,02 erhöht den Preis um zwei Prozent, ein Faktor von 0,97 senkt ihn um drei Prozent.“</a:t>
            </a:r>
          </a:p>
          <a:p>
            <a:r>
              <a:rPr lang="de-DE" b="1"/>
              <a:t>4. Warum betrachtet ihr Karosserieform und Monat gemeinsam?</a:t>
            </a:r>
          </a:p>
          <a:p>
            <a:r>
              <a:rPr lang="de-DE"/>
              <a:t>„Weil Saisonalität nicht bei allen Fahrzeugarten gleich sein muss. Ein Cabrio kann beispielsweise anders auf die Jahreszeit reagieren als ein Minivan.“</a:t>
            </a:r>
          </a:p>
          <a:p>
            <a:r>
              <a:rPr lang="de-DE" b="1"/>
              <a:t>5. Warum vergleicht ihr nicht einfach die Durchschnittspreise pro Monat?</a:t>
            </a:r>
          </a:p>
          <a:p>
            <a:r>
              <a:rPr lang="de-DE"/>
              <a:t>„Das wäre verzerrt. Wenn in einem Monat zufällig mehr neue, teure oder hochwertige Fahrzeuge verkauft wurden, wäre der Durchschnitt höher, auch ohne echten Saisoneffekt.“</a:t>
            </a:r>
          </a:p>
          <a:p>
            <a:r>
              <a:rPr lang="de-DE" b="1"/>
              <a:t>6. Wie verhindert ihr diese Verzerrung?</a:t>
            </a:r>
          </a:p>
          <a:p>
            <a:r>
              <a:rPr lang="de-DE"/>
              <a:t>„Wir vergleichen den tatsächlichen Verkaufspreis mit dem Preis, den Stage 1 aufgrund der Fahrzeugeigenschaften erwartet hat. Dadurch wird ein großer Teil der Unterschiede im Fahrzeugmix berücksichtigt.“</a:t>
            </a:r>
          </a:p>
          <a:p>
            <a:r>
              <a:rPr lang="de-DE" b="1"/>
              <a:t>7. Warum muss zusätzlich der CPI berücksichtigt werden?</a:t>
            </a:r>
          </a:p>
          <a:p>
            <a:r>
              <a:rPr lang="de-DE"/>
              <a:t>„Sonst könnten allgemeine Marktbewegungen fälschlich als Saison interpretiert werden. Deshalb werden die Verkaufspreise zuerst auf ein vergleichbares Marktpreisniveau gebracht.“</a:t>
            </a:r>
          </a:p>
          <a:p>
            <a:r>
              <a:rPr lang="de-DE" b="1"/>
              <a:t>8. Was sind „bereinigte Modellabweichungen“?</a:t>
            </a:r>
          </a:p>
          <a:p>
            <a:r>
              <a:rPr lang="de-DE"/>
              <a:t>„Das ist die Differenz beziehungsweise das Verhältnis zwischen erwartetem und tatsächlichem Preis, nachdem Fahrzeugeigenschaften und allgemeines Marktpreisniveau berücksichtigt wurden.“</a:t>
            </a:r>
          </a:p>
          <a:p>
            <a:r>
              <a:rPr lang="de-DE" b="1"/>
              <a:t>9. Warum werden die Faktoren geglättet?</a:t>
            </a:r>
          </a:p>
          <a:p>
            <a:r>
              <a:rPr lang="de-DE"/>
              <a:t>„Bei wenigen Beobachtungen können zufällige Ausreißer einen zu starken Effekt erzeugen. Deshalb ziehen wir unsichere Faktoren in Richtung des neutralen Wertes 1,0.“</a:t>
            </a:r>
          </a:p>
          <a:p>
            <a:r>
              <a:rPr lang="de-DE" b="1"/>
              <a:t>10. Was passiert bei fehlenden Daten?</a:t>
            </a:r>
          </a:p>
          <a:p>
            <a:r>
              <a:rPr lang="de-DE"/>
              <a:t>„Dann bleibt der Faktor bei 1,0. Der Preis wird also nicht verändert und es wird keine belastbare Empfehlung behauptet.“</a:t>
            </a:r>
          </a:p>
          <a:p>
            <a:r>
              <a:rPr lang="de-DE" b="1"/>
              <a:t>11. Für welche Monate fehlen Daten?</a:t>
            </a:r>
          </a:p>
          <a:p>
            <a:r>
              <a:rPr lang="de-DE"/>
              <a:t>„Im Datensatz fehlen historische Verkäufe für August bis November. Diese Monate erhalten deshalb einen neutralen Faktor.“</a:t>
            </a:r>
          </a:p>
          <a:p>
            <a:r>
              <a:rPr lang="de-DE" b="1"/>
              <a:t>12. Warum fehlen diese Monate?</a:t>
            </a:r>
          </a:p>
          <a:p>
            <a:r>
              <a:rPr lang="de-DE"/>
              <a:t>„Der verwendete Auktionsdatensatz deckt hauptsächlich Dezember 2014 bis Juli 2015 ab. Das ist eine Einschränkung der verfügbaren Daten.“</a:t>
            </a:r>
          </a:p>
          <a:p>
            <a:r>
              <a:rPr lang="de-DE" b="1"/>
              <a:t>13. Sind Aussagen über Herbst oder Winter damit möglich?</a:t>
            </a:r>
          </a:p>
          <a:p>
            <a:r>
              <a:rPr lang="de-DE"/>
              <a:t>„Nur eingeschränkt. Für August bis November geben wir bewusst keine saisonale Wirkung an. Auch allgemein behandeln wir Stage 3 als vorsichtige Heuristik.“</a:t>
            </a:r>
          </a:p>
          <a:p>
            <a:r>
              <a:rPr lang="de-DE" b="1"/>
              <a:t>14. Wann wird eine Verkaufsempfehlung ausgegeben?</a:t>
            </a:r>
          </a:p>
          <a:p>
            <a:r>
              <a:rPr lang="de-DE"/>
              <a:t>„Nur wenn für eine Karosserieform mindestens zwei Monate mit jeweils mindestens 100 Beobachtungen verfügbar sind.“</a:t>
            </a:r>
          </a:p>
          <a:p>
            <a:r>
              <a:rPr lang="de-DE" b="1"/>
              <a:t>15. Für wie viele Karosserieformen ist das möglich?</a:t>
            </a:r>
          </a:p>
          <a:p>
            <a:r>
              <a:rPr lang="de-DE"/>
              <a:t>„20 von insgesamt 45 Karosserieformen erfüllen aktuell diese Mindestanforderung. Bei den übrigen wird keine belastbare Empfehlung ausgegeben.“</a:t>
            </a:r>
          </a:p>
          <a:p>
            <a:r>
              <a:rPr lang="de-DE" b="1"/>
              <a:t>16. Wie stark darf Stage 3 den Preis verändern?</a:t>
            </a:r>
          </a:p>
          <a:p>
            <a:r>
              <a:rPr lang="de-DE"/>
              <a:t>„Die Faktoren sind auf 0,85 bis 1,15 begrenzt. Damit kann die Korrektur maximal minus oder plus 15 Prozent betragen.“</a:t>
            </a:r>
          </a:p>
          <a:p>
            <a:r>
              <a:rPr lang="de-DE" b="1"/>
              <a:t>17. Warum begrenzt ihr die Faktoren?</a:t>
            </a:r>
          </a:p>
          <a:p>
            <a:r>
              <a:rPr lang="de-DE"/>
              <a:t>„Damit einzelne Ausreißer oder kleine Datenmengen keine unrealistisch großen Preisänderungen verursachen.“</a:t>
            </a:r>
          </a:p>
          <a:p>
            <a:r>
              <a:rPr lang="de-DE" b="1"/>
              <a:t>18. Wie wurde Stage 3 getestet?</a:t>
            </a:r>
          </a:p>
          <a:p>
            <a:r>
              <a:rPr lang="de-DE"/>
              <a:t>„Die Daten wurden in 80 Prozent zur Berechnung der Saisonfaktoren und 20 Prozent zur Prüfung aufgeteilt. Die Faktoren wurden also nicht auf denselben Zeilen bewertet, aus denen sie berechnet wurden.“</a:t>
            </a:r>
          </a:p>
          <a:p>
            <a:r>
              <a:rPr lang="de-DE" b="1"/>
              <a:t>19. Was bedeutet die Verbesserung von 1,31 Prozent?</a:t>
            </a:r>
          </a:p>
          <a:p>
            <a:r>
              <a:rPr lang="de-DE"/>
              <a:t>„Der MAE sinkt von rund 1.895 auf 1.870 Dollar. Die durchschnittliche absolute Abweichung wird damit um ungefähr 25 Dollar kleiner.“</a:t>
            </a:r>
          </a:p>
          <a:p>
            <a:r>
              <a:rPr lang="de-DE" b="1"/>
              <a:t>20. Ist eine Verbesserung von 25 Dollar überhaupt relevant?</a:t>
            </a:r>
          </a:p>
          <a:p>
            <a:r>
              <a:rPr lang="de-DE"/>
              <a:t>„Stage 3 ist nur eine Feinkorrektur. Die Fahrzeugeigenschaften bestimmen den Großteil des Preises. Wichtig ist, dass die Saisonregel einen kleinen messbaren Nutzen liefert und den Fehler nicht erhöht.“</a:t>
            </a:r>
          </a:p>
          <a:p>
            <a:r>
              <a:rPr lang="de-DE" b="1"/>
              <a:t>21. Warum ist der Saisoneffekt so klein?</a:t>
            </a:r>
          </a:p>
          <a:p>
            <a:r>
              <a:rPr lang="de-DE"/>
              <a:t>„Weil Alter, Marke, Modell, Laufleistung und Zustand den Preis wesentlich stärker beeinflussen als der Verkaufsmonat.“</a:t>
            </a:r>
          </a:p>
          <a:p>
            <a:r>
              <a:rPr lang="de-DE" b="1"/>
              <a:t>22. Welche Muster wurden gefunden?</a:t>
            </a:r>
          </a:p>
          <a:p>
            <a:r>
              <a:rPr lang="de-DE"/>
              <a:t>„Bei häufigen Karosserieformen wie Sedan und SUV war der März stärker und der Dezember schwächer. Diese Ergebnisse gelten aber nur für den untersuchten Datensatz.“</a:t>
            </a:r>
          </a:p>
          <a:p>
            <a:r>
              <a:rPr lang="de-DE" b="1"/>
              <a:t>23. Könnt ihr behaupten, dass Cabrios im Frühling grundsätzlich teurer sind?</a:t>
            </a:r>
          </a:p>
          <a:p>
            <a:r>
              <a:rPr lang="de-DE"/>
              <a:t>„Nein, nicht allgemein und nicht kausal. Wir können nur sagen, dass unsere Daten für bestimmte Monate einen entsprechenden Zusammenhang zeigen.“</a:t>
            </a:r>
          </a:p>
          <a:p>
            <a:r>
              <a:rPr lang="de-DE" b="1"/>
              <a:t>24. Beweist Stage 3 einen kausalen Saisoneffekt?</a:t>
            </a:r>
          </a:p>
          <a:p>
            <a:r>
              <a:rPr lang="de-DE"/>
              <a:t>„Nein. Sie erkennt statistische Muster, beweist aber nicht, dass die Jahreszeit die Ursache ist. Deshalb sprechen wir von einer konservativen Heuristik.“</a:t>
            </a:r>
          </a:p>
          <a:p>
            <a:r>
              <a:rPr lang="de-DE" b="1"/>
              <a:t>25. Könnten andere Faktoren hinter den Monatsunterschieden stecken?</a:t>
            </a:r>
          </a:p>
          <a:p>
            <a:r>
              <a:rPr lang="de-DE"/>
              <a:t>„Ja, beispielsweise regionale Unterschiede, Auktionsbedingungen oder Veränderungen im Fahrzeugangebot. Stage 1 reduziert solche Verzerrungen, kann sie aber nicht vollständig ausschließen.“</a:t>
            </a:r>
          </a:p>
          <a:p>
            <a:r>
              <a:rPr lang="de-DE" b="1"/>
              <a:t>26. Warum verwendet ihr den Median?</a:t>
            </a:r>
          </a:p>
          <a:p>
            <a:r>
              <a:rPr lang="de-DE"/>
              <a:t>„Der Median ist weniger empfindlich gegenüber einzelnen extrem teuren oder günstigen Verkäufen als der Durchschnitt.“</a:t>
            </a:r>
          </a:p>
          <a:p>
            <a:r>
              <a:rPr lang="de-DE" b="1"/>
              <a:t>27. Wird der Monat doppelt berücksichtigt?</a:t>
            </a:r>
          </a:p>
          <a:p>
            <a:r>
              <a:rPr lang="de-DE"/>
              <a:t>„Nein. Für die Saisonberechnung wird Stage 1 mit einer festen zeitlichen Referenz verwendet. Der eigentliche Monat wird erst in Stage 3 als Saisonfaktor ergänzt.“</a:t>
            </a:r>
          </a:p>
          <a:p>
            <a:r>
              <a:rPr lang="de-DE" b="1"/>
              <a:t>28. Was ist die größte Einschränkung von Stage 3?</a:t>
            </a:r>
          </a:p>
          <a:p>
            <a:r>
              <a:rPr lang="de-DE"/>
              <a:t>„Die kurze und unvollständige zeitliche Abdeckung. Für einen robusten allgemeinen Saisonnachweis wären mehrere vollständige Jahre erforderlich.“</a:t>
            </a:r>
          </a:p>
          <a:p>
            <a:endParaRPr lang="de-DE"/>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Hier </a:t>
            </a:r>
            <a:r>
              <a:rPr err="1"/>
              <a:t>ist</a:t>
            </a:r>
            <a:r>
              <a:t> die </a:t>
            </a:r>
            <a:r>
              <a:rPr err="1"/>
              <a:t>Gesamtlogik</a:t>
            </a:r>
            <a:r>
              <a:t> der Demo </a:t>
            </a:r>
            <a:r>
              <a:rPr err="1"/>
              <a:t>zusammengefasst</a:t>
            </a:r>
            <a:r>
              <a:t>.</a:t>
            </a:r>
          </a:p>
          <a:p>
            <a:r>
              <a:t>Der </a:t>
            </a:r>
            <a:r>
              <a:rPr err="1"/>
              <a:t>Nutzer</a:t>
            </a:r>
            <a:r>
              <a:t> </a:t>
            </a:r>
            <a:r>
              <a:rPr err="1"/>
              <a:t>gibt</a:t>
            </a:r>
            <a:r>
              <a:t> </a:t>
            </a:r>
            <a:r>
              <a:rPr err="1"/>
              <a:t>Fahrzeugdaten</a:t>
            </a:r>
            <a:r>
              <a:t> und </a:t>
            </a:r>
            <a:r>
              <a:rPr err="1"/>
              <a:t>Bewertungsdatum</a:t>
            </a:r>
            <a:r>
              <a:t> </a:t>
            </a:r>
            <a:r>
              <a:rPr err="1"/>
              <a:t>ein</a:t>
            </a:r>
            <a:r>
              <a:t>. Dann </a:t>
            </a:r>
            <a:r>
              <a:rPr err="1"/>
              <a:t>berechnet</a:t>
            </a:r>
            <a:r>
              <a:t> das </a:t>
            </a:r>
            <a:r>
              <a:rPr err="1"/>
              <a:t>HistGradientBoosting</a:t>
            </a:r>
            <a:r>
              <a:t>-Modell den </a:t>
            </a:r>
            <a:r>
              <a:rPr err="1"/>
              <a:t>Basispreis</a:t>
            </a:r>
            <a:r>
              <a:t>.</a:t>
            </a:r>
          </a:p>
          <a:p>
            <a:r>
              <a:t>Danach </a:t>
            </a:r>
            <a:r>
              <a:rPr err="1"/>
              <a:t>wird</a:t>
            </a:r>
            <a:r>
              <a:t> </a:t>
            </a:r>
            <a:r>
              <a:rPr err="1"/>
              <a:t>über</a:t>
            </a:r>
            <a:r>
              <a:t> den CPI das </a:t>
            </a:r>
            <a:r>
              <a:rPr err="1"/>
              <a:t>Marktpreisniveau</a:t>
            </a:r>
            <a:r>
              <a:t> </a:t>
            </a:r>
            <a:r>
              <a:rPr err="1"/>
              <a:t>angepasst</a:t>
            </a:r>
            <a:r>
              <a:t> und </a:t>
            </a:r>
            <a:r>
              <a:rPr err="1"/>
              <a:t>zuletzt</a:t>
            </a:r>
            <a:r>
              <a:t> der </a:t>
            </a:r>
            <a:r>
              <a:rPr err="1"/>
              <a:t>Saisonfaktor</a:t>
            </a:r>
            <a:r>
              <a:t> </a:t>
            </a:r>
            <a:r>
              <a:rPr err="1"/>
              <a:t>angewendet</a:t>
            </a:r>
            <a:r>
              <a:t>.</a:t>
            </a:r>
          </a:p>
          <a:p>
            <a:r>
              <a:rPr err="1"/>
              <a:t>Wichtig</a:t>
            </a:r>
            <a:r>
              <a:t> für die Story: Wir </a:t>
            </a:r>
            <a:r>
              <a:rPr err="1"/>
              <a:t>haben</a:t>
            </a:r>
            <a:r>
              <a:t> nicht </a:t>
            </a:r>
            <a:r>
              <a:rPr err="1"/>
              <a:t>drei</a:t>
            </a:r>
            <a:r>
              <a:t> </a:t>
            </a:r>
            <a:r>
              <a:rPr err="1"/>
              <a:t>konkurrierende</a:t>
            </a:r>
            <a:r>
              <a:t> Modelle, </a:t>
            </a:r>
            <a:r>
              <a:rPr err="1"/>
              <a:t>sondern</a:t>
            </a:r>
            <a:r>
              <a:t> </a:t>
            </a:r>
            <a:r>
              <a:rPr err="1"/>
              <a:t>eine</a:t>
            </a:r>
            <a:r>
              <a:t> </a:t>
            </a:r>
            <a:r>
              <a:rPr err="1"/>
              <a:t>klare</a:t>
            </a:r>
            <a:r>
              <a:t> Pipeline.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Zum </a:t>
            </a:r>
            <a:r>
              <a:rPr lang="de-DE" err="1"/>
              <a:t>Abschluss</a:t>
            </a:r>
            <a:r>
              <a:t> </a:t>
            </a:r>
            <a:r>
              <a:rPr lang="de-DE" err="1"/>
              <a:t>fasse</a:t>
            </a:r>
            <a:r>
              <a:t> ich den </a:t>
            </a:r>
            <a:r>
              <a:rPr lang="de-DE" err="1"/>
              <a:t>aktuellen</a:t>
            </a:r>
            <a:r>
              <a:t> Stand </a:t>
            </a:r>
            <a:r>
              <a:rPr lang="de-DE" err="1"/>
              <a:t>zusammen</a:t>
            </a:r>
            <a:r>
              <a:t>.</a:t>
            </a:r>
          </a:p>
          <a:p>
            <a:r>
              <a:t>Die </a:t>
            </a:r>
            <a:r>
              <a:rPr lang="de-DE" err="1"/>
              <a:t>wichtigsten</a:t>
            </a:r>
            <a:r>
              <a:t> </a:t>
            </a:r>
            <a:r>
              <a:rPr lang="de-DE" err="1"/>
              <a:t>technischen</a:t>
            </a:r>
            <a:r>
              <a:t> </a:t>
            </a:r>
            <a:r>
              <a:rPr lang="de-DE" err="1"/>
              <a:t>Bausteine</a:t>
            </a:r>
            <a:r>
              <a:t> für die </a:t>
            </a:r>
            <a:r>
              <a:rPr lang="de-DE" err="1"/>
              <a:t>Zwischenpräsentation</a:t>
            </a:r>
            <a:r>
              <a:t> </a:t>
            </a:r>
            <a:r>
              <a:rPr lang="de-DE" err="1"/>
              <a:t>stehen</a:t>
            </a:r>
            <a:r>
              <a:t>: </a:t>
            </a:r>
            <a:r>
              <a:rPr lang="de-DE" err="1"/>
              <a:t>Daten</a:t>
            </a:r>
            <a:r>
              <a:t>, Feature Engineering, </a:t>
            </a:r>
            <a:r>
              <a:rPr lang="de-DE" err="1"/>
              <a:t>Modellvergleich</a:t>
            </a:r>
            <a:r>
              <a:t>, </a:t>
            </a:r>
            <a:r>
              <a:rPr lang="de-DE" err="1"/>
              <a:t>gewähltes</a:t>
            </a:r>
            <a:r>
              <a:t> Modell, CPI-</a:t>
            </a:r>
            <a:r>
              <a:rPr lang="de-DE" err="1"/>
              <a:t>Anpassung</a:t>
            </a:r>
            <a:r>
              <a:t>, </a:t>
            </a:r>
            <a:r>
              <a:rPr lang="de-DE" err="1"/>
              <a:t>Saisonfaktor</a:t>
            </a:r>
            <a:r>
              <a:t> und </a:t>
            </a:r>
            <a:r>
              <a:rPr lang="de-DE" err="1"/>
              <a:t>Streamlit</a:t>
            </a:r>
            <a:r>
              <a:t>-Demo.</a:t>
            </a:r>
          </a:p>
          <a:p>
            <a:r>
              <a:t>Offen </a:t>
            </a:r>
            <a:r>
              <a:rPr lang="de-DE" err="1"/>
              <a:t>sind</a:t>
            </a:r>
            <a:r>
              <a:t> </a:t>
            </a:r>
            <a:r>
              <a:rPr lang="de-DE" err="1"/>
              <a:t>vor</a:t>
            </a:r>
            <a:r>
              <a:t> </a:t>
            </a:r>
            <a:r>
              <a:rPr lang="de-DE" err="1"/>
              <a:t>allem</a:t>
            </a:r>
            <a:r>
              <a:t> die </a:t>
            </a:r>
            <a:r>
              <a:rPr lang="de-DE" err="1"/>
              <a:t>kommunikative</a:t>
            </a:r>
            <a:r>
              <a:t> </a:t>
            </a:r>
            <a:r>
              <a:rPr lang="de-DE" err="1"/>
              <a:t>Agentenschicht</a:t>
            </a:r>
            <a:r>
              <a:t>, </a:t>
            </a:r>
            <a:r>
              <a:rPr lang="de-DE" err="1"/>
              <a:t>eine</a:t>
            </a:r>
            <a:r>
              <a:t> </a:t>
            </a:r>
            <a:r>
              <a:rPr lang="de-DE" err="1"/>
              <a:t>Preisrange</a:t>
            </a:r>
            <a:r>
              <a:t> und die </a:t>
            </a:r>
            <a:r>
              <a:rPr lang="de-DE" err="1"/>
              <a:t>Ausarbeitung</a:t>
            </a:r>
            <a:r>
              <a:t> für Paper und finale </a:t>
            </a:r>
            <a:r>
              <a:rPr lang="de-DE" err="1"/>
              <a:t>Abgabe</a:t>
            </a:r>
            <a:r>
              <a:t>.</a:t>
            </a:r>
          </a:p>
          <a:p>
            <a:r>
              <a:t>Die Demo </a:t>
            </a:r>
            <a:r>
              <a:rPr lang="de-DE" err="1"/>
              <a:t>ist</a:t>
            </a:r>
            <a:r>
              <a:t> </a:t>
            </a:r>
            <a:r>
              <a:rPr lang="de-DE" err="1"/>
              <a:t>damit</a:t>
            </a:r>
            <a:r>
              <a:t> nicht final, </a:t>
            </a:r>
            <a:r>
              <a:rPr lang="de-DE" err="1"/>
              <a:t>aber</a:t>
            </a:r>
            <a:r>
              <a:t> </a:t>
            </a:r>
            <a:r>
              <a:rPr lang="de-DE" err="1"/>
              <a:t>sie</a:t>
            </a:r>
            <a:r>
              <a:t> </a:t>
            </a:r>
            <a:r>
              <a:rPr lang="de-DE" err="1"/>
              <a:t>zeigt</a:t>
            </a:r>
            <a:r>
              <a:t> die </a:t>
            </a:r>
            <a:r>
              <a:rPr lang="de-DE" err="1"/>
              <a:t>gesamte</a:t>
            </a:r>
            <a:r>
              <a:t> </a:t>
            </a:r>
            <a:r>
              <a:rPr lang="de-DE" err="1"/>
              <a:t>geplante</a:t>
            </a:r>
            <a:r>
              <a:t> </a:t>
            </a:r>
            <a:r>
              <a:rPr lang="de-DE" err="1"/>
              <a:t>Preislogik</a:t>
            </a:r>
            <a:r>
              <a:t> </a:t>
            </a:r>
            <a:r>
              <a:rPr lang="de-DE" err="1"/>
              <a:t>bereits</a:t>
            </a:r>
            <a:r>
              <a:t> end-to-end.</a:t>
            </a:r>
            <a:endParaRPr lang="de-DE"/>
          </a:p>
          <a:p>
            <a:endParaRPr lang="de-DE"/>
          </a:p>
          <a:p>
            <a:r>
              <a:rPr lang="de-DE"/>
              <a:t>BMW 3 </a:t>
            </a:r>
            <a:r>
              <a:rPr lang="de-DE" err="1"/>
              <a:t>series</a:t>
            </a:r>
            <a:r>
              <a:rPr lang="de-DE"/>
              <a:t> sedan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kern="1200">
                <a:effectLst/>
              </a:rPr>
              <a:t>Um Fahrzeuge noch feiner unterscheiden zu können, arbeiten wir gerade an einem Experiment — eine Idee, die wir nach jetzigem Stand noch ins Modell einbauen wollen.</a:t>
            </a:r>
          </a:p>
          <a:p>
            <a:r>
              <a:rPr lang="de-DE" sz="1200" b="0" i="0" kern="1200">
                <a:effectLst/>
              </a:rPr>
              <a:t>Woher kam die Idee? Wir haben unsere Preisschätzung mit der von </a:t>
            </a:r>
            <a:r>
              <a:rPr lang="de-DE" sz="1200" b="0" i="0" kern="1200" err="1">
                <a:effectLst/>
              </a:rPr>
              <a:t>WirKaufenDeinAuto.de</a:t>
            </a:r>
            <a:r>
              <a:rPr lang="de-DE" sz="1200" b="0" i="0" kern="1200">
                <a:effectLst/>
              </a:rPr>
              <a:t> verglichen und gesehen, dass die dort deutlich mehr Fahrzeugdetails abfragen, als unser Modell nutzt. </a:t>
            </a:r>
          </a:p>
          <a:p>
            <a:r>
              <a:rPr lang="de-DE" sz="1200" b="0" i="0" kern="1200">
                <a:effectLst/>
              </a:rPr>
              <a:t>Daraus entstand die Frage: Welche dieser Informationen können wir nachträglich noch gewinnen?</a:t>
            </a:r>
          </a:p>
          <a:p>
            <a:r>
              <a:rPr lang="de-DE" sz="1200" b="0" i="0" kern="1200">
                <a:effectLst/>
              </a:rPr>
              <a:t>Die Antwort steckt in der FIN — der Fahrzeug-Identifikationsnummer, die jedes Auto eindeutig kennzeichnet. Über die kostenlose Schnittstelle der US-Verkehrsbehörde NHTSA lassen sich daraus technische Details auslesen, vor allem Hubraum, Kraftstoffart und Zylinderzahl — und das sehr zuverlässig, mit Trefferquoten zwischen 88 und 99 Prozent.</a:t>
            </a:r>
          </a:p>
          <a:p>
            <a:r>
              <a:rPr lang="de-DE" sz="1200" b="0" i="0" kern="1200">
                <a:effectLst/>
              </a:rPr>
              <a:t>Getestet haben wir den Nutzen mit einer sogenannten Ablation. Das heißt: Wir trainieren dasselbe Modell zweimal — einmal mit und einmal ohne diese FIN-Daten — auf exakt denselben Daten. Der Unterschied im Vorhersagefehler zeigt dann genau, was die neuen Merkmale beitragen. Und das Ergebnis war stabil: Die Vorhersage wurde um rund 20 Prozent genauer — bei 14.000 Fahrzeugen ebenso wie bei 96.000. Dass der Effekt auch bei viel mehr Daten bestehen bleibt, zeigt: Das ist echtes Signal, kein Zufall.</a:t>
            </a:r>
          </a:p>
          <a:p>
            <a:r>
              <a:rPr lang="de-DE" sz="1200" b="0" i="0" kern="1200">
                <a:effectLst/>
              </a:rPr>
              <a:t>Was noch offen ist: die finale Prüfung auf dem vollen Datensatz mit 534.000 Fahrzeugen. Die aufwändige Vorarbeit — 100.000 bereits dekodierte FINs — haben wir aber schon gespeichert, sodass dieser letzte Schritt schnell geht.</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a:spcBef>
          <a:spcPts val="0"/>
        </a:spcBef>
        <a:buNone/>
        <a:defRPr sz="4400">
          <a:solidFill>
            <a:schemeClr val="tx1"/>
          </a:solidFill>
          <a:latin typeface="+mj-lt"/>
          <a:ea typeface="+mj-lt"/>
          <a:cs typeface="+mj-lt"/>
        </a:defRPr>
      </a:lvl1pPr>
    </p:titleStyle>
    <p:bodyStyle>
      <a:lvl1pPr marL="342900" indent="-342900" algn="l">
        <a:spcBef>
          <a:spcPts val="0"/>
        </a:spcBef>
        <a:buChar char="•"/>
        <a:defRPr sz="3200">
          <a:solidFill>
            <a:schemeClr val="tx1"/>
          </a:solidFill>
          <a:latin typeface="+mn-lt"/>
          <a:ea typeface="+mn-lt"/>
          <a:cs typeface="+mn-lt"/>
        </a:defRPr>
      </a:lvl1pPr>
      <a:lvl2pPr marL="742950" indent="-285750" algn="l">
        <a:spcBef>
          <a:spcPts val="0"/>
        </a:spcBef>
        <a:buChar char="–"/>
        <a:defRPr sz="2800">
          <a:solidFill>
            <a:schemeClr val="tx1"/>
          </a:solidFill>
          <a:latin typeface="+mn-lt"/>
          <a:ea typeface="+mn-lt"/>
          <a:cs typeface="+mn-lt"/>
        </a:defRPr>
      </a:lvl2pPr>
      <a:lvl3pPr marL="1143000" indent="-228600" algn="l">
        <a:spcBef>
          <a:spcPts val="0"/>
        </a:spcBef>
        <a:buChar char="•"/>
        <a:defRPr sz="2400">
          <a:solidFill>
            <a:schemeClr val="tx1"/>
          </a:solidFill>
          <a:latin typeface="+mn-lt"/>
          <a:ea typeface="+mn-lt"/>
          <a:cs typeface="+mn-lt"/>
        </a:defRPr>
      </a:lvl3pPr>
      <a:lvl4pPr marL="1600200" indent="-228600" algn="l">
        <a:spcBef>
          <a:spcPts val="0"/>
        </a:spcBef>
        <a:buChar char="–"/>
        <a:defRPr sz="2000">
          <a:solidFill>
            <a:schemeClr val="tx1"/>
          </a:solidFill>
          <a:latin typeface="+mn-lt"/>
          <a:ea typeface="+mn-lt"/>
          <a:cs typeface="+mn-lt"/>
        </a:defRPr>
      </a:lvl4pPr>
      <a:lvl5pPr marL="2057400" indent="-228600" algn="l">
        <a:spcBef>
          <a:spcPts val="0"/>
        </a:spcBef>
        <a:buChar char="»"/>
        <a:defRPr sz="2000">
          <a:solidFill>
            <a:schemeClr val="tx1"/>
          </a:solidFill>
          <a:latin typeface="+mn-lt"/>
          <a:ea typeface="+mn-lt"/>
          <a:cs typeface="+mn-lt"/>
        </a:defRPr>
      </a:lvl5pPr>
      <a:lvl6pPr marL="2514600" indent="-228600" algn="l">
        <a:spcBef>
          <a:spcPts val="0"/>
        </a:spcBef>
        <a:buChar char="•"/>
        <a:defRPr sz="2000">
          <a:solidFill>
            <a:schemeClr val="tx1"/>
          </a:solidFill>
          <a:latin typeface="+mn-lt"/>
          <a:ea typeface="+mn-lt"/>
          <a:cs typeface="+mn-lt"/>
        </a:defRPr>
      </a:lvl6pPr>
      <a:lvl7pPr marL="2971800" indent="-228600" algn="l">
        <a:spcBef>
          <a:spcPts val="0"/>
        </a:spcBef>
        <a:buChar char="•"/>
        <a:defRPr sz="2000">
          <a:solidFill>
            <a:schemeClr val="tx1"/>
          </a:solidFill>
          <a:latin typeface="+mn-lt"/>
          <a:ea typeface="+mn-lt"/>
          <a:cs typeface="+mn-lt"/>
        </a:defRPr>
      </a:lvl7pPr>
      <a:lvl8pPr marL="3429000" indent="-228600" algn="l">
        <a:spcBef>
          <a:spcPts val="0"/>
        </a:spcBef>
        <a:buChar char="•"/>
        <a:defRPr sz="2000">
          <a:solidFill>
            <a:schemeClr val="tx1"/>
          </a:solidFill>
          <a:latin typeface="+mn-lt"/>
          <a:ea typeface="+mn-lt"/>
          <a:cs typeface="+mn-lt"/>
        </a:defRPr>
      </a:lvl8pPr>
      <a:lvl9pPr marL="3886200" indent="-228600" algn="l">
        <a:spcBef>
          <a:spcPts val="0"/>
        </a:spcBef>
        <a:buChar char="•"/>
        <a:defRPr sz="20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240"/>
        </a:solidFill>
        <a:effectLst/>
      </p:bgPr>
    </p:bg>
    <p:spTree>
      <p:nvGrpSpPr>
        <p:cNvPr id="1" name=""/>
        <p:cNvGrpSpPr/>
        <p:nvPr/>
      </p:nvGrpSpPr>
      <p:grpSpPr>
        <a:xfrm>
          <a:off x="0" y="0"/>
          <a:ext cx="0" cy="0"/>
          <a:chOff x="0" y="0"/>
          <a:chExt cx="0" cy="0"/>
        </a:xfrm>
      </p:grpSpPr>
      <p:sp>
        <p:nvSpPr>
          <p:cNvPr id="2" name="AccentBar">
            <a:extLst>
              <a:ext uri="{FF2B5EF4-FFF2-40B4-BE49-F238E27FC236}">
                <a16:creationId xmlns:a16="http://schemas.microsoft.com/office/drawing/2014/main" id="{431DAA0F-CB2E-4571-B7D6-1B8AD2F5DFB9}"/>
              </a:ext>
            </a:extLst>
          </p:cNvPr>
          <p:cNvSpPr>
            <a:spLocks noGrp="1"/>
          </p:cNvSpPr>
          <p:nvPr/>
        </p:nvSpPr>
        <p:spPr>
          <a:xfrm>
            <a:off x="0" y="0"/>
            <a:ext cx="9144000" cy="64008"/>
          </a:xfrm>
          <a:prstGeom prst="rect">
            <a:avLst/>
          </a:prstGeom>
          <a:solidFill>
            <a:srgbClr val="0D9488"/>
          </a:solidFill>
          <a:ln w="12700">
            <a:solidFill>
              <a:srgbClr val="0D9488"/>
            </a:solidFill>
          </a:ln>
        </p:spPr>
        <p:txBody>
          <a:bodyPr/>
          <a:lstStyle/>
          <a:p>
            <a:endParaRPr/>
          </a:p>
        </p:txBody>
      </p:sp>
      <p:sp>
        <p:nvSpPr>
          <p:cNvPr id="11" name="MainTitle">
            <a:extLst>
              <a:ext uri="{FF2B5EF4-FFF2-40B4-BE49-F238E27FC236}">
                <a16:creationId xmlns:a16="http://schemas.microsoft.com/office/drawing/2014/main" id="{F425011A-3232-4062-B979-825DC3C43F3A}"/>
              </a:ext>
            </a:extLst>
          </p:cNvPr>
          <p:cNvSpPr>
            <a:spLocks noGrp="1"/>
          </p:cNvSpPr>
          <p:nvPr/>
        </p:nvSpPr>
        <p:spPr>
          <a:xfrm>
            <a:off x="1166443" y="1382880"/>
            <a:ext cx="6290073" cy="1800000"/>
          </a:xfrm>
          <a:prstGeom prst="rect">
            <a:avLst/>
          </a:prstGeom>
          <a:noFill/>
          <a:ln>
            <a:noFill/>
          </a:ln>
        </p:spPr>
        <p:txBody>
          <a:bodyPr wrap="square" lIns="0" tIns="0" rIns="0" bIns="0" anchor="ctr"/>
          <a:lstStyle/>
          <a:p>
            <a:pPr marL="0" indent="0">
              <a:buNone/>
            </a:pPr>
            <a:r>
              <a:rPr sz="4400" b="1">
                <a:solidFill>
                  <a:srgbClr val="FFFFFF"/>
                </a:solidFill>
                <a:latin typeface="Calibri"/>
                <a:ea typeface="Calibri"/>
                <a:cs typeface="Calibri"/>
              </a:rPr>
              <a:t>Dynamic </a:t>
            </a:r>
            <a:r>
              <a:rPr sz="4400" b="1">
                <a:solidFill>
                  <a:srgbClr val="14B8A6"/>
                </a:solidFill>
                <a:latin typeface="Calibri"/>
                <a:ea typeface="Calibri"/>
                <a:cs typeface="Calibri"/>
              </a:rPr>
              <a:t>Used Car</a:t>
            </a:r>
          </a:p>
          <a:p>
            <a:pPr marL="0" indent="0">
              <a:buNone/>
            </a:pPr>
            <a:r>
              <a:rPr sz="4400" b="1">
                <a:solidFill>
                  <a:srgbClr val="FFFFFF"/>
                </a:solidFill>
                <a:latin typeface="Calibri"/>
                <a:ea typeface="Calibri"/>
                <a:cs typeface="Calibri"/>
              </a:rPr>
              <a:t>Pricing Agent</a:t>
            </a:r>
          </a:p>
        </p:txBody>
      </p:sp>
      <p:sp>
        <p:nvSpPr>
          <p:cNvPr id="12" name="TeamInfo">
            <a:extLst>
              <a:ext uri="{FF2B5EF4-FFF2-40B4-BE49-F238E27FC236}">
                <a16:creationId xmlns:a16="http://schemas.microsoft.com/office/drawing/2014/main" id="{CD9FDC2F-C2A5-4D3F-B9B9-D328C966420F}"/>
              </a:ext>
            </a:extLst>
          </p:cNvPr>
          <p:cNvSpPr>
            <a:spLocks noGrp="1"/>
          </p:cNvSpPr>
          <p:nvPr/>
        </p:nvSpPr>
        <p:spPr>
          <a:xfrm>
            <a:off x="5057200" y="3000000"/>
            <a:ext cx="3630000" cy="2000000"/>
          </a:xfrm>
          <a:prstGeom prst="rect">
            <a:avLst/>
          </a:prstGeom>
          <a:noFill/>
          <a:ln>
            <a:noFill/>
          </a:ln>
        </p:spPr>
        <p:txBody>
          <a:bodyPr wrap="square" lIns="0" tIns="0" rIns="0" bIns="0" anchor="t"/>
          <a:lstStyle/>
          <a:p>
            <a:pPr marL="0" indent="0" algn="r">
              <a:buNone/>
            </a:pPr>
            <a:r>
              <a:rPr sz="1100" b="1">
                <a:solidFill>
                  <a:srgbClr val="CBD5E1"/>
                </a:solidFill>
                <a:latin typeface="Calibri"/>
                <a:ea typeface="Calibri"/>
                <a:cs typeface="Calibri"/>
              </a:rPr>
              <a:t>Team MAIL — Zwischenstand</a:t>
            </a:r>
          </a:p>
          <a:p>
            <a:pPr marL="0" indent="0" algn="r">
              <a:buNone/>
            </a:pPr>
            <a:r>
              <a:rPr sz="1000">
                <a:solidFill>
                  <a:schemeClr val="bg1"/>
                </a:solidFill>
                <a:latin typeface="Calibri"/>
                <a:ea typeface="Calibri"/>
                <a:cs typeface="Calibri"/>
              </a:rPr>
              <a:t>Johanna · Moritz · Pascal · Tara</a:t>
            </a:r>
          </a:p>
        </p:txBody>
      </p:sp>
    </p:spTree>
    <p:extLst>
      <p:ext uri="{BB962C8B-B14F-4D97-AF65-F5344CB8AC3E}">
        <p14:creationId xmlns:p14="http://schemas.microsoft.com/office/powerpoint/2010/main" val="190182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Bar">
            <a:extLst>
              <a:ext uri="{FF2B5EF4-FFF2-40B4-BE49-F238E27FC236}">
                <a16:creationId xmlns:a16="http://schemas.microsoft.com/office/drawing/2014/main" id="{7E50398F-5367-46DD-82B8-AB3F735D75FA}"/>
              </a:ext>
            </a:extLst>
          </p:cNvPr>
          <p:cNvSpPr>
            <a:spLocks noGrp="1"/>
          </p:cNvSpPr>
          <p:nvPr/>
        </p:nvSpPr>
        <p:spPr>
          <a:xfrm>
            <a:off x="0" y="0"/>
            <a:ext cx="9144000" cy="64008"/>
          </a:xfrm>
          <a:prstGeom prst="rect">
            <a:avLst/>
          </a:prstGeom>
          <a:solidFill>
            <a:srgbClr val="0D9488"/>
          </a:solidFill>
          <a:ln w="12700">
            <a:solidFill>
              <a:srgbClr val="0D9488"/>
            </a:solidFill>
          </a:ln>
        </p:spPr>
        <p:txBody>
          <a:bodyPr/>
          <a:lstStyle/>
          <a:p>
            <a:endParaRPr/>
          </a:p>
        </p:txBody>
      </p:sp>
      <p:sp>
        <p:nvSpPr>
          <p:cNvPr id="3" name="SlideTitle">
            <a:extLst>
              <a:ext uri="{FF2B5EF4-FFF2-40B4-BE49-F238E27FC236}">
                <a16:creationId xmlns:a16="http://schemas.microsoft.com/office/drawing/2014/main" id="{BDBF91EB-8BDB-4225-84B0-856443462568}"/>
              </a:ext>
            </a:extLst>
          </p:cNvPr>
          <p:cNvSpPr>
            <a:spLocks noGrp="1"/>
          </p:cNvSpPr>
          <p:nvPr/>
        </p:nvSpPr>
        <p:spPr>
          <a:xfrm>
            <a:off x="457200" y="140000"/>
            <a:ext cx="8229600" cy="502920"/>
          </a:xfrm>
          <a:prstGeom prst="rect">
            <a:avLst/>
          </a:prstGeom>
          <a:noFill/>
          <a:ln>
            <a:noFill/>
          </a:ln>
        </p:spPr>
        <p:txBody>
          <a:bodyPr wrap="square" lIns="0" tIns="0" rIns="0" bIns="0" anchor="ctr"/>
          <a:lstStyle/>
          <a:p>
            <a:pPr marL="0" indent="0">
              <a:buNone/>
            </a:pPr>
            <a:r>
              <a:rPr sz="3000" b="1">
                <a:solidFill>
                  <a:srgbClr val="0F2240"/>
                </a:solidFill>
                <a:latin typeface="Calibri"/>
                <a:ea typeface="Calibri"/>
                <a:cs typeface="Calibri"/>
              </a:rPr>
              <a:t>Datengrundlage</a:t>
            </a:r>
          </a:p>
        </p:txBody>
      </p:sp>
      <p:sp>
        <p:nvSpPr>
          <p:cNvPr id="4" name="MikroCard">
            <a:extLst>
              <a:ext uri="{FF2B5EF4-FFF2-40B4-BE49-F238E27FC236}">
                <a16:creationId xmlns:a16="http://schemas.microsoft.com/office/drawing/2014/main" id="{A4358220-7EF9-4110-B4D3-16B1D6819E73}"/>
              </a:ext>
            </a:extLst>
          </p:cNvPr>
          <p:cNvSpPr>
            <a:spLocks noGrp="1"/>
          </p:cNvSpPr>
          <p:nvPr/>
        </p:nvSpPr>
        <p:spPr>
          <a:xfrm>
            <a:off x="347472" y="730000"/>
            <a:ext cx="4023360" cy="4100000"/>
          </a:xfrm>
          <a:prstGeom prst="rect">
            <a:avLst/>
          </a:prstGeom>
          <a:solidFill>
            <a:srgbClr val="FFFFFF"/>
          </a:solidFill>
          <a:ln w="12700">
            <a:solidFill>
              <a:srgbClr val="E2E8F0"/>
            </a:solidFill>
          </a:ln>
          <a:effectLst>
            <a:outerShdw blurRad="101600" dist="25400" dir="8100000" algn="bl" rotWithShape="0">
              <a:srgbClr val="000000">
                <a:alpha val="8000"/>
              </a:srgbClr>
            </a:outerShdw>
          </a:effectLst>
        </p:spPr>
        <p:txBody>
          <a:bodyPr/>
          <a:lstStyle/>
          <a:p>
            <a:endParaRPr/>
          </a:p>
        </p:txBody>
      </p:sp>
      <p:sp>
        <p:nvSpPr>
          <p:cNvPr id="5" name="MikroAccent">
            <a:extLst>
              <a:ext uri="{FF2B5EF4-FFF2-40B4-BE49-F238E27FC236}">
                <a16:creationId xmlns:a16="http://schemas.microsoft.com/office/drawing/2014/main" id="{CD3F8F86-BAD6-4060-AF0D-C50FB7F96B7C}"/>
              </a:ext>
            </a:extLst>
          </p:cNvPr>
          <p:cNvSpPr>
            <a:spLocks noGrp="1"/>
          </p:cNvSpPr>
          <p:nvPr/>
        </p:nvSpPr>
        <p:spPr>
          <a:xfrm>
            <a:off x="347472" y="730000"/>
            <a:ext cx="4023360" cy="64008"/>
          </a:xfrm>
          <a:prstGeom prst="rect">
            <a:avLst/>
          </a:prstGeom>
          <a:solidFill>
            <a:srgbClr val="0D9488"/>
          </a:solidFill>
          <a:ln w="12700">
            <a:solidFill>
              <a:srgbClr val="0D9488"/>
            </a:solidFill>
          </a:ln>
        </p:spPr>
        <p:txBody>
          <a:bodyPr/>
          <a:lstStyle/>
          <a:p>
            <a:endParaRPr/>
          </a:p>
        </p:txBody>
      </p:sp>
      <p:sp>
        <p:nvSpPr>
          <p:cNvPr id="6" name="MikroHeader">
            <a:extLst>
              <a:ext uri="{FF2B5EF4-FFF2-40B4-BE49-F238E27FC236}">
                <a16:creationId xmlns:a16="http://schemas.microsoft.com/office/drawing/2014/main" id="{92D0BBF5-CC2B-464A-9C59-3408BFB8CF97}"/>
              </a:ext>
            </a:extLst>
          </p:cNvPr>
          <p:cNvSpPr>
            <a:spLocks noGrp="1"/>
          </p:cNvSpPr>
          <p:nvPr/>
        </p:nvSpPr>
        <p:spPr>
          <a:xfrm>
            <a:off x="502920" y="840000"/>
            <a:ext cx="3749040" cy="380000"/>
          </a:xfrm>
          <a:prstGeom prst="rect">
            <a:avLst/>
          </a:prstGeom>
          <a:noFill/>
          <a:ln>
            <a:noFill/>
          </a:ln>
        </p:spPr>
        <p:txBody>
          <a:bodyPr wrap="square" lIns="0" tIns="0" rIns="0" bIns="0" anchor="ctr"/>
          <a:lstStyle/>
          <a:p>
            <a:pPr marL="0" indent="0">
              <a:buNone/>
            </a:pPr>
            <a:r>
              <a:rPr sz="1500" b="1">
                <a:solidFill>
                  <a:srgbClr val="0D9488"/>
                </a:solidFill>
                <a:latin typeface="Calibri"/>
                <a:ea typeface="Calibri"/>
                <a:cs typeface="Calibri"/>
              </a:rPr>
              <a:t>📊 Mikro-Ebene — Fahrzeugdaten</a:t>
            </a:r>
          </a:p>
        </p:txBody>
      </p:sp>
      <p:sp>
        <p:nvSpPr>
          <p:cNvPr id="7" name="MikroStat">
            <a:extLst>
              <a:ext uri="{FF2B5EF4-FFF2-40B4-BE49-F238E27FC236}">
                <a16:creationId xmlns:a16="http://schemas.microsoft.com/office/drawing/2014/main" id="{3E447E7F-D772-4625-BD99-4D006B67EF4E}"/>
              </a:ext>
            </a:extLst>
          </p:cNvPr>
          <p:cNvSpPr>
            <a:spLocks noGrp="1"/>
          </p:cNvSpPr>
          <p:nvPr/>
        </p:nvSpPr>
        <p:spPr>
          <a:xfrm>
            <a:off x="502920" y="1270000"/>
            <a:ext cx="3657600" cy="620000"/>
          </a:xfrm>
          <a:prstGeom prst="rect">
            <a:avLst/>
          </a:prstGeom>
          <a:solidFill>
            <a:srgbClr val="F0FDFA"/>
          </a:solidFill>
          <a:ln w="12700">
            <a:solidFill>
              <a:srgbClr val="99F6E4"/>
            </a:solidFill>
          </a:ln>
        </p:spPr>
        <p:txBody>
          <a:bodyPr wrap="square" lIns="91440" tIns="60960" rIns="91440" bIns="60960" anchor="ctr"/>
          <a:lstStyle/>
          <a:p>
            <a:pPr algn="ctr">
              <a:buNone/>
            </a:pPr>
            <a:r>
              <a:rPr sz="3200" b="1">
                <a:solidFill>
                  <a:srgbClr val="0D9488"/>
                </a:solidFill>
                <a:latin typeface="Calibri"/>
                <a:ea typeface="Calibri"/>
                <a:cs typeface="Calibri"/>
              </a:rPr>
              <a:t>558.743</a:t>
            </a:r>
          </a:p>
          <a:p>
            <a:pPr algn="ctr">
              <a:buNone/>
            </a:pPr>
            <a:r>
              <a:rPr sz="1000">
                <a:solidFill>
                  <a:srgbClr val="475569"/>
                </a:solidFill>
                <a:latin typeface="Calibri"/>
                <a:ea typeface="Calibri"/>
                <a:cs typeface="Calibri"/>
              </a:rPr>
              <a:t>B2B-Auktions-Transaktionen (US-Markt)</a:t>
            </a:r>
          </a:p>
        </p:txBody>
      </p:sp>
      <p:sp>
        <p:nvSpPr>
          <p:cNvPr id="8" name="MikroDetails">
            <a:extLst>
              <a:ext uri="{FF2B5EF4-FFF2-40B4-BE49-F238E27FC236}">
                <a16:creationId xmlns:a16="http://schemas.microsoft.com/office/drawing/2014/main" id="{A9F16BAC-1445-4A45-A584-8CBA75C490BB}"/>
              </a:ext>
            </a:extLst>
          </p:cNvPr>
          <p:cNvSpPr>
            <a:spLocks noGrp="1"/>
          </p:cNvSpPr>
          <p:nvPr/>
        </p:nvSpPr>
        <p:spPr>
          <a:xfrm>
            <a:off x="502920" y="2125000"/>
            <a:ext cx="3657600" cy="1800000"/>
          </a:xfrm>
          <a:prstGeom prst="rect">
            <a:avLst/>
          </a:prstGeom>
          <a:noFill/>
          <a:ln>
            <a:noFill/>
          </a:ln>
        </p:spPr>
        <p:txBody>
          <a:bodyPr wrap="square" lIns="0" tIns="0" rIns="0" bIns="0" anchor="t"/>
          <a:lstStyle/>
          <a:p>
            <a:pPr marL="342900" indent="-342900">
              <a:buChar char="•"/>
            </a:pPr>
            <a:r>
              <a:rPr sz="1100">
                <a:solidFill>
                  <a:srgbClr val="334155"/>
                </a:solidFill>
                <a:latin typeface="Calibri"/>
                <a:ea typeface="Calibri"/>
                <a:cs typeface="Calibri"/>
              </a:rPr>
              <a:t>Quelle: Manheim B2B Auction Dataset (Kaggle)</a:t>
            </a:r>
          </a:p>
          <a:p>
            <a:pPr marL="342900" indent="-342900">
              <a:buChar char="•"/>
            </a:pPr>
            <a:r>
              <a:rPr sz="1100">
                <a:solidFill>
                  <a:srgbClr val="334155"/>
                </a:solidFill>
                <a:latin typeface="Calibri"/>
                <a:ea typeface="Calibri"/>
                <a:cs typeface="Calibri"/>
              </a:rPr>
              <a:t>Echte Transaktionspreise, keine Angebotspreise</a:t>
            </a:r>
          </a:p>
          <a:p>
            <a:pPr marL="342900" indent="-342900">
              <a:buChar char="•"/>
            </a:pPr>
            <a:r>
              <a:rPr sz="1100">
                <a:solidFill>
                  <a:srgbClr val="334155"/>
                </a:solidFill>
                <a:latin typeface="Calibri"/>
                <a:ea typeface="Calibri"/>
                <a:cs typeface="Calibri"/>
              </a:rPr>
              <a:t>Features: Marke, Modell, Karosserie, Kilometerstand, Zustand</a:t>
            </a:r>
          </a:p>
          <a:p>
            <a:pPr marL="342900" indent="-342900">
              <a:buChar char="•"/>
            </a:pPr>
            <a:r>
              <a:rPr sz="1100">
                <a:solidFill>
                  <a:srgbClr val="334155"/>
                </a:solidFill>
                <a:latin typeface="Calibri"/>
                <a:ea typeface="Calibri"/>
                <a:cs typeface="Calibri"/>
              </a:rPr>
              <a:t>Scope: nur US-Markt → keine Währungsmix-Verzerrung</a:t>
            </a:r>
          </a:p>
          <a:p>
            <a:pPr marL="342900" indent="-342900">
              <a:buChar char="•"/>
            </a:pPr>
            <a:r>
              <a:rPr sz="1100" b="1">
                <a:solidFill>
                  <a:srgbClr val="0F2240"/>
                </a:solidFill>
                <a:latin typeface="Calibri"/>
                <a:ea typeface="Calibri"/>
                <a:cs typeface="Calibri"/>
              </a:rPr>
              <a:t>Zielvariable: </a:t>
            </a:r>
            <a:r>
              <a:rPr sz="1100">
                <a:solidFill>
                  <a:srgbClr val="334155"/>
                </a:solidFill>
                <a:latin typeface="Calibri"/>
                <a:ea typeface="Calibri"/>
                <a:cs typeface="Calibri"/>
              </a:rPr>
              <a:t>sellingprice (realer Auktionspreis)</a:t>
            </a:r>
          </a:p>
        </p:txBody>
      </p:sp>
      <p:sp>
        <p:nvSpPr>
          <p:cNvPr id="9" name="MakroCard">
            <a:extLst>
              <a:ext uri="{FF2B5EF4-FFF2-40B4-BE49-F238E27FC236}">
                <a16:creationId xmlns:a16="http://schemas.microsoft.com/office/drawing/2014/main" id="{6616035B-02EC-43E3-82DF-594B84E57997}"/>
              </a:ext>
            </a:extLst>
          </p:cNvPr>
          <p:cNvSpPr>
            <a:spLocks noGrp="1"/>
          </p:cNvSpPr>
          <p:nvPr/>
        </p:nvSpPr>
        <p:spPr>
          <a:xfrm>
            <a:off x="4773168" y="754939"/>
            <a:ext cx="4023360" cy="4100000"/>
          </a:xfrm>
          <a:prstGeom prst="rect">
            <a:avLst/>
          </a:prstGeom>
          <a:solidFill>
            <a:srgbClr val="FFFFFF"/>
          </a:solidFill>
          <a:ln w="12700">
            <a:solidFill>
              <a:srgbClr val="E2E8F0"/>
            </a:solidFill>
          </a:ln>
          <a:effectLst>
            <a:outerShdw blurRad="101600" dist="25400" dir="8100000" algn="bl" rotWithShape="0">
              <a:srgbClr val="000000">
                <a:alpha val="8000"/>
              </a:srgbClr>
            </a:outerShdw>
          </a:effectLst>
        </p:spPr>
        <p:txBody>
          <a:bodyPr/>
          <a:lstStyle/>
          <a:p>
            <a:endParaRPr/>
          </a:p>
        </p:txBody>
      </p:sp>
      <p:sp>
        <p:nvSpPr>
          <p:cNvPr id="10" name="MakroAccent">
            <a:extLst>
              <a:ext uri="{FF2B5EF4-FFF2-40B4-BE49-F238E27FC236}">
                <a16:creationId xmlns:a16="http://schemas.microsoft.com/office/drawing/2014/main" id="{090E1F3C-87C0-4EDD-AB11-56DD99F50703}"/>
              </a:ext>
            </a:extLst>
          </p:cNvPr>
          <p:cNvSpPr>
            <a:spLocks noGrp="1"/>
          </p:cNvSpPr>
          <p:nvPr/>
        </p:nvSpPr>
        <p:spPr>
          <a:xfrm>
            <a:off x="4773168" y="730000"/>
            <a:ext cx="4023360" cy="64008"/>
          </a:xfrm>
          <a:prstGeom prst="rect">
            <a:avLst/>
          </a:prstGeom>
          <a:solidFill>
            <a:srgbClr val="7C3AED"/>
          </a:solidFill>
          <a:ln w="12700">
            <a:solidFill>
              <a:srgbClr val="7C3AED"/>
            </a:solidFill>
          </a:ln>
        </p:spPr>
        <p:txBody>
          <a:bodyPr/>
          <a:lstStyle/>
          <a:p>
            <a:endParaRPr/>
          </a:p>
        </p:txBody>
      </p:sp>
      <p:sp>
        <p:nvSpPr>
          <p:cNvPr id="11" name="MakroHeader">
            <a:extLst>
              <a:ext uri="{FF2B5EF4-FFF2-40B4-BE49-F238E27FC236}">
                <a16:creationId xmlns:a16="http://schemas.microsoft.com/office/drawing/2014/main" id="{ADB09B32-91A3-4D01-BCF6-D9402C4E4EBE}"/>
              </a:ext>
            </a:extLst>
          </p:cNvPr>
          <p:cNvSpPr>
            <a:spLocks noGrp="1"/>
          </p:cNvSpPr>
          <p:nvPr/>
        </p:nvSpPr>
        <p:spPr>
          <a:xfrm>
            <a:off x="4928616" y="840000"/>
            <a:ext cx="3749040" cy="380000"/>
          </a:xfrm>
          <a:prstGeom prst="rect">
            <a:avLst/>
          </a:prstGeom>
          <a:noFill/>
          <a:ln>
            <a:noFill/>
          </a:ln>
        </p:spPr>
        <p:txBody>
          <a:bodyPr wrap="square" lIns="0" tIns="0" rIns="0" bIns="0" anchor="ctr"/>
          <a:lstStyle/>
          <a:p>
            <a:pPr marL="0" indent="0">
              <a:buNone/>
            </a:pPr>
            <a:r>
              <a:rPr sz="1500" b="1">
                <a:solidFill>
                  <a:srgbClr val="7C3AED"/>
                </a:solidFill>
                <a:latin typeface="Calibri"/>
                <a:ea typeface="Calibri"/>
                <a:cs typeface="Calibri"/>
              </a:rPr>
              <a:t>📈 Makro-Ebene — Wirtschaftsdaten</a:t>
            </a:r>
          </a:p>
        </p:txBody>
      </p:sp>
      <p:sp>
        <p:nvSpPr>
          <p:cNvPr id="12" name="MakroStat">
            <a:extLst>
              <a:ext uri="{FF2B5EF4-FFF2-40B4-BE49-F238E27FC236}">
                <a16:creationId xmlns:a16="http://schemas.microsoft.com/office/drawing/2014/main" id="{D5D61F79-135D-428B-894A-EBA4CC47B999}"/>
              </a:ext>
            </a:extLst>
          </p:cNvPr>
          <p:cNvSpPr>
            <a:spLocks noGrp="1"/>
          </p:cNvSpPr>
          <p:nvPr/>
        </p:nvSpPr>
        <p:spPr>
          <a:xfrm>
            <a:off x="4928616" y="1270000"/>
            <a:ext cx="3657600" cy="620000"/>
          </a:xfrm>
          <a:prstGeom prst="rect">
            <a:avLst/>
          </a:prstGeom>
          <a:solidFill>
            <a:srgbClr val="F5F3FF"/>
          </a:solidFill>
          <a:ln w="12700">
            <a:solidFill>
              <a:srgbClr val="DDD6FE"/>
            </a:solidFill>
          </a:ln>
        </p:spPr>
        <p:txBody>
          <a:bodyPr wrap="square" lIns="91440" tIns="60960" rIns="91440" bIns="60960" anchor="ctr"/>
          <a:lstStyle/>
          <a:p>
            <a:pPr algn="ctr">
              <a:buNone/>
            </a:pPr>
            <a:r>
              <a:rPr sz="3200" b="1">
                <a:solidFill>
                  <a:srgbClr val="7C3AED"/>
                </a:solidFill>
                <a:latin typeface="Calibri"/>
                <a:ea typeface="Calibri"/>
                <a:cs typeface="Calibri"/>
              </a:rPr>
              <a:t>366 Monate</a:t>
            </a:r>
          </a:p>
          <a:p>
            <a:pPr algn="ctr">
              <a:buNone/>
            </a:pPr>
            <a:r>
              <a:rPr sz="1000">
                <a:solidFill>
                  <a:srgbClr val="475569"/>
                </a:solidFill>
                <a:latin typeface="Calibri"/>
                <a:ea typeface="Calibri"/>
                <a:cs typeface="Calibri"/>
              </a:rPr>
              <a:t>Jan 1996 – Jun 2026 (macro_index.csv)</a:t>
            </a:r>
          </a:p>
        </p:txBody>
      </p:sp>
      <p:sp>
        <p:nvSpPr>
          <p:cNvPr id="13" name="MakroDetails">
            <a:extLst>
              <a:ext uri="{FF2B5EF4-FFF2-40B4-BE49-F238E27FC236}">
                <a16:creationId xmlns:a16="http://schemas.microsoft.com/office/drawing/2014/main" id="{45D0DD41-CAA7-43EC-A726-83DEC596873B}"/>
              </a:ext>
            </a:extLst>
          </p:cNvPr>
          <p:cNvSpPr>
            <a:spLocks noGrp="1"/>
          </p:cNvSpPr>
          <p:nvPr/>
        </p:nvSpPr>
        <p:spPr>
          <a:xfrm>
            <a:off x="4928616" y="2125000"/>
            <a:ext cx="3657600" cy="1800000"/>
          </a:xfrm>
          <a:prstGeom prst="rect">
            <a:avLst/>
          </a:prstGeom>
          <a:noFill/>
          <a:ln>
            <a:noFill/>
          </a:ln>
        </p:spPr>
        <p:txBody>
          <a:bodyPr wrap="square" lIns="0" tIns="0" rIns="0" bIns="0" anchor="t"/>
          <a:lstStyle/>
          <a:p>
            <a:pPr marL="342900" indent="-342900">
              <a:buChar char="•"/>
            </a:pPr>
            <a:r>
              <a:rPr sz="1100">
                <a:solidFill>
                  <a:srgbClr val="334155"/>
                </a:solidFill>
                <a:latin typeface="Calibri"/>
                <a:ea typeface="Calibri"/>
                <a:cs typeface="Calibri"/>
              </a:rPr>
              <a:t>Quelle: FRED (Federal Reserve Economic Data)</a:t>
            </a:r>
          </a:p>
          <a:p>
            <a:pPr marL="342900" indent="-342900">
              <a:buChar char="•"/>
            </a:pPr>
            <a:r>
              <a:rPr sz="1100" b="1">
                <a:solidFill>
                  <a:srgbClr val="0F2240"/>
                </a:solidFill>
                <a:latin typeface="Calibri"/>
                <a:ea typeface="Calibri"/>
                <a:cs typeface="Calibri"/>
              </a:rPr>
              <a:t>CPI Used Cars </a:t>
            </a:r>
            <a:r>
              <a:rPr sz="1100">
                <a:solidFill>
                  <a:srgbClr val="334155"/>
                </a:solidFill>
                <a:latin typeface="Calibri"/>
                <a:ea typeface="Calibri"/>
                <a:cs typeface="Calibri"/>
              </a:rPr>
              <a:t>(CUSR0000SETA01)</a:t>
            </a:r>
          </a:p>
          <a:p>
            <a:pPr marL="342900" indent="-342900">
              <a:buChar char="•"/>
            </a:pPr>
            <a:r>
              <a:rPr sz="1100" b="1">
                <a:solidFill>
                  <a:srgbClr val="0F2240"/>
                </a:solidFill>
                <a:latin typeface="Calibri"/>
                <a:ea typeface="Calibri"/>
                <a:cs typeface="Calibri"/>
              </a:rPr>
              <a:t>Federal Funds Rate </a:t>
            </a:r>
            <a:r>
              <a:rPr sz="1100">
                <a:solidFill>
                  <a:srgbClr val="334155"/>
                </a:solidFill>
                <a:latin typeface="Calibri"/>
                <a:ea typeface="Calibri"/>
                <a:cs typeface="Calibri"/>
              </a:rPr>
              <a:t>(FEDFUNDS)</a:t>
            </a:r>
          </a:p>
          <a:p>
            <a:pPr marL="342900" indent="-342900">
              <a:buChar char="•"/>
            </a:pPr>
            <a:r>
              <a:rPr sz="1100">
                <a:solidFill>
                  <a:srgbClr val="334155"/>
                </a:solidFill>
                <a:latin typeface="Calibri"/>
                <a:ea typeface="Calibri"/>
                <a:cs typeface="Calibri"/>
              </a:rPr>
              <a:t>+ Arbeitslosigkeit, Consumer Sentiment</a:t>
            </a:r>
          </a:p>
          <a:p>
            <a:pPr marL="342900" indent="-342900">
              <a:buChar char="•"/>
            </a:pPr>
            <a:r>
              <a:rPr sz="1100">
                <a:solidFill>
                  <a:srgbClr val="334155"/>
                </a:solidFill>
                <a:latin typeface="Calibri"/>
                <a:ea typeface="Calibri"/>
                <a:cs typeface="Calibri"/>
              </a:rPr>
              <a:t>2014/15 als Basis-Punkt von dem aus gerechnet wird</a:t>
            </a:r>
          </a:p>
          <a:p>
            <a:endParaRPr sz="1100">
              <a:solidFill>
                <a:srgbClr val="334155"/>
              </a:solidFill>
              <a:latin typeface="Calibri"/>
              <a:ea typeface="Calibri"/>
              <a:cs typeface="Calibri"/>
            </a:endParaRPr>
          </a:p>
        </p:txBody>
      </p:sp>
    </p:spTree>
    <p:extLst>
      <p:ext uri="{BB962C8B-B14F-4D97-AF65-F5344CB8AC3E}">
        <p14:creationId xmlns:p14="http://schemas.microsoft.com/office/powerpoint/2010/main" val="2187622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opBar">
            <a:extLst>
              <a:ext uri="{FF2B5EF4-FFF2-40B4-BE49-F238E27FC236}">
                <a16:creationId xmlns:a16="http://schemas.microsoft.com/office/drawing/2014/main" id="{4FF15596-B9C4-4569-91D5-234C4CDF83A3}"/>
              </a:ext>
            </a:extLst>
          </p:cNvPr>
          <p:cNvSpPr>
            <a:spLocks noGrp="1"/>
          </p:cNvSpPr>
          <p:nvPr/>
        </p:nvSpPr>
        <p:spPr>
          <a:xfrm>
            <a:off x="0" y="0"/>
            <a:ext cx="9144000" cy="64008"/>
          </a:xfrm>
          <a:prstGeom prst="rect">
            <a:avLst/>
          </a:prstGeom>
          <a:solidFill>
            <a:srgbClr val="0D9488"/>
          </a:solidFill>
          <a:ln w="12700">
            <a:solidFill>
              <a:srgbClr val="0D9488"/>
            </a:solidFill>
          </a:ln>
        </p:spPr>
        <p:txBody>
          <a:bodyPr/>
          <a:lstStyle/>
          <a:p>
            <a:endParaRPr/>
          </a:p>
        </p:txBody>
      </p:sp>
      <p:sp>
        <p:nvSpPr>
          <p:cNvPr id="3" name="SlideTitle">
            <a:extLst>
              <a:ext uri="{FF2B5EF4-FFF2-40B4-BE49-F238E27FC236}">
                <a16:creationId xmlns:a16="http://schemas.microsoft.com/office/drawing/2014/main" id="{C9AA38BB-7CDB-4BE6-8773-FDDF1F3F3BFF}"/>
              </a:ext>
            </a:extLst>
          </p:cNvPr>
          <p:cNvSpPr>
            <a:spLocks noGrp="1"/>
          </p:cNvSpPr>
          <p:nvPr/>
        </p:nvSpPr>
        <p:spPr>
          <a:xfrm>
            <a:off x="457200" y="140000"/>
            <a:ext cx="8229600" cy="502920"/>
          </a:xfrm>
          <a:prstGeom prst="rect">
            <a:avLst/>
          </a:prstGeom>
          <a:noFill/>
          <a:ln>
            <a:noFill/>
          </a:ln>
        </p:spPr>
        <p:txBody>
          <a:bodyPr wrap="square" lIns="0" tIns="0" rIns="0" bIns="0" anchor="ctr"/>
          <a:lstStyle/>
          <a:p>
            <a:pPr marL="0" indent="0">
              <a:buNone/>
            </a:pPr>
            <a:r>
              <a:rPr sz="3000" b="1">
                <a:solidFill>
                  <a:srgbClr val="0F2240"/>
                </a:solidFill>
                <a:latin typeface="Calibri"/>
                <a:ea typeface="Calibri"/>
                <a:cs typeface="Calibri"/>
              </a:rPr>
              <a:t>Cleaning &amp; Merge</a:t>
            </a:r>
          </a:p>
        </p:txBody>
      </p:sp>
      <p:sp>
        <p:nvSpPr>
          <p:cNvPr id="4" name="Step1Bg">
            <a:extLst>
              <a:ext uri="{FF2B5EF4-FFF2-40B4-BE49-F238E27FC236}">
                <a16:creationId xmlns:a16="http://schemas.microsoft.com/office/drawing/2014/main" id="{756FA2C6-320E-48A5-9E19-0F4F07EE8394}"/>
              </a:ext>
            </a:extLst>
          </p:cNvPr>
          <p:cNvSpPr>
            <a:spLocks noGrp="1"/>
          </p:cNvSpPr>
          <p:nvPr/>
        </p:nvSpPr>
        <p:spPr>
          <a:xfrm>
            <a:off x="347472" y="730000"/>
            <a:ext cx="2571840" cy="3900000"/>
          </a:xfrm>
          <a:prstGeom prst="rect">
            <a:avLst/>
          </a:prstGeom>
          <a:solidFill>
            <a:srgbClr val="FFFFFF"/>
          </a:solidFill>
          <a:ln w="12700">
            <a:solidFill>
              <a:srgbClr val="E2E8F0"/>
            </a:solidFill>
          </a:ln>
          <a:effectLst>
            <a:outerShdw blurRad="76200" dist="19050" dir="8100000" algn="bl" rotWithShape="0">
              <a:srgbClr val="000000">
                <a:alpha val="8000"/>
              </a:srgbClr>
            </a:outerShdw>
          </a:effectLst>
        </p:spPr>
        <p:txBody>
          <a:bodyPr/>
          <a:lstStyle/>
          <a:p>
            <a:endParaRPr/>
          </a:p>
        </p:txBody>
      </p:sp>
      <p:sp>
        <p:nvSpPr>
          <p:cNvPr id="5" name="Step1Accent">
            <a:extLst>
              <a:ext uri="{FF2B5EF4-FFF2-40B4-BE49-F238E27FC236}">
                <a16:creationId xmlns:a16="http://schemas.microsoft.com/office/drawing/2014/main" id="{6BCEFC5F-37EA-482F-AE3A-E3AF12AB030E}"/>
              </a:ext>
            </a:extLst>
          </p:cNvPr>
          <p:cNvSpPr>
            <a:spLocks noGrp="1"/>
          </p:cNvSpPr>
          <p:nvPr/>
        </p:nvSpPr>
        <p:spPr>
          <a:xfrm>
            <a:off x="347472" y="730000"/>
            <a:ext cx="2571840" cy="64008"/>
          </a:xfrm>
          <a:prstGeom prst="rect">
            <a:avLst/>
          </a:prstGeom>
          <a:solidFill>
            <a:srgbClr val="0D9488"/>
          </a:solidFill>
          <a:ln w="12700">
            <a:solidFill>
              <a:srgbClr val="0D9488"/>
            </a:solidFill>
          </a:ln>
        </p:spPr>
        <p:txBody>
          <a:bodyPr/>
          <a:lstStyle/>
          <a:p>
            <a:endParaRPr/>
          </a:p>
        </p:txBody>
      </p:sp>
      <p:sp>
        <p:nvSpPr>
          <p:cNvPr id="6" name="Step1Num">
            <a:extLst>
              <a:ext uri="{FF2B5EF4-FFF2-40B4-BE49-F238E27FC236}">
                <a16:creationId xmlns:a16="http://schemas.microsoft.com/office/drawing/2014/main" id="{0B873112-3CAD-433B-9297-D689F37C1855}"/>
              </a:ext>
            </a:extLst>
          </p:cNvPr>
          <p:cNvSpPr>
            <a:spLocks noGrp="1"/>
          </p:cNvSpPr>
          <p:nvPr/>
        </p:nvSpPr>
        <p:spPr>
          <a:xfrm>
            <a:off x="502920" y="840000"/>
            <a:ext cx="280000" cy="280000"/>
          </a:xfrm>
          <a:prstGeom prst="ellipse">
            <a:avLst/>
          </a:prstGeom>
          <a:solidFill>
            <a:srgbClr val="0D9488"/>
          </a:solidFill>
          <a:ln w="12700">
            <a:noFill/>
          </a:ln>
        </p:spPr>
        <p:txBody>
          <a:bodyPr wrap="square" lIns="0" tIns="0" rIns="0" bIns="0" anchor="ctr"/>
          <a:lstStyle/>
          <a:p>
            <a:pPr algn="ctr">
              <a:buNone/>
            </a:pPr>
            <a:r>
              <a:rPr sz="1400" b="1">
                <a:solidFill>
                  <a:srgbClr val="FFFFFF"/>
                </a:solidFill>
                <a:latin typeface="Calibri"/>
                <a:ea typeface="Calibri"/>
                <a:cs typeface="Calibri"/>
              </a:rPr>
              <a:t>1</a:t>
            </a:r>
          </a:p>
        </p:txBody>
      </p:sp>
      <p:sp>
        <p:nvSpPr>
          <p:cNvPr id="7" name="Step1Header">
            <a:extLst>
              <a:ext uri="{FF2B5EF4-FFF2-40B4-BE49-F238E27FC236}">
                <a16:creationId xmlns:a16="http://schemas.microsoft.com/office/drawing/2014/main" id="{01C34EC0-A9E1-42BA-9EBB-C6FC6335CD34}"/>
              </a:ext>
            </a:extLst>
          </p:cNvPr>
          <p:cNvSpPr>
            <a:spLocks noGrp="1"/>
          </p:cNvSpPr>
          <p:nvPr/>
        </p:nvSpPr>
        <p:spPr>
          <a:xfrm>
            <a:off x="830000" y="855000"/>
            <a:ext cx="2000000" cy="280000"/>
          </a:xfrm>
          <a:prstGeom prst="rect">
            <a:avLst/>
          </a:prstGeom>
          <a:noFill/>
          <a:ln>
            <a:noFill/>
          </a:ln>
        </p:spPr>
        <p:txBody>
          <a:bodyPr wrap="square" lIns="0" tIns="0" rIns="0" bIns="0" anchor="ctr"/>
          <a:lstStyle/>
          <a:p>
            <a:pPr marL="0" indent="0">
              <a:buNone/>
            </a:pPr>
            <a:r>
              <a:rPr sz="1400" b="1">
                <a:solidFill>
                  <a:srgbClr val="0D9488"/>
                </a:solidFill>
                <a:latin typeface="Calibri"/>
                <a:ea typeface="Calibri"/>
                <a:cs typeface="Calibri"/>
              </a:rPr>
              <a:t>Cleaning</a:t>
            </a:r>
          </a:p>
        </p:txBody>
      </p:sp>
      <p:sp>
        <p:nvSpPr>
          <p:cNvPr id="8" name="Step1Content">
            <a:extLst>
              <a:ext uri="{FF2B5EF4-FFF2-40B4-BE49-F238E27FC236}">
                <a16:creationId xmlns:a16="http://schemas.microsoft.com/office/drawing/2014/main" id="{3AA3CC05-5EED-4190-9F29-117BC9A83607}"/>
              </a:ext>
            </a:extLst>
          </p:cNvPr>
          <p:cNvSpPr>
            <a:spLocks noGrp="1"/>
          </p:cNvSpPr>
          <p:nvPr/>
        </p:nvSpPr>
        <p:spPr>
          <a:xfrm>
            <a:off x="502920" y="1200000"/>
            <a:ext cx="2330000" cy="3300000"/>
          </a:xfrm>
          <a:prstGeom prst="rect">
            <a:avLst/>
          </a:prstGeom>
          <a:noFill/>
          <a:ln>
            <a:noFill/>
          </a:ln>
        </p:spPr>
        <p:txBody>
          <a:bodyPr wrap="square" lIns="0" tIns="0" rIns="0" bIns="0" anchor="t"/>
          <a:lstStyle/>
          <a:p>
            <a:pPr marL="342900" indent="-342900">
              <a:buChar char="•"/>
            </a:pPr>
            <a:r>
              <a:rPr sz="1050">
                <a:solidFill>
                  <a:srgbClr val="334155"/>
                </a:solidFill>
                <a:latin typeface="Calibri"/>
                <a:ea typeface="Calibri"/>
                <a:cs typeface="Calibri"/>
              </a:rPr>
              <a:t>558.743 Zeilen nach Cleaning</a:t>
            </a:r>
          </a:p>
          <a:p>
            <a:pPr marL="342900" indent="-342900">
              <a:buChar char="•"/>
            </a:pPr>
            <a:r>
              <a:rPr sz="1050">
                <a:solidFill>
                  <a:srgbClr val="334155"/>
                </a:solidFill>
                <a:latin typeface="Calibri"/>
                <a:ea typeface="Calibri"/>
                <a:cs typeface="Calibri"/>
              </a:rPr>
              <a:t>Fehlerhafte CSV-Zeilen repariert (zu viele Felder in trim)</a:t>
            </a:r>
          </a:p>
          <a:p>
            <a:pPr marL="342900" indent="-342900">
              <a:buChar char="•"/>
            </a:pPr>
            <a:r>
              <a:rPr sz="1050">
                <a:solidFill>
                  <a:srgbClr val="334155"/>
                </a:solidFill>
                <a:latin typeface="Calibri"/>
                <a:ea typeface="Calibri"/>
                <a:cs typeface="Calibri"/>
              </a:rPr>
              <a:t>Kategorien normalisiert (Gross-/Kleinschreibung, Whitespace)</a:t>
            </a:r>
          </a:p>
          <a:p>
            <a:pPr marL="342900" indent="-342900">
              <a:buChar char="•"/>
            </a:pPr>
            <a:r>
              <a:rPr sz="1050">
                <a:solidFill>
                  <a:srgbClr val="334155"/>
                </a:solidFill>
                <a:latin typeface="Calibri"/>
                <a:ea typeface="Calibri"/>
                <a:cs typeface="Calibri"/>
              </a:rPr>
              <a:t>Rows ohne sellingprice oder odometer entfernt</a:t>
            </a:r>
          </a:p>
          <a:p>
            <a:pPr marL="342900" indent="-342900">
              <a:buChar char="•"/>
            </a:pPr>
            <a:r>
              <a:rPr sz="1050">
                <a:solidFill>
                  <a:srgbClr val="334155"/>
                </a:solidFill>
                <a:latin typeface="Calibri"/>
                <a:ea typeface="Calibri"/>
                <a:cs typeface="Calibri"/>
              </a:rPr>
              <a:t>saledate geparst → year_month extrahiert</a:t>
            </a:r>
          </a:p>
          <a:p>
            <a:pPr marL="342900" indent="-342900">
              <a:buChar char="•"/>
            </a:pPr>
            <a:r>
              <a:rPr sz="1050">
                <a:solidFill>
                  <a:srgbClr val="334155"/>
                </a:solidFill>
                <a:latin typeface="Calibri"/>
                <a:ea typeface="Calibri"/>
                <a:cs typeface="Calibri"/>
              </a:rPr>
              <a:t>Ausreißer ausgeschlossen</a:t>
            </a:r>
          </a:p>
        </p:txBody>
      </p:sp>
      <p:sp>
        <p:nvSpPr>
          <p:cNvPr id="9" name="Arrow1">
            <a:extLst>
              <a:ext uri="{FF2B5EF4-FFF2-40B4-BE49-F238E27FC236}">
                <a16:creationId xmlns:a16="http://schemas.microsoft.com/office/drawing/2014/main" id="{56FF4DF1-68CF-4786-854D-0CADA7DD50A4}"/>
              </a:ext>
            </a:extLst>
          </p:cNvPr>
          <p:cNvSpPr>
            <a:spLocks noGrp="1"/>
          </p:cNvSpPr>
          <p:nvPr/>
        </p:nvSpPr>
        <p:spPr>
          <a:xfrm>
            <a:off x="2939402" y="2265532"/>
            <a:ext cx="380000" cy="380000"/>
          </a:xfrm>
          <a:prstGeom prst="rightArrow">
            <a:avLst/>
          </a:prstGeom>
          <a:solidFill>
            <a:srgbClr val="CBD5E1"/>
          </a:solidFill>
          <a:ln w="12700">
            <a:noFill/>
          </a:ln>
        </p:spPr>
        <p:txBody>
          <a:bodyPr/>
          <a:lstStyle/>
          <a:p>
            <a:endParaRPr/>
          </a:p>
        </p:txBody>
      </p:sp>
      <p:sp>
        <p:nvSpPr>
          <p:cNvPr id="10" name="Step2Bg">
            <a:extLst>
              <a:ext uri="{FF2B5EF4-FFF2-40B4-BE49-F238E27FC236}">
                <a16:creationId xmlns:a16="http://schemas.microsoft.com/office/drawing/2014/main" id="{A66122D4-F1C4-4B5E-A5F8-666020346B66}"/>
              </a:ext>
            </a:extLst>
          </p:cNvPr>
          <p:cNvSpPr>
            <a:spLocks noGrp="1"/>
          </p:cNvSpPr>
          <p:nvPr/>
        </p:nvSpPr>
        <p:spPr>
          <a:xfrm>
            <a:off x="3369402" y="745532"/>
            <a:ext cx="2571840" cy="3900000"/>
          </a:xfrm>
          <a:prstGeom prst="rect">
            <a:avLst/>
          </a:prstGeom>
          <a:solidFill>
            <a:srgbClr val="FFFFFF"/>
          </a:solidFill>
          <a:ln w="12700">
            <a:solidFill>
              <a:srgbClr val="E2E8F0"/>
            </a:solidFill>
          </a:ln>
          <a:effectLst>
            <a:outerShdw blurRad="76200" dist="19050" dir="8100000" algn="bl" rotWithShape="0">
              <a:srgbClr val="000000">
                <a:alpha val="8000"/>
              </a:srgbClr>
            </a:outerShdw>
          </a:effectLst>
        </p:spPr>
        <p:txBody>
          <a:bodyPr/>
          <a:lstStyle/>
          <a:p>
            <a:endParaRPr/>
          </a:p>
        </p:txBody>
      </p:sp>
      <p:sp>
        <p:nvSpPr>
          <p:cNvPr id="11" name="Step2Accent">
            <a:extLst>
              <a:ext uri="{FF2B5EF4-FFF2-40B4-BE49-F238E27FC236}">
                <a16:creationId xmlns:a16="http://schemas.microsoft.com/office/drawing/2014/main" id="{8A8E15B6-9A6B-4AD0-A909-CE3DE334A352}"/>
              </a:ext>
            </a:extLst>
          </p:cNvPr>
          <p:cNvSpPr>
            <a:spLocks noGrp="1"/>
          </p:cNvSpPr>
          <p:nvPr/>
        </p:nvSpPr>
        <p:spPr>
          <a:xfrm>
            <a:off x="3369402" y="745532"/>
            <a:ext cx="2571840" cy="64008"/>
          </a:xfrm>
          <a:prstGeom prst="rect">
            <a:avLst/>
          </a:prstGeom>
          <a:solidFill>
            <a:srgbClr val="EA580C"/>
          </a:solidFill>
          <a:ln w="12700">
            <a:solidFill>
              <a:srgbClr val="EA580C"/>
            </a:solidFill>
          </a:ln>
        </p:spPr>
        <p:txBody>
          <a:bodyPr/>
          <a:lstStyle/>
          <a:p>
            <a:endParaRPr/>
          </a:p>
        </p:txBody>
      </p:sp>
      <p:sp>
        <p:nvSpPr>
          <p:cNvPr id="12" name="Step2Num">
            <a:extLst>
              <a:ext uri="{FF2B5EF4-FFF2-40B4-BE49-F238E27FC236}">
                <a16:creationId xmlns:a16="http://schemas.microsoft.com/office/drawing/2014/main" id="{0355E2C1-6A3E-44C8-948D-FA7DE5D9B410}"/>
              </a:ext>
            </a:extLst>
          </p:cNvPr>
          <p:cNvSpPr>
            <a:spLocks noGrp="1"/>
          </p:cNvSpPr>
          <p:nvPr/>
        </p:nvSpPr>
        <p:spPr>
          <a:xfrm>
            <a:off x="3524850" y="855532"/>
            <a:ext cx="280000" cy="280000"/>
          </a:xfrm>
          <a:prstGeom prst="ellipse">
            <a:avLst/>
          </a:prstGeom>
          <a:solidFill>
            <a:srgbClr val="EA580C"/>
          </a:solidFill>
          <a:ln w="12700">
            <a:noFill/>
          </a:ln>
        </p:spPr>
        <p:txBody>
          <a:bodyPr wrap="square" lIns="0" tIns="0" rIns="0" bIns="0" anchor="ctr"/>
          <a:lstStyle/>
          <a:p>
            <a:pPr algn="ctr">
              <a:buNone/>
            </a:pPr>
            <a:r>
              <a:rPr sz="1400" b="1">
                <a:solidFill>
                  <a:srgbClr val="FFFFFF"/>
                </a:solidFill>
                <a:latin typeface="Calibri"/>
                <a:ea typeface="Calibri"/>
                <a:cs typeface="Calibri"/>
              </a:rPr>
              <a:t>2</a:t>
            </a:r>
          </a:p>
        </p:txBody>
      </p:sp>
      <p:sp>
        <p:nvSpPr>
          <p:cNvPr id="13" name="Step2Header">
            <a:extLst>
              <a:ext uri="{FF2B5EF4-FFF2-40B4-BE49-F238E27FC236}">
                <a16:creationId xmlns:a16="http://schemas.microsoft.com/office/drawing/2014/main" id="{61307571-48ED-4654-BBC6-51F919080B07}"/>
              </a:ext>
            </a:extLst>
          </p:cNvPr>
          <p:cNvSpPr>
            <a:spLocks noGrp="1"/>
          </p:cNvSpPr>
          <p:nvPr/>
        </p:nvSpPr>
        <p:spPr>
          <a:xfrm>
            <a:off x="3852090" y="870532"/>
            <a:ext cx="2000000" cy="280000"/>
          </a:xfrm>
          <a:prstGeom prst="rect">
            <a:avLst/>
          </a:prstGeom>
          <a:noFill/>
          <a:ln>
            <a:noFill/>
          </a:ln>
        </p:spPr>
        <p:txBody>
          <a:bodyPr wrap="square" lIns="0" tIns="0" rIns="0" bIns="0" anchor="ctr"/>
          <a:lstStyle/>
          <a:p>
            <a:pPr marL="0" indent="0">
              <a:buNone/>
            </a:pPr>
            <a:r>
              <a:rPr sz="1400" b="1">
                <a:solidFill>
                  <a:srgbClr val="EA580C"/>
                </a:solidFill>
                <a:latin typeface="Calibri"/>
                <a:ea typeface="Calibri"/>
                <a:cs typeface="Calibri"/>
              </a:rPr>
              <a:t>Feature Engineering</a:t>
            </a:r>
          </a:p>
        </p:txBody>
      </p:sp>
      <p:sp>
        <p:nvSpPr>
          <p:cNvPr id="14" name="Step2Content">
            <a:extLst>
              <a:ext uri="{FF2B5EF4-FFF2-40B4-BE49-F238E27FC236}">
                <a16:creationId xmlns:a16="http://schemas.microsoft.com/office/drawing/2014/main" id="{395D3234-7D4F-477C-8A81-9D5D094191DF}"/>
              </a:ext>
            </a:extLst>
          </p:cNvPr>
          <p:cNvSpPr>
            <a:spLocks noGrp="1"/>
          </p:cNvSpPr>
          <p:nvPr/>
        </p:nvSpPr>
        <p:spPr>
          <a:xfrm>
            <a:off x="3524850" y="1215532"/>
            <a:ext cx="2330000" cy="3300000"/>
          </a:xfrm>
          <a:prstGeom prst="rect">
            <a:avLst/>
          </a:prstGeom>
          <a:noFill/>
          <a:ln>
            <a:noFill/>
          </a:ln>
        </p:spPr>
        <p:txBody>
          <a:bodyPr wrap="square" lIns="0" tIns="0" rIns="0" bIns="0" anchor="t"/>
          <a:lstStyle/>
          <a:p>
            <a:pPr marL="342900" indent="-342900">
              <a:buChar char="•"/>
            </a:pPr>
            <a:r>
              <a:rPr sz="1050">
                <a:solidFill>
                  <a:srgbClr val="334155"/>
                </a:solidFill>
                <a:latin typeface="Calibri"/>
                <a:ea typeface="Calibri"/>
                <a:cs typeface="Calibri"/>
              </a:rPr>
              <a:t>534.318 Feature-Zeilen (car_prices_features.csv)</a:t>
            </a:r>
          </a:p>
          <a:p>
            <a:pPr marL="342900" indent="-342900">
              <a:buChar char="•"/>
            </a:pPr>
            <a:r>
              <a:rPr sz="1050" b="1">
                <a:solidFill>
                  <a:srgbClr val="0F2240"/>
                </a:solidFill>
                <a:latin typeface="Calibri"/>
                <a:ea typeface="Calibri"/>
                <a:cs typeface="Calibri"/>
              </a:rPr>
              <a:t>vehicle_age </a:t>
            </a:r>
            <a:r>
              <a:rPr sz="1050">
                <a:solidFill>
                  <a:srgbClr val="334155"/>
                </a:solidFill>
                <a:latin typeface="Calibri"/>
                <a:ea typeface="Calibri"/>
                <a:cs typeface="Calibri"/>
              </a:rPr>
              <a:t>aus saledate – year berechnet</a:t>
            </a:r>
          </a:p>
          <a:p>
            <a:pPr marL="342900" indent="-342900">
              <a:buChar char="•"/>
            </a:pPr>
            <a:r>
              <a:rPr sz="1050" b="1">
                <a:solidFill>
                  <a:srgbClr val="0F2240"/>
                </a:solidFill>
                <a:latin typeface="Calibri"/>
                <a:ea typeface="Calibri"/>
                <a:cs typeface="Calibri"/>
              </a:rPr>
              <a:t>year_month </a:t>
            </a:r>
            <a:r>
              <a:rPr sz="1050">
                <a:solidFill>
                  <a:srgbClr val="334155"/>
                </a:solidFill>
                <a:latin typeface="Calibri"/>
                <a:ea typeface="Calibri"/>
                <a:cs typeface="Calibri"/>
              </a:rPr>
              <a:t>als Merge-Schlüssel (YYYY-MM)</a:t>
            </a:r>
          </a:p>
          <a:p>
            <a:pPr marL="342900" indent="-342900">
              <a:buChar char="•"/>
            </a:pPr>
            <a:r>
              <a:rPr sz="1050">
                <a:solidFill>
                  <a:srgbClr val="334155"/>
                </a:solidFill>
                <a:latin typeface="Calibri"/>
                <a:ea typeface="Calibri"/>
                <a:cs typeface="Calibri"/>
              </a:rPr>
              <a:t>sale_month für Stage-3-Saisonalität</a:t>
            </a:r>
          </a:p>
          <a:p>
            <a:pPr marL="342900" indent="-342900">
              <a:buChar char="•"/>
            </a:pPr>
            <a:r>
              <a:rPr sz="1050">
                <a:solidFill>
                  <a:srgbClr val="334155"/>
                </a:solidFill>
                <a:latin typeface="Calibri"/>
                <a:ea typeface="Calibri"/>
                <a:cs typeface="Calibri"/>
              </a:rPr>
              <a:t>mmr bewusst ausgeschlossen (zu nah an Zielvariable)</a:t>
            </a:r>
          </a:p>
        </p:txBody>
      </p:sp>
      <p:sp>
        <p:nvSpPr>
          <p:cNvPr id="15" name="Arrow2">
            <a:extLst>
              <a:ext uri="{FF2B5EF4-FFF2-40B4-BE49-F238E27FC236}">
                <a16:creationId xmlns:a16="http://schemas.microsoft.com/office/drawing/2014/main" id="{F0C649E2-5DD9-4CA1-B090-03BCEEE60417}"/>
              </a:ext>
            </a:extLst>
          </p:cNvPr>
          <p:cNvSpPr>
            <a:spLocks noGrp="1"/>
          </p:cNvSpPr>
          <p:nvPr/>
        </p:nvSpPr>
        <p:spPr>
          <a:xfrm>
            <a:off x="5991242" y="2265532"/>
            <a:ext cx="380000" cy="380000"/>
          </a:xfrm>
          <a:prstGeom prst="rightArrow">
            <a:avLst/>
          </a:prstGeom>
          <a:solidFill>
            <a:srgbClr val="CBD5E1"/>
          </a:solidFill>
          <a:ln w="12700">
            <a:noFill/>
          </a:ln>
        </p:spPr>
        <p:txBody>
          <a:bodyPr/>
          <a:lstStyle/>
          <a:p>
            <a:endParaRPr/>
          </a:p>
        </p:txBody>
      </p:sp>
      <p:sp>
        <p:nvSpPr>
          <p:cNvPr id="16" name="Step3Bg">
            <a:extLst>
              <a:ext uri="{FF2B5EF4-FFF2-40B4-BE49-F238E27FC236}">
                <a16:creationId xmlns:a16="http://schemas.microsoft.com/office/drawing/2014/main" id="{559F3DF0-30E3-41A5-AAD1-9DE301BBD4E2}"/>
              </a:ext>
            </a:extLst>
          </p:cNvPr>
          <p:cNvSpPr>
            <a:spLocks noGrp="1"/>
          </p:cNvSpPr>
          <p:nvPr/>
        </p:nvSpPr>
        <p:spPr>
          <a:xfrm>
            <a:off x="6421242" y="745532"/>
            <a:ext cx="2571840" cy="3900000"/>
          </a:xfrm>
          <a:prstGeom prst="rect">
            <a:avLst/>
          </a:prstGeom>
          <a:solidFill>
            <a:srgbClr val="FFFFFF"/>
          </a:solidFill>
          <a:ln w="12700">
            <a:solidFill>
              <a:srgbClr val="E2E8F0"/>
            </a:solidFill>
          </a:ln>
          <a:effectLst>
            <a:outerShdw blurRad="76200" dist="19050" dir="8100000" algn="bl" rotWithShape="0">
              <a:srgbClr val="000000">
                <a:alpha val="8000"/>
              </a:srgbClr>
            </a:outerShdw>
          </a:effectLst>
        </p:spPr>
        <p:txBody>
          <a:bodyPr/>
          <a:lstStyle/>
          <a:p>
            <a:endParaRPr/>
          </a:p>
        </p:txBody>
      </p:sp>
      <p:sp>
        <p:nvSpPr>
          <p:cNvPr id="17" name="Step3Accent">
            <a:extLst>
              <a:ext uri="{FF2B5EF4-FFF2-40B4-BE49-F238E27FC236}">
                <a16:creationId xmlns:a16="http://schemas.microsoft.com/office/drawing/2014/main" id="{F9AA4F5B-11C2-4974-BAB6-79298688DDD0}"/>
              </a:ext>
            </a:extLst>
          </p:cNvPr>
          <p:cNvSpPr>
            <a:spLocks noGrp="1"/>
          </p:cNvSpPr>
          <p:nvPr/>
        </p:nvSpPr>
        <p:spPr>
          <a:xfrm>
            <a:off x="6421242" y="745532"/>
            <a:ext cx="2571840" cy="64008"/>
          </a:xfrm>
          <a:prstGeom prst="rect">
            <a:avLst/>
          </a:prstGeom>
          <a:solidFill>
            <a:srgbClr val="7C3AED"/>
          </a:solidFill>
          <a:ln w="12700">
            <a:solidFill>
              <a:srgbClr val="7C3AED"/>
            </a:solidFill>
          </a:ln>
        </p:spPr>
        <p:txBody>
          <a:bodyPr/>
          <a:lstStyle/>
          <a:p>
            <a:endParaRPr/>
          </a:p>
        </p:txBody>
      </p:sp>
      <p:sp>
        <p:nvSpPr>
          <p:cNvPr id="18" name="Step3Num">
            <a:extLst>
              <a:ext uri="{FF2B5EF4-FFF2-40B4-BE49-F238E27FC236}">
                <a16:creationId xmlns:a16="http://schemas.microsoft.com/office/drawing/2014/main" id="{B5A61A37-9365-4977-841F-6D66CF893013}"/>
              </a:ext>
            </a:extLst>
          </p:cNvPr>
          <p:cNvSpPr>
            <a:spLocks noGrp="1"/>
          </p:cNvSpPr>
          <p:nvPr/>
        </p:nvSpPr>
        <p:spPr>
          <a:xfrm>
            <a:off x="6576690" y="855532"/>
            <a:ext cx="280000" cy="280000"/>
          </a:xfrm>
          <a:prstGeom prst="ellipse">
            <a:avLst/>
          </a:prstGeom>
          <a:solidFill>
            <a:srgbClr val="7C3AED"/>
          </a:solidFill>
          <a:ln w="12700">
            <a:noFill/>
          </a:ln>
        </p:spPr>
        <p:txBody>
          <a:bodyPr wrap="square" lIns="0" tIns="0" rIns="0" bIns="0" anchor="ctr"/>
          <a:lstStyle/>
          <a:p>
            <a:pPr algn="ctr">
              <a:buNone/>
            </a:pPr>
            <a:r>
              <a:rPr sz="1400" b="1">
                <a:solidFill>
                  <a:srgbClr val="FFFFFF"/>
                </a:solidFill>
                <a:latin typeface="Calibri"/>
                <a:ea typeface="Calibri"/>
                <a:cs typeface="Calibri"/>
              </a:rPr>
              <a:t>3</a:t>
            </a:r>
          </a:p>
        </p:txBody>
      </p:sp>
      <p:sp>
        <p:nvSpPr>
          <p:cNvPr id="19" name="Step3Header">
            <a:extLst>
              <a:ext uri="{FF2B5EF4-FFF2-40B4-BE49-F238E27FC236}">
                <a16:creationId xmlns:a16="http://schemas.microsoft.com/office/drawing/2014/main" id="{73BFD38F-7421-40DB-A8ED-33A2244E33CF}"/>
              </a:ext>
            </a:extLst>
          </p:cNvPr>
          <p:cNvSpPr>
            <a:spLocks noGrp="1"/>
          </p:cNvSpPr>
          <p:nvPr/>
        </p:nvSpPr>
        <p:spPr>
          <a:xfrm>
            <a:off x="6904090" y="870532"/>
            <a:ext cx="2000000" cy="280000"/>
          </a:xfrm>
          <a:prstGeom prst="rect">
            <a:avLst/>
          </a:prstGeom>
          <a:noFill/>
          <a:ln>
            <a:noFill/>
          </a:ln>
        </p:spPr>
        <p:txBody>
          <a:bodyPr wrap="square" lIns="0" tIns="0" rIns="0" bIns="0" anchor="ctr"/>
          <a:lstStyle/>
          <a:p>
            <a:pPr marL="0" indent="0">
              <a:buNone/>
            </a:pPr>
            <a:r>
              <a:rPr sz="1400" b="1">
                <a:solidFill>
                  <a:srgbClr val="7C3AED"/>
                </a:solidFill>
                <a:latin typeface="Calibri"/>
                <a:ea typeface="Calibri"/>
                <a:cs typeface="Calibri"/>
              </a:rPr>
              <a:t>Mikro + Makro Merge</a:t>
            </a:r>
          </a:p>
        </p:txBody>
      </p:sp>
      <p:sp>
        <p:nvSpPr>
          <p:cNvPr id="20" name="Step3Content">
            <a:extLst>
              <a:ext uri="{FF2B5EF4-FFF2-40B4-BE49-F238E27FC236}">
                <a16:creationId xmlns:a16="http://schemas.microsoft.com/office/drawing/2014/main" id="{6BC0BA2C-B7FC-4C40-92EB-4D38445A9A88}"/>
              </a:ext>
            </a:extLst>
          </p:cNvPr>
          <p:cNvSpPr>
            <a:spLocks noGrp="1"/>
          </p:cNvSpPr>
          <p:nvPr/>
        </p:nvSpPr>
        <p:spPr>
          <a:xfrm>
            <a:off x="6576690" y="1215532"/>
            <a:ext cx="2330000" cy="3300000"/>
          </a:xfrm>
          <a:prstGeom prst="rect">
            <a:avLst/>
          </a:prstGeom>
          <a:noFill/>
          <a:ln>
            <a:noFill/>
          </a:ln>
        </p:spPr>
        <p:txBody>
          <a:bodyPr wrap="square" lIns="0" tIns="0" rIns="0" bIns="0" anchor="t"/>
          <a:lstStyle/>
          <a:p>
            <a:pPr marL="342900" indent="-342900">
              <a:buChar char="•"/>
            </a:pPr>
            <a:r>
              <a:rPr sz="1050">
                <a:solidFill>
                  <a:srgbClr val="334155"/>
                </a:solidFill>
                <a:latin typeface="Calibri"/>
                <a:ea typeface="Calibri"/>
                <a:cs typeface="Calibri"/>
              </a:rPr>
              <a:t>enrich_macro.py: Left Join über year_month</a:t>
            </a:r>
          </a:p>
          <a:p>
            <a:pPr marL="342900" indent="-342900">
              <a:buChar char="•"/>
            </a:pPr>
            <a:r>
              <a:rPr sz="1050">
                <a:solidFill>
                  <a:srgbClr val="334155"/>
                </a:solidFill>
                <a:latin typeface="Calibri"/>
                <a:ea typeface="Calibri"/>
                <a:cs typeface="Calibri"/>
              </a:rPr>
              <a:t>Ergebnis: car_prices_macro.csv (~98 MB, in .gitignore)</a:t>
            </a:r>
          </a:p>
          <a:p>
            <a:pPr marL="342900" indent="-342900">
              <a:buChar char="•"/>
            </a:pPr>
            <a:r>
              <a:rPr sz="1050">
                <a:solidFill>
                  <a:srgbClr val="334155"/>
                </a:solidFill>
                <a:latin typeface="Calibri"/>
                <a:ea typeface="Calibri"/>
                <a:cs typeface="Calibri"/>
              </a:rPr>
              <a:t>Jede Transaktion bekommt den Makro-Kontext des Verkaufsmonats</a:t>
            </a:r>
          </a:p>
          <a:p>
            <a:pPr marL="342900" indent="-342900">
              <a:buChar char="•"/>
            </a:pPr>
            <a:r>
              <a:rPr sz="1050">
                <a:solidFill>
                  <a:srgbClr val="334155"/>
                </a:solidFill>
                <a:latin typeface="Calibri"/>
                <a:ea typeface="Calibri"/>
                <a:cs typeface="Calibri"/>
              </a:rPr>
              <a:t>Reproduzierbar als Skript — kein manueller Schritt</a:t>
            </a:r>
          </a:p>
          <a:p>
            <a:pPr marL="342900" indent="-342900">
              <a:buChar char="•"/>
            </a:pPr>
            <a:r>
              <a:rPr sz="1050" b="1">
                <a:solidFill>
                  <a:srgbClr val="0F2240"/>
                </a:solidFill>
                <a:latin typeface="Calibri"/>
                <a:ea typeface="Calibri"/>
                <a:cs typeface="Calibri"/>
              </a:rPr>
              <a:t>Stage 1 trainiert auf Mikrodaten</a:t>
            </a:r>
          </a:p>
          <a:p>
            <a:pPr marL="342900" indent="-342900">
              <a:buChar char="•"/>
            </a:pPr>
            <a:r>
              <a:rPr sz="1050" b="1">
                <a:solidFill>
                  <a:srgbClr val="0F2240"/>
                </a:solidFill>
                <a:latin typeface="Calibri"/>
                <a:ea typeface="Calibri"/>
                <a:cs typeface="Calibri"/>
              </a:rPr>
              <a:t>Stage 2 wendet Makro-Multiplikator an</a:t>
            </a:r>
          </a:p>
        </p:txBody>
      </p:sp>
    </p:spTree>
    <p:extLst>
      <p:ext uri="{BB962C8B-B14F-4D97-AF65-F5344CB8AC3E}">
        <p14:creationId xmlns:p14="http://schemas.microsoft.com/office/powerpoint/2010/main" val="12210090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Bar"/>
          <p:cNvSpPr/>
          <p:nvPr/>
        </p:nvSpPr>
        <p:spPr>
          <a:xfrm>
            <a:off x="0" y="0"/>
            <a:ext cx="9144000" cy="64008"/>
          </a:xfrm>
          <a:prstGeom prst="rect">
            <a:avLst/>
          </a:prstGeom>
          <a:solidFill>
            <a:srgbClr val="0D9488"/>
          </a:solidFill>
          <a:ln w="12700">
            <a:solidFill>
              <a:srgbClr val="0D9488"/>
            </a:solidFill>
            <a:prstDash val="solid"/>
          </a:ln>
        </p:spPr>
        <p:txBody>
          <a:bodyPr/>
          <a:lstStyle/>
          <a:p>
            <a:endParaRPr lang="de-DE"/>
          </a:p>
        </p:txBody>
      </p:sp>
      <p:sp>
        <p:nvSpPr>
          <p:cNvPr id="3" name="Title"/>
          <p:cNvSpPr/>
          <p:nvPr/>
        </p:nvSpPr>
        <p:spPr>
          <a:xfrm>
            <a:off x="457200" y="201168"/>
            <a:ext cx="8229600" cy="475488"/>
          </a:xfrm>
          <a:prstGeom prst="rect">
            <a:avLst/>
          </a:prstGeom>
          <a:noFill/>
          <a:ln/>
        </p:spPr>
        <p:txBody>
          <a:bodyPr wrap="square" lIns="0" tIns="0" rIns="0" bIns="0" rtlCol="0" anchor="ctr"/>
          <a:lstStyle/>
          <a:p>
            <a:pPr marL="0" indent="0">
              <a:buNone/>
            </a:pPr>
            <a:r>
              <a:rPr lang="de-DE" sz="3000" b="1">
                <a:solidFill>
                  <a:srgbClr val="0F2240"/>
                </a:solidFill>
                <a:latin typeface="Calibri" pitchFamily="34" charset="0"/>
              </a:rPr>
              <a:t>Cleaning</a:t>
            </a:r>
          </a:p>
        </p:txBody>
      </p:sp>
      <p:sp>
        <p:nvSpPr>
          <p:cNvPr id="4" name="Subtitle"/>
          <p:cNvSpPr/>
          <p:nvPr/>
        </p:nvSpPr>
        <p:spPr>
          <a:xfrm>
            <a:off x="457200" y="713232"/>
            <a:ext cx="8229600" cy="256032"/>
          </a:xfrm>
          <a:prstGeom prst="rect">
            <a:avLst/>
          </a:prstGeom>
          <a:noFill/>
          <a:ln/>
        </p:spPr>
        <p:txBody>
          <a:bodyPr wrap="square" lIns="0" tIns="0" rIns="0" bIns="0" rtlCol="0" anchor="ctr"/>
          <a:lstStyle/>
          <a:p>
            <a:pPr marL="0" indent="0">
              <a:buNone/>
            </a:pPr>
            <a:r>
              <a:rPr lang="de-DE" sz="1200" i="1" err="1">
                <a:solidFill>
                  <a:srgbClr val="64748B"/>
                </a:solidFill>
                <a:latin typeface="Calibri" pitchFamily="34" charset="0"/>
              </a:rPr>
              <a:t>Manheim</a:t>
            </a:r>
            <a:r>
              <a:rPr lang="de-DE" sz="1200" i="1">
                <a:solidFill>
                  <a:srgbClr val="64748B"/>
                </a:solidFill>
                <a:latin typeface="Calibri" pitchFamily="34" charset="0"/>
              </a:rPr>
              <a:t> B2B Auktionsdatensatz</a:t>
            </a:r>
          </a:p>
        </p:txBody>
      </p:sp>
      <p:sp>
        <p:nvSpPr>
          <p:cNvPr id="5" name="LeftCardBg"/>
          <p:cNvSpPr/>
          <p:nvPr/>
        </p:nvSpPr>
        <p:spPr>
          <a:xfrm>
            <a:off x="320040" y="1024128"/>
            <a:ext cx="4160520" cy="369072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txBody>
          <a:bodyPr/>
          <a:lstStyle/>
          <a:p>
            <a:endParaRPr lang="de-DE"/>
          </a:p>
        </p:txBody>
      </p:sp>
      <p:sp>
        <p:nvSpPr>
          <p:cNvPr id="6" name="LeftCardHeaderBar"/>
          <p:cNvSpPr/>
          <p:nvPr/>
        </p:nvSpPr>
        <p:spPr>
          <a:xfrm>
            <a:off x="320040" y="1024128"/>
            <a:ext cx="4160520" cy="365760"/>
          </a:xfrm>
          <a:prstGeom prst="rect">
            <a:avLst/>
          </a:prstGeom>
          <a:solidFill>
            <a:srgbClr val="0F2240"/>
          </a:solidFill>
          <a:ln w="12700">
            <a:solidFill>
              <a:srgbClr val="0F2240"/>
            </a:solidFill>
            <a:prstDash val="solid"/>
          </a:ln>
        </p:spPr>
        <p:txBody>
          <a:bodyPr/>
          <a:lstStyle/>
          <a:p>
            <a:endParaRPr lang="de-DE"/>
          </a:p>
        </p:txBody>
      </p:sp>
      <p:sp>
        <p:nvSpPr>
          <p:cNvPr id="7" name="LeftCardHeaderText"/>
          <p:cNvSpPr/>
          <p:nvPr/>
        </p:nvSpPr>
        <p:spPr>
          <a:xfrm>
            <a:off x="438912" y="1069848"/>
            <a:ext cx="3931920" cy="274320"/>
          </a:xfrm>
          <a:prstGeom prst="rect">
            <a:avLst/>
          </a:prstGeom>
          <a:noFill/>
          <a:ln/>
        </p:spPr>
        <p:txBody>
          <a:bodyPr wrap="square" lIns="0" tIns="0" rIns="0" bIns="0" rtlCol="0" anchor="ctr"/>
          <a:lstStyle/>
          <a:p>
            <a:pPr marL="0" indent="0">
              <a:buNone/>
            </a:pPr>
            <a:r>
              <a:rPr lang="de-DE" sz="1100" b="1">
                <a:solidFill>
                  <a:srgbClr val="FFFFFF"/>
                </a:solidFill>
                <a:latin typeface="Calibri" pitchFamily="34" charset="0"/>
              </a:rPr>
              <a:t>Was wurde gemacht?</a:t>
            </a:r>
          </a:p>
        </p:txBody>
      </p:sp>
      <p:sp>
        <p:nvSpPr>
          <p:cNvPr id="10" name="Row1Bg"/>
          <p:cNvSpPr/>
          <p:nvPr/>
        </p:nvSpPr>
        <p:spPr>
          <a:xfrm>
            <a:off x="320040" y="1463040"/>
            <a:ext cx="4160520" cy="411480"/>
          </a:xfrm>
          <a:prstGeom prst="rect">
            <a:avLst/>
          </a:prstGeom>
          <a:solidFill>
            <a:srgbClr val="FFFFFF"/>
          </a:solidFill>
          <a:ln w="12700">
            <a:solidFill>
              <a:srgbClr val="E2E8F0"/>
            </a:solidFill>
            <a:prstDash val="solid"/>
          </a:ln>
        </p:spPr>
        <p:txBody>
          <a:bodyPr/>
          <a:lstStyle/>
          <a:p>
            <a:endParaRPr/>
          </a:p>
        </p:txBody>
      </p:sp>
      <p:sp>
        <p:nvSpPr>
          <p:cNvPr id="11" name="Row1Accent"/>
          <p:cNvSpPr/>
          <p:nvPr/>
        </p:nvSpPr>
        <p:spPr>
          <a:xfrm>
            <a:off x="320040" y="1463040"/>
            <a:ext cx="45720" cy="411480"/>
          </a:xfrm>
          <a:prstGeom prst="rect">
            <a:avLst/>
          </a:prstGeom>
          <a:solidFill>
            <a:srgbClr val="0D9488"/>
          </a:solidFill>
          <a:ln w="0">
            <a:noFill/>
          </a:ln>
        </p:spPr>
        <p:txBody>
          <a:bodyPr/>
          <a:lstStyle/>
          <a:p>
            <a:endParaRPr/>
          </a:p>
        </p:txBody>
      </p:sp>
      <p:sp>
        <p:nvSpPr>
          <p:cNvPr id="12" name="Row1Label"/>
          <p:cNvSpPr/>
          <p:nvPr/>
        </p:nvSpPr>
        <p:spPr>
          <a:xfrm>
            <a:off x="411480" y="1481520"/>
            <a:ext cx="4000000" cy="200000"/>
          </a:xfrm>
          <a:prstGeom prst="rect">
            <a:avLst/>
          </a:prstGeom>
          <a:noFill/>
          <a:ln>
            <a:noFill/>
          </a:ln>
        </p:spPr>
        <p:txBody>
          <a:bodyPr wrap="square" lIns="0" tIns="0" rIns="0" bIns="0" rtlCol="0" anchor="ctr"/>
          <a:lstStyle/>
          <a:p>
            <a:pPr marL="0" indent="0">
              <a:buNone/>
            </a:pPr>
            <a:r>
              <a:rPr lang="de-DE" sz="1100" b="1">
                <a:solidFill>
                  <a:srgbClr val="0F2240"/>
                </a:solidFill>
                <a:latin typeface="Calibri" pitchFamily="34" charset="0"/>
              </a:rPr>
              <a:t>Fehlerhafte CSV-Zeilen repariert</a:t>
            </a:r>
          </a:p>
        </p:txBody>
      </p:sp>
      <p:sp>
        <p:nvSpPr>
          <p:cNvPr id="13" name="Row1Desc"/>
          <p:cNvSpPr/>
          <p:nvPr/>
        </p:nvSpPr>
        <p:spPr>
          <a:xfrm>
            <a:off x="411480" y="1681520"/>
            <a:ext cx="4000000" cy="180000"/>
          </a:xfrm>
          <a:prstGeom prst="rect">
            <a:avLst/>
          </a:prstGeom>
          <a:noFill/>
          <a:ln>
            <a:noFill/>
          </a:ln>
        </p:spPr>
        <p:txBody>
          <a:bodyPr wrap="square" lIns="0" tIns="0" rIns="0" bIns="0" rtlCol="0" anchor="ctr"/>
          <a:lstStyle/>
          <a:p>
            <a:pPr marL="0" indent="0">
              <a:buNone/>
            </a:pPr>
            <a:r>
              <a:rPr lang="de-DE" sz="950" i="1">
                <a:solidFill>
                  <a:srgbClr val="64748B"/>
                </a:solidFill>
                <a:latin typeface="Calibri" pitchFamily="34" charset="0"/>
              </a:rPr>
              <a:t>trim-Feld hatte Extrakomma → Zeile gesplittet und neu zusammengesetzt</a:t>
            </a:r>
          </a:p>
        </p:txBody>
      </p:sp>
      <p:sp>
        <p:nvSpPr>
          <p:cNvPr id="20" name="Row2Bg"/>
          <p:cNvSpPr/>
          <p:nvPr/>
        </p:nvSpPr>
        <p:spPr>
          <a:xfrm>
            <a:off x="320040" y="1892520"/>
            <a:ext cx="4160520" cy="411480"/>
          </a:xfrm>
          <a:prstGeom prst="rect">
            <a:avLst/>
          </a:prstGeom>
          <a:solidFill>
            <a:srgbClr val="FFFFFF"/>
          </a:solidFill>
          <a:ln w="12700">
            <a:solidFill>
              <a:srgbClr val="E2E8F0"/>
            </a:solidFill>
            <a:prstDash val="solid"/>
          </a:ln>
        </p:spPr>
        <p:txBody>
          <a:bodyPr/>
          <a:lstStyle/>
          <a:p>
            <a:endParaRPr/>
          </a:p>
        </p:txBody>
      </p:sp>
      <p:sp>
        <p:nvSpPr>
          <p:cNvPr id="21" name="Row2Accent"/>
          <p:cNvSpPr/>
          <p:nvPr/>
        </p:nvSpPr>
        <p:spPr>
          <a:xfrm>
            <a:off x="320040" y="1892520"/>
            <a:ext cx="45720" cy="411480"/>
          </a:xfrm>
          <a:prstGeom prst="rect">
            <a:avLst/>
          </a:prstGeom>
          <a:solidFill>
            <a:srgbClr val="0D9488"/>
          </a:solidFill>
          <a:ln w="0">
            <a:noFill/>
          </a:ln>
        </p:spPr>
        <p:txBody>
          <a:bodyPr/>
          <a:lstStyle/>
          <a:p>
            <a:endParaRPr/>
          </a:p>
        </p:txBody>
      </p:sp>
      <p:sp>
        <p:nvSpPr>
          <p:cNvPr id="22" name="Row2Label"/>
          <p:cNvSpPr/>
          <p:nvPr/>
        </p:nvSpPr>
        <p:spPr>
          <a:xfrm>
            <a:off x="411480" y="1910000"/>
            <a:ext cx="4000000" cy="200000"/>
          </a:xfrm>
          <a:prstGeom prst="rect">
            <a:avLst/>
          </a:prstGeom>
          <a:noFill/>
          <a:ln>
            <a:noFill/>
          </a:ln>
        </p:spPr>
        <p:txBody>
          <a:bodyPr wrap="square" lIns="0" tIns="0" rIns="0" bIns="0" rtlCol="0" anchor="ctr"/>
          <a:lstStyle/>
          <a:p>
            <a:pPr marL="0" indent="0">
              <a:buNone/>
            </a:pPr>
            <a:r>
              <a:rPr lang="de-DE" sz="1100" b="1">
                <a:solidFill>
                  <a:srgbClr val="0F2240"/>
                </a:solidFill>
                <a:latin typeface="Calibri" pitchFamily="34" charset="0"/>
              </a:rPr>
              <a:t>Kategorien normalisiert</a:t>
            </a:r>
          </a:p>
        </p:txBody>
      </p:sp>
      <p:sp>
        <p:nvSpPr>
          <p:cNvPr id="23" name="Row2Desc"/>
          <p:cNvSpPr/>
          <p:nvPr/>
        </p:nvSpPr>
        <p:spPr>
          <a:xfrm>
            <a:off x="411480" y="2110000"/>
            <a:ext cx="4000000" cy="180000"/>
          </a:xfrm>
          <a:prstGeom prst="rect">
            <a:avLst/>
          </a:prstGeom>
          <a:noFill/>
          <a:ln>
            <a:noFill/>
          </a:ln>
        </p:spPr>
        <p:txBody>
          <a:bodyPr wrap="square" lIns="0" tIns="0" rIns="0" bIns="0" rtlCol="0" anchor="ctr"/>
          <a:lstStyle/>
          <a:p>
            <a:pPr marL="0" indent="0">
              <a:buNone/>
            </a:pPr>
            <a:r>
              <a:rPr lang="de-DE" sz="950" i="1">
                <a:solidFill>
                  <a:srgbClr val="64748B"/>
                </a:solidFill>
                <a:latin typeface="Calibri" pitchFamily="34" charset="0"/>
              </a:rPr>
              <a:t>Gross-/Kleinschreibung vereinheitlicht, Whitespace entfernt</a:t>
            </a:r>
          </a:p>
        </p:txBody>
      </p:sp>
      <p:sp>
        <p:nvSpPr>
          <p:cNvPr id="30" name="Row3Bg"/>
          <p:cNvSpPr/>
          <p:nvPr/>
        </p:nvSpPr>
        <p:spPr>
          <a:xfrm>
            <a:off x="320040" y="2322000"/>
            <a:ext cx="4160520" cy="411480"/>
          </a:xfrm>
          <a:prstGeom prst="rect">
            <a:avLst/>
          </a:prstGeom>
          <a:solidFill>
            <a:srgbClr val="FFFFFF"/>
          </a:solidFill>
          <a:ln w="12700">
            <a:solidFill>
              <a:srgbClr val="E2E8F0"/>
            </a:solidFill>
            <a:prstDash val="solid"/>
          </a:ln>
        </p:spPr>
        <p:txBody>
          <a:bodyPr/>
          <a:lstStyle/>
          <a:p>
            <a:endParaRPr/>
          </a:p>
        </p:txBody>
      </p:sp>
      <p:sp>
        <p:nvSpPr>
          <p:cNvPr id="31" name="Row3Accent"/>
          <p:cNvSpPr/>
          <p:nvPr/>
        </p:nvSpPr>
        <p:spPr>
          <a:xfrm>
            <a:off x="320040" y="2322000"/>
            <a:ext cx="45720" cy="411480"/>
          </a:xfrm>
          <a:prstGeom prst="rect">
            <a:avLst/>
          </a:prstGeom>
          <a:solidFill>
            <a:srgbClr val="0D9488"/>
          </a:solidFill>
          <a:ln w="0">
            <a:noFill/>
          </a:ln>
        </p:spPr>
        <p:txBody>
          <a:bodyPr/>
          <a:lstStyle/>
          <a:p>
            <a:endParaRPr/>
          </a:p>
        </p:txBody>
      </p:sp>
      <p:sp>
        <p:nvSpPr>
          <p:cNvPr id="32" name="Row3Label"/>
          <p:cNvSpPr/>
          <p:nvPr/>
        </p:nvSpPr>
        <p:spPr>
          <a:xfrm>
            <a:off x="411480" y="2340000"/>
            <a:ext cx="4000000" cy="200000"/>
          </a:xfrm>
          <a:prstGeom prst="rect">
            <a:avLst/>
          </a:prstGeom>
          <a:noFill/>
          <a:ln>
            <a:noFill/>
          </a:ln>
        </p:spPr>
        <p:txBody>
          <a:bodyPr wrap="square" lIns="0" tIns="0" rIns="0" bIns="0" rtlCol="0" anchor="ctr"/>
          <a:lstStyle/>
          <a:p>
            <a:pPr marL="0" indent="0">
              <a:buNone/>
            </a:pPr>
            <a:r>
              <a:rPr lang="de-DE" sz="1100" b="1">
                <a:solidFill>
                  <a:srgbClr val="0F2240"/>
                </a:solidFill>
                <a:latin typeface="Calibri" pitchFamily="34" charset="0"/>
              </a:rPr>
              <a:t>Fehlende Werte entfernt</a:t>
            </a:r>
          </a:p>
        </p:txBody>
      </p:sp>
      <p:sp>
        <p:nvSpPr>
          <p:cNvPr id="33" name="Row3Desc"/>
          <p:cNvSpPr/>
          <p:nvPr/>
        </p:nvSpPr>
        <p:spPr>
          <a:xfrm>
            <a:off x="411480" y="2540000"/>
            <a:ext cx="4000000" cy="180000"/>
          </a:xfrm>
          <a:prstGeom prst="rect">
            <a:avLst/>
          </a:prstGeom>
          <a:noFill/>
          <a:ln>
            <a:noFill/>
          </a:ln>
        </p:spPr>
        <p:txBody>
          <a:bodyPr wrap="square" lIns="0" tIns="0" rIns="0" bIns="0" rtlCol="0" anchor="ctr"/>
          <a:lstStyle/>
          <a:p>
            <a:pPr marL="0" indent="0">
              <a:buNone/>
            </a:pPr>
            <a:r>
              <a:rPr lang="de-DE" sz="950" i="1">
                <a:solidFill>
                  <a:srgbClr val="64748B"/>
                </a:solidFill>
                <a:latin typeface="Calibri" pitchFamily="34" charset="0"/>
              </a:rPr>
              <a:t>Rows ohne sellingprice oder odometer gedroppt</a:t>
            </a:r>
          </a:p>
        </p:txBody>
      </p:sp>
      <p:sp>
        <p:nvSpPr>
          <p:cNvPr id="40" name="Row4Bg"/>
          <p:cNvSpPr/>
          <p:nvPr/>
        </p:nvSpPr>
        <p:spPr>
          <a:xfrm>
            <a:off x="320040" y="2751480"/>
            <a:ext cx="4160520" cy="411480"/>
          </a:xfrm>
          <a:prstGeom prst="rect">
            <a:avLst/>
          </a:prstGeom>
          <a:solidFill>
            <a:srgbClr val="FFFFFF"/>
          </a:solidFill>
          <a:ln w="12700">
            <a:solidFill>
              <a:srgbClr val="E2E8F0"/>
            </a:solidFill>
            <a:prstDash val="solid"/>
          </a:ln>
        </p:spPr>
        <p:txBody>
          <a:bodyPr/>
          <a:lstStyle/>
          <a:p>
            <a:endParaRPr/>
          </a:p>
        </p:txBody>
      </p:sp>
      <p:sp>
        <p:nvSpPr>
          <p:cNvPr id="41" name="Row4Accent"/>
          <p:cNvSpPr/>
          <p:nvPr/>
        </p:nvSpPr>
        <p:spPr>
          <a:xfrm>
            <a:off x="320040" y="2751480"/>
            <a:ext cx="45720" cy="411480"/>
          </a:xfrm>
          <a:prstGeom prst="rect">
            <a:avLst/>
          </a:prstGeom>
          <a:solidFill>
            <a:srgbClr val="0D9488"/>
          </a:solidFill>
          <a:ln w="0">
            <a:noFill/>
          </a:ln>
        </p:spPr>
        <p:txBody>
          <a:bodyPr/>
          <a:lstStyle/>
          <a:p>
            <a:endParaRPr/>
          </a:p>
        </p:txBody>
      </p:sp>
      <p:sp>
        <p:nvSpPr>
          <p:cNvPr id="42" name="Row4Label"/>
          <p:cNvSpPr/>
          <p:nvPr/>
        </p:nvSpPr>
        <p:spPr>
          <a:xfrm>
            <a:off x="411480" y="2769000"/>
            <a:ext cx="4000000" cy="200000"/>
          </a:xfrm>
          <a:prstGeom prst="rect">
            <a:avLst/>
          </a:prstGeom>
          <a:noFill/>
          <a:ln>
            <a:noFill/>
          </a:ln>
        </p:spPr>
        <p:txBody>
          <a:bodyPr wrap="square" lIns="0" tIns="0" rIns="0" bIns="0" rtlCol="0" anchor="ctr"/>
          <a:lstStyle/>
          <a:p>
            <a:pPr marL="0" indent="0">
              <a:buNone/>
            </a:pPr>
            <a:r>
              <a:rPr lang="de-DE" sz="1100" b="1">
                <a:solidFill>
                  <a:srgbClr val="0F2240"/>
                </a:solidFill>
                <a:latin typeface="Calibri" pitchFamily="34" charset="0"/>
              </a:rPr>
              <a:t>Ausreißer ausgeschlossen</a:t>
            </a:r>
          </a:p>
        </p:txBody>
      </p:sp>
      <p:sp>
        <p:nvSpPr>
          <p:cNvPr id="43" name="Row4Desc"/>
          <p:cNvSpPr/>
          <p:nvPr/>
        </p:nvSpPr>
        <p:spPr>
          <a:xfrm>
            <a:off x="411480" y="2969000"/>
            <a:ext cx="4000000" cy="180000"/>
          </a:xfrm>
          <a:prstGeom prst="rect">
            <a:avLst/>
          </a:prstGeom>
          <a:noFill/>
          <a:ln>
            <a:noFill/>
          </a:ln>
        </p:spPr>
        <p:txBody>
          <a:bodyPr wrap="square" lIns="0" tIns="0" rIns="0" bIns="0" rtlCol="0" anchor="ctr"/>
          <a:lstStyle/>
          <a:p>
            <a:pPr marL="0" indent="0">
              <a:buNone/>
            </a:pPr>
            <a:r>
              <a:rPr lang="de-DE" sz="950" i="1">
                <a:solidFill>
                  <a:srgbClr val="64748B"/>
                </a:solidFill>
                <a:latin typeface="Calibri" pitchFamily="34" charset="0"/>
              </a:rPr>
              <a:t>Preis $500–$150k · Odometer 1–500k · Fahrzeugalter 0–30 Jahre</a:t>
            </a:r>
          </a:p>
        </p:txBody>
      </p:sp>
      <p:sp>
        <p:nvSpPr>
          <p:cNvPr id="50" name="Row5Bg"/>
          <p:cNvSpPr/>
          <p:nvPr/>
        </p:nvSpPr>
        <p:spPr>
          <a:xfrm>
            <a:off x="320040" y="3180960"/>
            <a:ext cx="4160520" cy="411480"/>
          </a:xfrm>
          <a:prstGeom prst="rect">
            <a:avLst/>
          </a:prstGeom>
          <a:solidFill>
            <a:srgbClr val="FFFFFF"/>
          </a:solidFill>
          <a:ln w="12700">
            <a:solidFill>
              <a:srgbClr val="E2E8F0"/>
            </a:solidFill>
            <a:prstDash val="solid"/>
          </a:ln>
        </p:spPr>
        <p:txBody>
          <a:bodyPr/>
          <a:lstStyle/>
          <a:p>
            <a:endParaRPr/>
          </a:p>
        </p:txBody>
      </p:sp>
      <p:sp>
        <p:nvSpPr>
          <p:cNvPr id="51" name="Row5Accent"/>
          <p:cNvSpPr/>
          <p:nvPr/>
        </p:nvSpPr>
        <p:spPr>
          <a:xfrm>
            <a:off x="320040" y="3180960"/>
            <a:ext cx="45720" cy="411480"/>
          </a:xfrm>
          <a:prstGeom prst="rect">
            <a:avLst/>
          </a:prstGeom>
          <a:solidFill>
            <a:srgbClr val="0D9488"/>
          </a:solidFill>
          <a:ln w="0">
            <a:noFill/>
          </a:ln>
        </p:spPr>
        <p:txBody>
          <a:bodyPr/>
          <a:lstStyle/>
          <a:p>
            <a:endParaRPr/>
          </a:p>
        </p:txBody>
      </p:sp>
      <p:sp>
        <p:nvSpPr>
          <p:cNvPr id="52" name="Row5Label"/>
          <p:cNvSpPr/>
          <p:nvPr/>
        </p:nvSpPr>
        <p:spPr>
          <a:xfrm>
            <a:off x="411480" y="3198000"/>
            <a:ext cx="4000000" cy="200000"/>
          </a:xfrm>
          <a:prstGeom prst="rect">
            <a:avLst/>
          </a:prstGeom>
          <a:noFill/>
          <a:ln>
            <a:noFill/>
          </a:ln>
        </p:spPr>
        <p:txBody>
          <a:bodyPr wrap="square" lIns="0" tIns="0" rIns="0" bIns="0" rtlCol="0" anchor="ctr"/>
          <a:lstStyle/>
          <a:p>
            <a:pPr marL="0" indent="0">
              <a:buNone/>
            </a:pPr>
            <a:r>
              <a:rPr lang="de-DE" sz="1100" b="1">
                <a:solidFill>
                  <a:srgbClr val="0F2240"/>
                </a:solidFill>
                <a:latin typeface="Calibri" pitchFamily="34" charset="0"/>
              </a:rPr>
              <a:t>saledate geparst → year_month extrahiert</a:t>
            </a:r>
          </a:p>
        </p:txBody>
      </p:sp>
      <p:sp>
        <p:nvSpPr>
          <p:cNvPr id="53" name="Row5Desc"/>
          <p:cNvSpPr/>
          <p:nvPr/>
        </p:nvSpPr>
        <p:spPr>
          <a:xfrm>
            <a:off x="411480" y="3398000"/>
            <a:ext cx="4000000" cy="180000"/>
          </a:xfrm>
          <a:prstGeom prst="rect">
            <a:avLst/>
          </a:prstGeom>
          <a:noFill/>
          <a:ln>
            <a:noFill/>
          </a:ln>
        </p:spPr>
        <p:txBody>
          <a:bodyPr wrap="square" lIns="0" tIns="0" rIns="0" bIns="0" rtlCol="0" anchor="ctr"/>
          <a:lstStyle/>
          <a:p>
            <a:pPr marL="0" indent="0">
              <a:buNone/>
            </a:pPr>
            <a:r>
              <a:rPr lang="de-DE" sz="950" i="1">
                <a:solidFill>
                  <a:srgbClr val="64748B"/>
                </a:solidFill>
                <a:latin typeface="Calibri" pitchFamily="34" charset="0"/>
              </a:rPr>
              <a:t>Merge-Key für spätere Verknüpfung mit Makrodaten</a:t>
            </a:r>
          </a:p>
        </p:txBody>
      </p:sp>
      <p:sp>
        <p:nvSpPr>
          <p:cNvPr id="60" name="RightCardBg"/>
          <p:cNvSpPr/>
          <p:nvPr/>
        </p:nvSpPr>
        <p:spPr>
          <a:xfrm>
            <a:off x="4663440" y="1024128"/>
            <a:ext cx="4160520" cy="369072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txBody>
          <a:bodyPr/>
          <a:lstStyle/>
          <a:p>
            <a:endParaRPr lang="de-DE"/>
          </a:p>
        </p:txBody>
      </p:sp>
      <p:sp>
        <p:nvSpPr>
          <p:cNvPr id="61" name="RightCardHeaderBar"/>
          <p:cNvSpPr/>
          <p:nvPr/>
        </p:nvSpPr>
        <p:spPr>
          <a:xfrm>
            <a:off x="4663440" y="1024128"/>
            <a:ext cx="4160520" cy="365760"/>
          </a:xfrm>
          <a:prstGeom prst="rect">
            <a:avLst/>
          </a:prstGeom>
          <a:solidFill>
            <a:srgbClr val="0F2240"/>
          </a:solidFill>
          <a:ln w="12700">
            <a:solidFill>
              <a:srgbClr val="0F2240"/>
            </a:solidFill>
            <a:prstDash val="solid"/>
          </a:ln>
        </p:spPr>
        <p:txBody>
          <a:bodyPr/>
          <a:lstStyle/>
          <a:p>
            <a:endParaRPr lang="de-DE"/>
          </a:p>
        </p:txBody>
      </p:sp>
      <p:sp>
        <p:nvSpPr>
          <p:cNvPr id="62" name="RightCardHeaderText"/>
          <p:cNvSpPr/>
          <p:nvPr/>
        </p:nvSpPr>
        <p:spPr>
          <a:xfrm>
            <a:off x="4782312" y="1069848"/>
            <a:ext cx="3931920" cy="274320"/>
          </a:xfrm>
          <a:prstGeom prst="rect">
            <a:avLst/>
          </a:prstGeom>
          <a:noFill/>
          <a:ln/>
        </p:spPr>
        <p:txBody>
          <a:bodyPr wrap="square" lIns="0" tIns="0" rIns="0" bIns="0" rtlCol="0" anchor="ctr"/>
          <a:lstStyle/>
          <a:p>
            <a:pPr marL="0" indent="0">
              <a:buNone/>
            </a:pPr>
            <a:r>
              <a:rPr lang="de-DE" sz="1100" b="1">
                <a:solidFill>
                  <a:srgbClr val="FFFFFF"/>
                </a:solidFill>
                <a:latin typeface="Calibri" pitchFamily="34" charset="0"/>
              </a:rPr>
              <a:t>Ergebnis</a:t>
            </a:r>
          </a:p>
        </p:txBody>
      </p:sp>
      <p:sp>
        <p:nvSpPr>
          <p:cNvPr id="63" name="StatBig"/>
          <p:cNvSpPr/>
          <p:nvPr/>
        </p:nvSpPr>
        <p:spPr>
          <a:xfrm>
            <a:off x="4700000" y="1450000"/>
            <a:ext cx="4100000" cy="600000"/>
          </a:xfrm>
          <a:prstGeom prst="rect">
            <a:avLst/>
          </a:prstGeom>
          <a:noFill/>
          <a:ln>
            <a:noFill/>
          </a:ln>
        </p:spPr>
        <p:txBody>
          <a:bodyPr wrap="square" lIns="0" tIns="0" rIns="0" bIns="0" rtlCol="0" anchor="ctr"/>
          <a:lstStyle/>
          <a:p>
            <a:pPr algn="ctr">
              <a:buNone/>
            </a:pPr>
            <a:r>
              <a:rPr lang="de-DE" sz="5400" b="1">
                <a:solidFill>
                  <a:srgbClr val="0D9488"/>
                </a:solidFill>
                <a:latin typeface="Calibri" pitchFamily="34" charset="0"/>
              </a:rPr>
              <a:t>558.743</a:t>
            </a:r>
          </a:p>
        </p:txBody>
      </p:sp>
      <p:sp>
        <p:nvSpPr>
          <p:cNvPr id="64" name="StatLabel"/>
          <p:cNvSpPr/>
          <p:nvPr/>
        </p:nvSpPr>
        <p:spPr>
          <a:xfrm>
            <a:off x="4700000" y="2060000"/>
            <a:ext cx="4100000" cy="220000"/>
          </a:xfrm>
          <a:prstGeom prst="rect">
            <a:avLst/>
          </a:prstGeom>
          <a:noFill/>
          <a:ln>
            <a:noFill/>
          </a:ln>
        </p:spPr>
        <p:txBody>
          <a:bodyPr wrap="square" lIns="0" tIns="0" rIns="0" bIns="0" rtlCol="0" anchor="ctr"/>
          <a:lstStyle/>
          <a:p>
            <a:pPr algn="ctr">
              <a:buNone/>
            </a:pPr>
            <a:r>
              <a:rPr lang="de-DE" sz="1200">
                <a:solidFill>
                  <a:srgbClr val="64748B"/>
                </a:solidFill>
                <a:latin typeface="Calibri" pitchFamily="34" charset="0"/>
              </a:rPr>
              <a:t>bereinigte Transaktionen</a:t>
            </a:r>
          </a:p>
        </p:txBody>
      </p:sp>
      <p:sp>
        <p:nvSpPr>
          <p:cNvPr id="65" name="Divider"/>
          <p:cNvSpPr/>
          <p:nvPr/>
        </p:nvSpPr>
        <p:spPr>
          <a:xfrm>
            <a:off x="4800000" y="2350000"/>
            <a:ext cx="3900000" cy="19050"/>
          </a:xfrm>
          <a:prstGeom prst="rect">
            <a:avLst/>
          </a:prstGeom>
          <a:solidFill>
            <a:srgbClr val="E2E8F0"/>
          </a:solidFill>
          <a:ln w="0">
            <a:noFill/>
          </a:ln>
        </p:spPr>
        <p:txBody>
          <a:bodyPr/>
          <a:lstStyle/>
          <a:p>
            <a:endParaRPr/>
          </a:p>
        </p:txBody>
      </p:sp>
      <p:sp>
        <p:nvSpPr>
          <p:cNvPr id="70" name="Detail1Label"/>
          <p:cNvSpPr/>
          <p:nvPr/>
        </p:nvSpPr>
        <p:spPr>
          <a:xfrm>
            <a:off x="4782312" y="2420000"/>
            <a:ext cx="1800000" cy="220000"/>
          </a:xfrm>
          <a:prstGeom prst="rect">
            <a:avLst/>
          </a:prstGeom>
          <a:noFill/>
          <a:ln>
            <a:noFill/>
          </a:ln>
        </p:spPr>
        <p:txBody>
          <a:bodyPr wrap="square" lIns="0" tIns="0" rIns="0" bIns="0" rtlCol="0" anchor="ctr"/>
          <a:lstStyle/>
          <a:p>
            <a:pPr marL="0" indent="0">
              <a:buNone/>
            </a:pPr>
            <a:r>
              <a:rPr lang="de-DE" sz="1000" b="1">
                <a:solidFill>
                  <a:srgbClr val="0D9488"/>
                </a:solidFill>
                <a:latin typeface="Calibri" pitchFamily="34" charset="0"/>
              </a:rPr>
              <a:t>clean_car_prices.py</a:t>
            </a:r>
          </a:p>
        </p:txBody>
      </p:sp>
      <p:sp>
        <p:nvSpPr>
          <p:cNvPr id="71" name="Detail1Val"/>
          <p:cNvSpPr/>
          <p:nvPr/>
        </p:nvSpPr>
        <p:spPr>
          <a:xfrm>
            <a:off x="4782312" y="2640000"/>
            <a:ext cx="3931920" cy="200000"/>
          </a:xfrm>
          <a:prstGeom prst="rect">
            <a:avLst/>
          </a:prstGeom>
          <a:noFill/>
          <a:ln>
            <a:noFill/>
          </a:ln>
        </p:spPr>
        <p:txBody>
          <a:bodyPr wrap="square" lIns="0" tIns="0" rIns="0" bIns="0" rtlCol="0" anchor="ctr"/>
          <a:lstStyle/>
          <a:p>
            <a:pPr marL="0" indent="0">
              <a:buNone/>
            </a:pPr>
            <a:r>
              <a:rPr lang="de-DE" sz="1000" err="1">
                <a:solidFill>
                  <a:srgbClr val="334155"/>
                </a:solidFill>
                <a:latin typeface="Calibri" pitchFamily="34" charset="0"/>
              </a:rPr>
              <a:t>Cleaning</a:t>
            </a:r>
            <a:r>
              <a:rPr lang="de-DE" sz="1000">
                <a:solidFill>
                  <a:srgbClr val="334155"/>
                </a:solidFill>
                <a:latin typeface="Calibri" pitchFamily="34" charset="0"/>
              </a:rPr>
              <a:t>-Skript · Output: </a:t>
            </a:r>
            <a:r>
              <a:rPr lang="de-DE" sz="1000" err="1">
                <a:solidFill>
                  <a:srgbClr val="334155"/>
                </a:solidFill>
                <a:latin typeface="Calibri" pitchFamily="34" charset="0"/>
              </a:rPr>
              <a:t>car_prices_clean.csv</a:t>
            </a:r>
            <a:endParaRPr lang="de-DE" sz="1000">
              <a:solidFill>
                <a:srgbClr val="334155"/>
              </a:solidFill>
              <a:latin typeface="Calibri" pitchFamily="34" charset="0"/>
            </a:endParaRPr>
          </a:p>
        </p:txBody>
      </p:sp>
      <p:sp>
        <p:nvSpPr>
          <p:cNvPr id="72" name="Detail2Label"/>
          <p:cNvSpPr/>
          <p:nvPr/>
        </p:nvSpPr>
        <p:spPr>
          <a:xfrm>
            <a:off x="4782312" y="2900000"/>
            <a:ext cx="1800000" cy="220000"/>
          </a:xfrm>
          <a:prstGeom prst="rect">
            <a:avLst/>
          </a:prstGeom>
          <a:noFill/>
          <a:ln>
            <a:noFill/>
          </a:ln>
        </p:spPr>
        <p:txBody>
          <a:bodyPr wrap="square" lIns="0" tIns="0" rIns="0" bIns="0" rtlCol="0" anchor="ctr"/>
          <a:lstStyle/>
          <a:p>
            <a:pPr marL="0" indent="0">
              <a:buNone/>
            </a:pPr>
            <a:r>
              <a:rPr lang="de-DE" sz="1000" b="1">
                <a:solidFill>
                  <a:srgbClr val="0D9488"/>
                </a:solidFill>
                <a:latin typeface="Calibri" pitchFamily="34" charset="0"/>
              </a:rPr>
              <a:t>16 Spalten</a:t>
            </a:r>
          </a:p>
        </p:txBody>
      </p:sp>
      <p:sp>
        <p:nvSpPr>
          <p:cNvPr id="73" name="Detail2Val"/>
          <p:cNvSpPr/>
          <p:nvPr/>
        </p:nvSpPr>
        <p:spPr>
          <a:xfrm>
            <a:off x="4782312" y="3120000"/>
            <a:ext cx="3931920" cy="200000"/>
          </a:xfrm>
          <a:prstGeom prst="rect">
            <a:avLst/>
          </a:prstGeom>
          <a:noFill/>
          <a:ln>
            <a:noFill/>
          </a:ln>
        </p:spPr>
        <p:txBody>
          <a:bodyPr wrap="square" lIns="0" tIns="0" rIns="0" bIns="0" rtlCol="0" anchor="ctr"/>
          <a:lstStyle/>
          <a:p>
            <a:pPr marL="0" indent="0">
              <a:buNone/>
            </a:pPr>
            <a:r>
              <a:rPr lang="de-DE" sz="1000" err="1">
                <a:solidFill>
                  <a:srgbClr val="334155"/>
                </a:solidFill>
                <a:latin typeface="Calibri" pitchFamily="34" charset="0"/>
              </a:rPr>
              <a:t>make</a:t>
            </a:r>
            <a:r>
              <a:rPr lang="de-DE" sz="1000">
                <a:solidFill>
                  <a:srgbClr val="334155"/>
                </a:solidFill>
                <a:latin typeface="Calibri" pitchFamily="34" charset="0"/>
              </a:rPr>
              <a:t>, </a:t>
            </a:r>
            <a:r>
              <a:rPr lang="de-DE" sz="1000" err="1">
                <a:solidFill>
                  <a:srgbClr val="334155"/>
                </a:solidFill>
                <a:latin typeface="Calibri" pitchFamily="34" charset="0"/>
              </a:rPr>
              <a:t>model</a:t>
            </a:r>
            <a:r>
              <a:rPr lang="de-DE" sz="1000">
                <a:solidFill>
                  <a:srgbClr val="334155"/>
                </a:solidFill>
                <a:latin typeface="Calibri" pitchFamily="34" charset="0"/>
              </a:rPr>
              <a:t>, </a:t>
            </a:r>
            <a:r>
              <a:rPr lang="de-DE" sz="1000" err="1">
                <a:solidFill>
                  <a:srgbClr val="334155"/>
                </a:solidFill>
                <a:latin typeface="Calibri" pitchFamily="34" charset="0"/>
              </a:rPr>
              <a:t>trim</a:t>
            </a:r>
            <a:r>
              <a:rPr lang="de-DE" sz="1000">
                <a:solidFill>
                  <a:srgbClr val="334155"/>
                </a:solidFill>
                <a:latin typeface="Calibri" pitchFamily="34" charset="0"/>
              </a:rPr>
              <a:t>, </a:t>
            </a:r>
            <a:r>
              <a:rPr lang="de-DE" sz="1000" err="1">
                <a:solidFill>
                  <a:srgbClr val="334155"/>
                </a:solidFill>
                <a:latin typeface="Calibri" pitchFamily="34" charset="0"/>
              </a:rPr>
              <a:t>body</a:t>
            </a:r>
            <a:r>
              <a:rPr lang="de-DE" sz="1000">
                <a:solidFill>
                  <a:srgbClr val="334155"/>
                </a:solidFill>
                <a:latin typeface="Calibri" pitchFamily="34" charset="0"/>
              </a:rPr>
              <a:t>, </a:t>
            </a:r>
            <a:r>
              <a:rPr lang="de-DE" sz="1000" err="1">
                <a:solidFill>
                  <a:srgbClr val="334155"/>
                </a:solidFill>
                <a:latin typeface="Calibri" pitchFamily="34" charset="0"/>
              </a:rPr>
              <a:t>condition</a:t>
            </a:r>
            <a:r>
              <a:rPr lang="de-DE" sz="1000">
                <a:solidFill>
                  <a:srgbClr val="334155"/>
                </a:solidFill>
                <a:latin typeface="Calibri" pitchFamily="34" charset="0"/>
              </a:rPr>
              <a:t>, </a:t>
            </a:r>
            <a:r>
              <a:rPr lang="de-DE" sz="1000" err="1">
                <a:solidFill>
                  <a:srgbClr val="334155"/>
                </a:solidFill>
                <a:latin typeface="Calibri" pitchFamily="34" charset="0"/>
              </a:rPr>
              <a:t>odometer</a:t>
            </a:r>
            <a:r>
              <a:rPr lang="de-DE" sz="1000">
                <a:solidFill>
                  <a:srgbClr val="334155"/>
                </a:solidFill>
                <a:latin typeface="Calibri" pitchFamily="34" charset="0"/>
              </a:rPr>
              <a:t>, </a:t>
            </a:r>
            <a:r>
              <a:rPr lang="de-DE" sz="1000" err="1">
                <a:solidFill>
                  <a:srgbClr val="334155"/>
                </a:solidFill>
                <a:latin typeface="Calibri" pitchFamily="34" charset="0"/>
              </a:rPr>
              <a:t>sellingprice</a:t>
            </a:r>
            <a:r>
              <a:rPr lang="de-DE" sz="1000">
                <a:solidFill>
                  <a:srgbClr val="334155"/>
                </a:solidFill>
                <a:latin typeface="Calibri" pitchFamily="34" charset="0"/>
              </a:rPr>
              <a:t>, </a:t>
            </a:r>
            <a:r>
              <a:rPr lang="de-DE" sz="1000" err="1">
                <a:solidFill>
                  <a:srgbClr val="334155"/>
                </a:solidFill>
                <a:latin typeface="Calibri" pitchFamily="34" charset="0"/>
              </a:rPr>
              <a:t>saledate</a:t>
            </a:r>
            <a:r>
              <a:rPr lang="de-DE" sz="1000">
                <a:solidFill>
                  <a:srgbClr val="334155"/>
                </a:solidFill>
                <a:latin typeface="Calibri" pitchFamily="34" charset="0"/>
              </a:rPr>
              <a:t> …</a:t>
            </a:r>
          </a:p>
        </p:txBody>
      </p:sp>
      <p:sp>
        <p:nvSpPr>
          <p:cNvPr id="74" name="Detail3Label"/>
          <p:cNvSpPr/>
          <p:nvPr/>
        </p:nvSpPr>
        <p:spPr>
          <a:xfrm>
            <a:off x="4782312" y="3380000"/>
            <a:ext cx="1800000" cy="220000"/>
          </a:xfrm>
          <a:prstGeom prst="rect">
            <a:avLst/>
          </a:prstGeom>
          <a:noFill/>
          <a:ln>
            <a:noFill/>
          </a:ln>
        </p:spPr>
        <p:txBody>
          <a:bodyPr wrap="square" lIns="0" tIns="0" rIns="0" bIns="0" rtlCol="0" anchor="ctr"/>
          <a:lstStyle/>
          <a:p>
            <a:pPr marL="0" indent="0">
              <a:buNone/>
            </a:pPr>
            <a:r>
              <a:rPr lang="de-DE" sz="1000" b="1">
                <a:solidFill>
                  <a:srgbClr val="0D9488"/>
                </a:solidFill>
                <a:latin typeface="Calibri" pitchFamily="34" charset="0"/>
              </a:rPr>
              <a:t>Quelle</a:t>
            </a:r>
          </a:p>
        </p:txBody>
      </p:sp>
      <p:sp>
        <p:nvSpPr>
          <p:cNvPr id="75" name="Detail3Val"/>
          <p:cNvSpPr/>
          <p:nvPr/>
        </p:nvSpPr>
        <p:spPr>
          <a:xfrm>
            <a:off x="4782312" y="3600000"/>
            <a:ext cx="3931920" cy="200000"/>
          </a:xfrm>
          <a:prstGeom prst="rect">
            <a:avLst/>
          </a:prstGeom>
          <a:noFill/>
          <a:ln>
            <a:noFill/>
          </a:ln>
        </p:spPr>
        <p:txBody>
          <a:bodyPr wrap="square" lIns="0" tIns="0" rIns="0" bIns="0" rtlCol="0" anchor="ctr"/>
          <a:lstStyle/>
          <a:p>
            <a:pPr marL="0" indent="0">
              <a:buNone/>
            </a:pPr>
            <a:r>
              <a:rPr lang="de-DE" sz="1000" err="1">
                <a:solidFill>
                  <a:srgbClr val="334155"/>
                </a:solidFill>
                <a:latin typeface="Calibri" pitchFamily="34" charset="0"/>
              </a:rPr>
              <a:t>Manheim</a:t>
            </a:r>
            <a:r>
              <a:rPr lang="de-DE" sz="1000">
                <a:solidFill>
                  <a:srgbClr val="334155"/>
                </a:solidFill>
                <a:latin typeface="Calibri" pitchFamily="34" charset="0"/>
              </a:rPr>
              <a:t> B2B Auktionsdatensatz (USA, 2014/2015)</a:t>
            </a:r>
          </a:p>
        </p:txBody>
      </p:sp>
      <p:sp>
        <p:nvSpPr>
          <p:cNvPr id="80" name="FooterBar"/>
          <p:cNvSpPr/>
          <p:nvPr/>
        </p:nvSpPr>
        <p:spPr>
          <a:xfrm>
            <a:off x="0" y="4800384"/>
            <a:ext cx="9144000" cy="343116"/>
          </a:xfrm>
          <a:prstGeom prst="rect">
            <a:avLst/>
          </a:prstGeom>
          <a:solidFill>
            <a:srgbClr val="F1F5F9"/>
          </a:solidFill>
          <a:ln w="12700">
            <a:solidFill>
              <a:srgbClr val="E2E8F0"/>
            </a:solidFill>
          </a:ln>
        </p:spPr>
        <p:txBody>
          <a:bodyPr/>
          <a:lstStyle/>
          <a:p>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9488"/>
          </a:solidFill>
          <a:ln w="12700">
            <a:solidFill>
              <a:srgbClr val="0D9488"/>
            </a:solidFill>
            <a:prstDash val="solid"/>
          </a:ln>
        </p:spPr>
        <p:txBody>
          <a:bodyPr/>
          <a:lstStyle/>
          <a:p>
            <a:endParaRPr lang="de-DE"/>
          </a:p>
        </p:txBody>
      </p:sp>
      <p:sp>
        <p:nvSpPr>
          <p:cNvPr id="3" name="Text 1"/>
          <p:cNvSpPr/>
          <p:nvPr/>
        </p:nvSpPr>
        <p:spPr>
          <a:xfrm>
            <a:off x="457200" y="201168"/>
            <a:ext cx="8229600" cy="475488"/>
          </a:xfrm>
          <a:prstGeom prst="rect">
            <a:avLst/>
          </a:prstGeom>
          <a:noFill/>
          <a:ln/>
        </p:spPr>
        <p:txBody>
          <a:bodyPr wrap="square" lIns="0" tIns="0" rIns="0" bIns="0" rtlCol="0" anchor="ctr"/>
          <a:lstStyle/>
          <a:p>
            <a:pPr marL="0" indent="0">
              <a:buNone/>
            </a:pPr>
            <a:r>
              <a:rPr lang="en-US" sz="3000" b="1">
                <a:solidFill>
                  <a:srgbClr val="0F2240"/>
                </a:solidFill>
                <a:latin typeface="Calibri" pitchFamily="34" charset="0"/>
                <a:ea typeface="Calibri" pitchFamily="34" charset="-122"/>
                <a:cs typeface="Calibri" pitchFamily="34" charset="-120"/>
              </a:rPr>
              <a:t>Feature Engineering</a:t>
            </a:r>
            <a:endParaRPr lang="en-US" sz="3000"/>
          </a:p>
        </p:txBody>
      </p:sp>
      <p:sp>
        <p:nvSpPr>
          <p:cNvPr id="4" name="Text 2"/>
          <p:cNvSpPr/>
          <p:nvPr/>
        </p:nvSpPr>
        <p:spPr>
          <a:xfrm>
            <a:off x="457200" y="713232"/>
            <a:ext cx="8229600" cy="256032"/>
          </a:xfrm>
          <a:prstGeom prst="rect">
            <a:avLst/>
          </a:prstGeom>
          <a:noFill/>
          <a:ln/>
        </p:spPr>
        <p:txBody>
          <a:bodyPr wrap="square" lIns="0" tIns="0" rIns="0" bIns="0" rtlCol="0" anchor="ctr"/>
          <a:lstStyle/>
          <a:p>
            <a:pPr marL="0" indent="0">
              <a:buNone/>
            </a:pPr>
            <a:r>
              <a:rPr lang="en-US" sz="1200" i="1">
                <a:solidFill>
                  <a:srgbClr val="64748B"/>
                </a:solidFill>
                <a:latin typeface="Calibri" pitchFamily="34" charset="0"/>
                <a:ea typeface="Calibri" pitchFamily="34" charset="-122"/>
                <a:cs typeface="Calibri" pitchFamily="34" charset="-120"/>
              </a:rPr>
              <a:t>Vom Rohdatensatz zu Trainingsfeatures  ·  558.743 → 534.318 Zeilen</a:t>
            </a:r>
            <a:endParaRPr lang="en-US" sz="1200"/>
          </a:p>
        </p:txBody>
      </p:sp>
      <p:sp>
        <p:nvSpPr>
          <p:cNvPr id="5" name="Shape 3"/>
          <p:cNvSpPr/>
          <p:nvPr/>
        </p:nvSpPr>
        <p:spPr>
          <a:xfrm>
            <a:off x="320040" y="960120"/>
            <a:ext cx="2651760" cy="960120"/>
          </a:xfrm>
          <a:prstGeom prst="rect">
            <a:avLst/>
          </a:prstGeom>
          <a:solidFill>
            <a:srgbClr val="EFF6FF"/>
          </a:solidFill>
          <a:ln w="12700">
            <a:solidFill>
              <a:srgbClr val="BFDBFE"/>
            </a:solidFill>
            <a:prstDash val="solid"/>
          </a:ln>
          <a:effectLst>
            <a:outerShdw blurRad="101600" dist="25400" dir="8100000" algn="bl" rotWithShape="0">
              <a:srgbClr val="000000">
                <a:alpha val="10000"/>
              </a:srgbClr>
            </a:outerShdw>
          </a:effectLst>
        </p:spPr>
        <p:txBody>
          <a:bodyPr/>
          <a:lstStyle/>
          <a:p>
            <a:endParaRPr lang="de-DE"/>
          </a:p>
        </p:txBody>
      </p:sp>
      <p:sp>
        <p:nvSpPr>
          <p:cNvPr id="6" name="Text 4"/>
          <p:cNvSpPr/>
          <p:nvPr/>
        </p:nvSpPr>
        <p:spPr>
          <a:xfrm>
            <a:off x="411480" y="1024128"/>
            <a:ext cx="2468880" cy="347472"/>
          </a:xfrm>
          <a:prstGeom prst="rect">
            <a:avLst/>
          </a:prstGeom>
          <a:noFill/>
          <a:ln/>
        </p:spPr>
        <p:txBody>
          <a:bodyPr wrap="square" lIns="0" tIns="0" rIns="0" bIns="0" rtlCol="0" anchor="ctr"/>
          <a:lstStyle/>
          <a:p>
            <a:pPr marL="0" indent="0">
              <a:buNone/>
            </a:pPr>
            <a:r>
              <a:rPr lang="en-US" sz="1200" b="1">
                <a:solidFill>
                  <a:srgbClr val="0F2240"/>
                </a:solidFill>
                <a:latin typeface="Calibri" pitchFamily="34" charset="0"/>
                <a:ea typeface="Calibri" pitchFamily="34" charset="-122"/>
                <a:cs typeface="Calibri" pitchFamily="34" charset="-120"/>
              </a:rPr>
              <a:t>car_prices_clean.csv</a:t>
            </a:r>
            <a:endParaRPr lang="en-US" sz="1200"/>
          </a:p>
        </p:txBody>
      </p:sp>
      <p:sp>
        <p:nvSpPr>
          <p:cNvPr id="7" name="Text 5"/>
          <p:cNvSpPr/>
          <p:nvPr/>
        </p:nvSpPr>
        <p:spPr>
          <a:xfrm>
            <a:off x="411480" y="1389888"/>
            <a:ext cx="2468880" cy="457200"/>
          </a:xfrm>
          <a:prstGeom prst="rect">
            <a:avLst/>
          </a:prstGeom>
          <a:noFill/>
          <a:ln/>
        </p:spPr>
        <p:txBody>
          <a:bodyPr wrap="square" lIns="0" tIns="0" rIns="0" bIns="0" rtlCol="0" anchor="ctr"/>
          <a:lstStyle/>
          <a:p>
            <a:pPr marL="0" indent="0">
              <a:buNone/>
            </a:pPr>
            <a:r>
              <a:rPr lang="en-US" sz="1000">
                <a:solidFill>
                  <a:srgbClr val="64748B"/>
                </a:solidFill>
                <a:latin typeface="Calibri" pitchFamily="34" charset="0"/>
                <a:ea typeface="Calibri" pitchFamily="34" charset="-122"/>
                <a:cs typeface="Calibri" pitchFamily="34" charset="-120"/>
              </a:rPr>
              <a:t>558.743 Zeilen</a:t>
            </a:r>
            <a:endParaRPr lang="en-US" sz="1000"/>
          </a:p>
          <a:p>
            <a:pPr marL="0" indent="0">
              <a:buNone/>
            </a:pPr>
            <a:r>
              <a:rPr lang="en-US" sz="1000">
                <a:solidFill>
                  <a:srgbClr val="64748B"/>
                </a:solidFill>
                <a:latin typeface="Calibri" pitchFamily="34" charset="0"/>
                <a:ea typeface="Calibri" pitchFamily="34" charset="-122"/>
                <a:cs typeface="Calibri" pitchFamily="34" charset="-120"/>
              </a:rPr>
              <a:t>16 Rohdaten-Spalten</a:t>
            </a:r>
            <a:endParaRPr lang="en-US" sz="1000"/>
          </a:p>
        </p:txBody>
      </p:sp>
      <p:sp>
        <p:nvSpPr>
          <p:cNvPr id="8" name="Text 6"/>
          <p:cNvSpPr/>
          <p:nvPr/>
        </p:nvSpPr>
        <p:spPr>
          <a:xfrm>
            <a:off x="2892548" y="1234440"/>
            <a:ext cx="457200" cy="347472"/>
          </a:xfrm>
          <a:prstGeom prst="rect">
            <a:avLst/>
          </a:prstGeom>
          <a:noFill/>
          <a:ln/>
        </p:spPr>
        <p:txBody>
          <a:bodyPr wrap="square" lIns="0" tIns="0" rIns="0" bIns="0" rtlCol="0" anchor="ctr"/>
          <a:lstStyle/>
          <a:p>
            <a:pPr marL="0" indent="0" algn="ctr">
              <a:buNone/>
            </a:pPr>
            <a:r>
              <a:rPr lang="en-US" sz="2200" b="1">
                <a:solidFill>
                  <a:srgbClr val="0D9488"/>
                </a:solidFill>
                <a:latin typeface="Calibri" pitchFamily="34" charset="0"/>
                <a:ea typeface="Calibri" pitchFamily="34" charset="-122"/>
                <a:cs typeface="Calibri" pitchFamily="34" charset="-120"/>
              </a:rPr>
              <a:t>→</a:t>
            </a:r>
            <a:endParaRPr lang="en-US" sz="2200"/>
          </a:p>
        </p:txBody>
      </p:sp>
      <p:sp>
        <p:nvSpPr>
          <p:cNvPr id="9" name="Shape 7"/>
          <p:cNvSpPr/>
          <p:nvPr/>
        </p:nvSpPr>
        <p:spPr>
          <a:xfrm>
            <a:off x="3246120" y="960120"/>
            <a:ext cx="2651760" cy="960120"/>
          </a:xfrm>
          <a:prstGeom prst="rect">
            <a:avLst/>
          </a:prstGeom>
          <a:solidFill>
            <a:srgbClr val="F0FDFA"/>
          </a:solidFill>
          <a:ln w="12700">
            <a:solidFill>
              <a:srgbClr val="99F6E4"/>
            </a:solidFill>
            <a:prstDash val="solid"/>
          </a:ln>
          <a:effectLst>
            <a:outerShdw blurRad="101600" dist="25400" dir="8100000" algn="bl" rotWithShape="0">
              <a:srgbClr val="000000">
                <a:alpha val="10000"/>
              </a:srgbClr>
            </a:outerShdw>
          </a:effectLst>
        </p:spPr>
        <p:txBody>
          <a:bodyPr/>
          <a:lstStyle/>
          <a:p>
            <a:endParaRPr lang="de-DE"/>
          </a:p>
        </p:txBody>
      </p:sp>
      <p:sp>
        <p:nvSpPr>
          <p:cNvPr id="10" name="Text 8"/>
          <p:cNvSpPr/>
          <p:nvPr/>
        </p:nvSpPr>
        <p:spPr>
          <a:xfrm>
            <a:off x="3337560" y="1024128"/>
            <a:ext cx="2468880" cy="347472"/>
          </a:xfrm>
          <a:prstGeom prst="rect">
            <a:avLst/>
          </a:prstGeom>
          <a:noFill/>
          <a:ln/>
        </p:spPr>
        <p:txBody>
          <a:bodyPr wrap="square" lIns="0" tIns="0" rIns="0" bIns="0" rtlCol="0" anchor="ctr"/>
          <a:lstStyle/>
          <a:p>
            <a:pPr marL="0" indent="0">
              <a:buNone/>
            </a:pPr>
            <a:r>
              <a:rPr lang="en-US" sz="1200" b="1">
                <a:solidFill>
                  <a:srgbClr val="0F2240"/>
                </a:solidFill>
                <a:latin typeface="Calibri" pitchFamily="34" charset="0"/>
                <a:ea typeface="Calibri" pitchFamily="34" charset="-122"/>
                <a:cs typeface="Calibri" pitchFamily="34" charset="-120"/>
              </a:rPr>
              <a:t>build_features.py</a:t>
            </a:r>
            <a:endParaRPr lang="en-US" sz="1200"/>
          </a:p>
        </p:txBody>
      </p:sp>
      <p:sp>
        <p:nvSpPr>
          <p:cNvPr id="11" name="Text 9"/>
          <p:cNvSpPr/>
          <p:nvPr/>
        </p:nvSpPr>
        <p:spPr>
          <a:xfrm>
            <a:off x="3337560" y="1389888"/>
            <a:ext cx="2468880" cy="457200"/>
          </a:xfrm>
          <a:prstGeom prst="rect">
            <a:avLst/>
          </a:prstGeom>
          <a:noFill/>
          <a:ln/>
        </p:spPr>
        <p:txBody>
          <a:bodyPr wrap="square" lIns="0" tIns="0" rIns="0" bIns="0" rtlCol="0" anchor="ctr"/>
          <a:lstStyle/>
          <a:p>
            <a:pPr marL="0" indent="0">
              <a:buNone/>
            </a:pPr>
            <a:r>
              <a:rPr lang="en-US" sz="1000">
                <a:solidFill>
                  <a:srgbClr val="64748B"/>
                </a:solidFill>
                <a:latin typeface="Calibri" pitchFamily="34" charset="0"/>
                <a:ea typeface="Calibri" pitchFamily="34" charset="-122"/>
                <a:cs typeface="Calibri" pitchFamily="34" charset="-120"/>
              </a:rPr>
              <a:t>Transformation</a:t>
            </a:r>
            <a:endParaRPr lang="en-US" sz="1000"/>
          </a:p>
          <a:p>
            <a:pPr marL="0" indent="0">
              <a:buNone/>
            </a:pPr>
            <a:r>
              <a:rPr lang="en-US" sz="1000">
                <a:solidFill>
                  <a:srgbClr val="64748B"/>
                </a:solidFill>
                <a:latin typeface="Calibri" pitchFamily="34" charset="0"/>
                <a:ea typeface="Calibri" pitchFamily="34" charset="-122"/>
                <a:cs typeface="Calibri" pitchFamily="34" charset="-120"/>
              </a:rPr>
              <a:t>+ Bereinigung</a:t>
            </a:r>
            <a:endParaRPr lang="en-US" sz="1000"/>
          </a:p>
        </p:txBody>
      </p:sp>
      <p:sp>
        <p:nvSpPr>
          <p:cNvPr id="12" name="Text 10"/>
          <p:cNvSpPr/>
          <p:nvPr/>
        </p:nvSpPr>
        <p:spPr>
          <a:xfrm>
            <a:off x="5818628" y="1234440"/>
            <a:ext cx="457200" cy="347472"/>
          </a:xfrm>
          <a:prstGeom prst="rect">
            <a:avLst/>
          </a:prstGeom>
          <a:noFill/>
          <a:ln/>
        </p:spPr>
        <p:txBody>
          <a:bodyPr wrap="square" lIns="0" tIns="0" rIns="0" bIns="0" rtlCol="0" anchor="ctr"/>
          <a:lstStyle/>
          <a:p>
            <a:pPr marL="0" indent="0" algn="ctr">
              <a:buNone/>
            </a:pPr>
            <a:r>
              <a:rPr lang="en-US" sz="2200" b="1">
                <a:solidFill>
                  <a:srgbClr val="0D9488"/>
                </a:solidFill>
                <a:latin typeface="Calibri" pitchFamily="34" charset="0"/>
                <a:ea typeface="Calibri" pitchFamily="34" charset="-122"/>
                <a:cs typeface="Calibri" pitchFamily="34" charset="-120"/>
              </a:rPr>
              <a:t>→</a:t>
            </a:r>
            <a:endParaRPr lang="en-US" sz="2200"/>
          </a:p>
        </p:txBody>
      </p:sp>
      <p:sp>
        <p:nvSpPr>
          <p:cNvPr id="13" name="Shape 11"/>
          <p:cNvSpPr/>
          <p:nvPr/>
        </p:nvSpPr>
        <p:spPr>
          <a:xfrm>
            <a:off x="6172200" y="960120"/>
            <a:ext cx="2651760" cy="960120"/>
          </a:xfrm>
          <a:prstGeom prst="rect">
            <a:avLst/>
          </a:prstGeom>
          <a:solidFill>
            <a:srgbClr val="ECFDF5"/>
          </a:solidFill>
          <a:ln w="12700">
            <a:solidFill>
              <a:srgbClr val="6EE7B7"/>
            </a:solidFill>
            <a:prstDash val="solid"/>
          </a:ln>
          <a:effectLst>
            <a:outerShdw blurRad="101600" dist="25400" dir="8100000" algn="bl" rotWithShape="0">
              <a:srgbClr val="000000">
                <a:alpha val="10000"/>
              </a:srgbClr>
            </a:outerShdw>
          </a:effectLst>
        </p:spPr>
        <p:txBody>
          <a:bodyPr/>
          <a:lstStyle/>
          <a:p>
            <a:endParaRPr lang="de-DE"/>
          </a:p>
        </p:txBody>
      </p:sp>
      <p:sp>
        <p:nvSpPr>
          <p:cNvPr id="14" name="Text 12"/>
          <p:cNvSpPr/>
          <p:nvPr/>
        </p:nvSpPr>
        <p:spPr>
          <a:xfrm>
            <a:off x="6263640" y="1024128"/>
            <a:ext cx="2468880" cy="347472"/>
          </a:xfrm>
          <a:prstGeom prst="rect">
            <a:avLst/>
          </a:prstGeom>
          <a:noFill/>
          <a:ln/>
        </p:spPr>
        <p:txBody>
          <a:bodyPr wrap="square" lIns="0" tIns="0" rIns="0" bIns="0" rtlCol="0" anchor="ctr"/>
          <a:lstStyle/>
          <a:p>
            <a:pPr marL="0" indent="0">
              <a:buNone/>
            </a:pPr>
            <a:r>
              <a:rPr lang="en-US" sz="1200" b="1">
                <a:solidFill>
                  <a:srgbClr val="0F2240"/>
                </a:solidFill>
                <a:latin typeface="Calibri" pitchFamily="34" charset="0"/>
                <a:ea typeface="Calibri" pitchFamily="34" charset="-122"/>
                <a:cs typeface="Calibri" pitchFamily="34" charset="-120"/>
              </a:rPr>
              <a:t>car_prices_features.csv</a:t>
            </a:r>
            <a:endParaRPr lang="en-US" sz="1200"/>
          </a:p>
        </p:txBody>
      </p:sp>
      <p:sp>
        <p:nvSpPr>
          <p:cNvPr id="15" name="Text 13"/>
          <p:cNvSpPr/>
          <p:nvPr/>
        </p:nvSpPr>
        <p:spPr>
          <a:xfrm>
            <a:off x="6263640" y="1389888"/>
            <a:ext cx="2468880" cy="457200"/>
          </a:xfrm>
          <a:prstGeom prst="rect">
            <a:avLst/>
          </a:prstGeom>
          <a:noFill/>
          <a:ln/>
        </p:spPr>
        <p:txBody>
          <a:bodyPr wrap="square" lIns="0" tIns="0" rIns="0" bIns="0" rtlCol="0" anchor="ctr"/>
          <a:lstStyle/>
          <a:p>
            <a:pPr marL="0" indent="0">
              <a:buNone/>
            </a:pPr>
            <a:r>
              <a:rPr lang="en-US" sz="1000">
                <a:solidFill>
                  <a:srgbClr val="64748B"/>
                </a:solidFill>
                <a:latin typeface="Calibri" pitchFamily="34" charset="0"/>
                <a:ea typeface="Calibri" pitchFamily="34" charset="-122"/>
                <a:cs typeface="Calibri" pitchFamily="34" charset="-120"/>
              </a:rPr>
              <a:t>534.318 Zeilen</a:t>
            </a:r>
            <a:endParaRPr lang="en-US" sz="1000"/>
          </a:p>
          <a:p>
            <a:pPr marL="0" indent="0">
              <a:buNone/>
            </a:pPr>
            <a:r>
              <a:rPr lang="en-US" sz="1000" err="1">
                <a:solidFill>
                  <a:srgbClr val="64748B"/>
                </a:solidFill>
                <a:latin typeface="Calibri" pitchFamily="34" charset="0"/>
                <a:ea typeface="Calibri" pitchFamily="34" charset="-122"/>
                <a:cs typeface="Calibri" pitchFamily="34" charset="-120"/>
              </a:rPr>
              <a:t>Vorerst</a:t>
            </a:r>
            <a:r>
              <a:rPr lang="en-US" sz="1000">
                <a:solidFill>
                  <a:srgbClr val="64748B"/>
                </a:solidFill>
                <a:latin typeface="Calibri" pitchFamily="34" charset="0"/>
                <a:ea typeface="Calibri" pitchFamily="34" charset="-122"/>
                <a:cs typeface="Calibri" pitchFamily="34" charset="-120"/>
              </a:rPr>
              <a:t> 9 Feature-Spalten</a:t>
            </a:r>
            <a:endParaRPr lang="en-US" sz="1000"/>
          </a:p>
        </p:txBody>
      </p:sp>
      <p:sp>
        <p:nvSpPr>
          <p:cNvPr id="16" name="Text 14"/>
          <p:cNvSpPr/>
          <p:nvPr/>
        </p:nvSpPr>
        <p:spPr>
          <a:xfrm>
            <a:off x="320040" y="2084832"/>
            <a:ext cx="4114800" cy="292608"/>
          </a:xfrm>
          <a:prstGeom prst="rect">
            <a:avLst/>
          </a:prstGeom>
          <a:noFill/>
          <a:ln/>
        </p:spPr>
        <p:txBody>
          <a:bodyPr wrap="square" lIns="0" tIns="0" rIns="0" bIns="0" rtlCol="0" anchor="ctr"/>
          <a:lstStyle/>
          <a:p>
            <a:pPr marL="0" indent="0">
              <a:buNone/>
            </a:pPr>
            <a:r>
              <a:rPr lang="en-US" sz="1400" b="1">
                <a:solidFill>
                  <a:srgbClr val="0F2240"/>
                </a:solidFill>
                <a:latin typeface="Calibri" pitchFamily="34" charset="0"/>
                <a:ea typeface="Calibri" pitchFamily="34" charset="-122"/>
                <a:cs typeface="Calibri" pitchFamily="34" charset="-120"/>
              </a:rPr>
              <a:t>Neue Features</a:t>
            </a:r>
            <a:endParaRPr lang="en-US" sz="1400"/>
          </a:p>
        </p:txBody>
      </p:sp>
      <p:sp>
        <p:nvSpPr>
          <p:cNvPr id="17" name="Shape 15"/>
          <p:cNvSpPr/>
          <p:nvPr/>
        </p:nvSpPr>
        <p:spPr>
          <a:xfrm>
            <a:off x="320040" y="2423160"/>
            <a:ext cx="4023360" cy="502920"/>
          </a:xfrm>
          <a:prstGeom prst="rect">
            <a:avLst/>
          </a:prstGeom>
          <a:solidFill>
            <a:srgbClr val="F0FDFA"/>
          </a:solidFill>
          <a:ln w="12700">
            <a:solidFill>
              <a:srgbClr val="99F6E4"/>
            </a:solidFill>
            <a:prstDash val="solid"/>
          </a:ln>
          <a:effectLst>
            <a:outerShdw blurRad="101600" dist="25400" dir="8100000" algn="bl" rotWithShape="0">
              <a:srgbClr val="000000">
                <a:alpha val="10000"/>
              </a:srgbClr>
            </a:outerShdw>
          </a:effectLst>
        </p:spPr>
        <p:txBody>
          <a:bodyPr/>
          <a:lstStyle/>
          <a:p>
            <a:endParaRPr lang="de-DE"/>
          </a:p>
        </p:txBody>
      </p:sp>
      <p:sp>
        <p:nvSpPr>
          <p:cNvPr id="18" name="Shape 16"/>
          <p:cNvSpPr/>
          <p:nvPr/>
        </p:nvSpPr>
        <p:spPr>
          <a:xfrm>
            <a:off x="320040" y="2423160"/>
            <a:ext cx="64008" cy="502920"/>
          </a:xfrm>
          <a:prstGeom prst="rect">
            <a:avLst/>
          </a:prstGeom>
          <a:solidFill>
            <a:srgbClr val="0D9488"/>
          </a:solidFill>
          <a:ln w="12700">
            <a:solidFill>
              <a:srgbClr val="0D9488"/>
            </a:solidFill>
            <a:prstDash val="solid"/>
          </a:ln>
        </p:spPr>
        <p:txBody>
          <a:bodyPr/>
          <a:lstStyle/>
          <a:p>
            <a:endParaRPr lang="de-DE"/>
          </a:p>
        </p:txBody>
      </p:sp>
      <p:sp>
        <p:nvSpPr>
          <p:cNvPr id="19" name="Text 17"/>
          <p:cNvSpPr/>
          <p:nvPr/>
        </p:nvSpPr>
        <p:spPr>
          <a:xfrm>
            <a:off x="475488" y="2459736"/>
            <a:ext cx="1371600" cy="219456"/>
          </a:xfrm>
          <a:prstGeom prst="rect">
            <a:avLst/>
          </a:prstGeom>
          <a:noFill/>
          <a:ln/>
        </p:spPr>
        <p:txBody>
          <a:bodyPr wrap="square" lIns="0" tIns="0" rIns="0" bIns="0" rtlCol="0" anchor="ctr"/>
          <a:lstStyle/>
          <a:p>
            <a:pPr marL="0" indent="0">
              <a:buNone/>
            </a:pPr>
            <a:r>
              <a:rPr lang="en-US" sz="1100" b="1">
                <a:solidFill>
                  <a:srgbClr val="0F2240"/>
                </a:solidFill>
                <a:latin typeface="Calibri" pitchFamily="34" charset="0"/>
                <a:ea typeface="Calibri" pitchFamily="34" charset="-122"/>
                <a:cs typeface="Calibri" pitchFamily="34" charset="-120"/>
              </a:rPr>
              <a:t>vehicle_age</a:t>
            </a:r>
            <a:endParaRPr lang="en-US" sz="1100"/>
          </a:p>
        </p:txBody>
      </p:sp>
      <p:sp>
        <p:nvSpPr>
          <p:cNvPr id="20" name="Text 18"/>
          <p:cNvSpPr/>
          <p:nvPr/>
        </p:nvSpPr>
        <p:spPr>
          <a:xfrm>
            <a:off x="475488" y="2670048"/>
            <a:ext cx="3749040" cy="201168"/>
          </a:xfrm>
          <a:prstGeom prst="rect">
            <a:avLst/>
          </a:prstGeom>
          <a:noFill/>
          <a:ln/>
        </p:spPr>
        <p:txBody>
          <a:bodyPr wrap="square" lIns="0" tIns="0" rIns="0" bIns="0" rtlCol="0" anchor="ctr"/>
          <a:lstStyle/>
          <a:p>
            <a:pPr marL="0" indent="0">
              <a:buNone/>
            </a:pPr>
            <a:r>
              <a:rPr lang="en-US" sz="1000">
                <a:solidFill>
                  <a:srgbClr val="64748B"/>
                </a:solidFill>
                <a:latin typeface="Calibri" pitchFamily="34" charset="0"/>
                <a:ea typeface="Calibri" pitchFamily="34" charset="-122"/>
                <a:cs typeface="Calibri" pitchFamily="34" charset="-120"/>
              </a:rPr>
              <a:t>Alter des Fahrzeugs zum Verkauf (sale_year − year, min. 0)</a:t>
            </a:r>
            <a:endParaRPr lang="en-US" sz="1000"/>
          </a:p>
        </p:txBody>
      </p:sp>
      <p:sp>
        <p:nvSpPr>
          <p:cNvPr id="21" name="Shape 19"/>
          <p:cNvSpPr/>
          <p:nvPr/>
        </p:nvSpPr>
        <p:spPr>
          <a:xfrm>
            <a:off x="320040" y="2990088"/>
            <a:ext cx="4023360" cy="502920"/>
          </a:xfrm>
          <a:prstGeom prst="rect">
            <a:avLst/>
          </a:prstGeom>
          <a:solidFill>
            <a:srgbClr val="F0FDFA"/>
          </a:solidFill>
          <a:ln w="12700">
            <a:solidFill>
              <a:srgbClr val="99F6E4"/>
            </a:solidFill>
            <a:prstDash val="solid"/>
          </a:ln>
          <a:effectLst>
            <a:outerShdw blurRad="101600" dist="25400" dir="8100000" algn="bl" rotWithShape="0">
              <a:srgbClr val="000000">
                <a:alpha val="10000"/>
              </a:srgbClr>
            </a:outerShdw>
          </a:effectLst>
        </p:spPr>
        <p:txBody>
          <a:bodyPr/>
          <a:lstStyle/>
          <a:p>
            <a:endParaRPr lang="de-DE"/>
          </a:p>
        </p:txBody>
      </p:sp>
      <p:sp>
        <p:nvSpPr>
          <p:cNvPr id="22" name="Shape 20"/>
          <p:cNvSpPr/>
          <p:nvPr/>
        </p:nvSpPr>
        <p:spPr>
          <a:xfrm>
            <a:off x="320040" y="2990088"/>
            <a:ext cx="64008" cy="502920"/>
          </a:xfrm>
          <a:prstGeom prst="rect">
            <a:avLst/>
          </a:prstGeom>
          <a:solidFill>
            <a:srgbClr val="0D9488"/>
          </a:solidFill>
          <a:ln w="12700">
            <a:solidFill>
              <a:srgbClr val="0D9488"/>
            </a:solidFill>
            <a:prstDash val="solid"/>
          </a:ln>
        </p:spPr>
        <p:txBody>
          <a:bodyPr/>
          <a:lstStyle/>
          <a:p>
            <a:endParaRPr lang="de-DE"/>
          </a:p>
        </p:txBody>
      </p:sp>
      <p:sp>
        <p:nvSpPr>
          <p:cNvPr id="23" name="Text 21"/>
          <p:cNvSpPr/>
          <p:nvPr/>
        </p:nvSpPr>
        <p:spPr>
          <a:xfrm>
            <a:off x="475488" y="3026664"/>
            <a:ext cx="1371600" cy="219456"/>
          </a:xfrm>
          <a:prstGeom prst="rect">
            <a:avLst/>
          </a:prstGeom>
          <a:noFill/>
          <a:ln/>
        </p:spPr>
        <p:txBody>
          <a:bodyPr wrap="square" lIns="0" tIns="0" rIns="0" bIns="0" rtlCol="0" anchor="ctr"/>
          <a:lstStyle/>
          <a:p>
            <a:pPr marL="0" indent="0">
              <a:buNone/>
            </a:pPr>
            <a:r>
              <a:rPr lang="en-US" sz="1100" b="1">
                <a:solidFill>
                  <a:srgbClr val="0F2240"/>
                </a:solidFill>
                <a:latin typeface="Calibri" pitchFamily="34" charset="0"/>
                <a:ea typeface="Calibri" pitchFamily="34" charset="-122"/>
                <a:cs typeface="Calibri" pitchFamily="34" charset="-120"/>
              </a:rPr>
              <a:t>year_month</a:t>
            </a:r>
            <a:endParaRPr lang="en-US" sz="1100"/>
          </a:p>
        </p:txBody>
      </p:sp>
      <p:sp>
        <p:nvSpPr>
          <p:cNvPr id="24" name="Text 22"/>
          <p:cNvSpPr/>
          <p:nvPr/>
        </p:nvSpPr>
        <p:spPr>
          <a:xfrm>
            <a:off x="475488" y="3236976"/>
            <a:ext cx="3749040" cy="201168"/>
          </a:xfrm>
          <a:prstGeom prst="rect">
            <a:avLst/>
          </a:prstGeom>
          <a:noFill/>
          <a:ln/>
        </p:spPr>
        <p:txBody>
          <a:bodyPr wrap="square" lIns="0" tIns="0" rIns="0" bIns="0" rtlCol="0" anchor="ctr"/>
          <a:lstStyle/>
          <a:p>
            <a:pPr marL="0" indent="0">
              <a:buNone/>
            </a:pPr>
            <a:r>
              <a:rPr lang="en-US" sz="1000">
                <a:solidFill>
                  <a:srgbClr val="64748B"/>
                </a:solidFill>
                <a:latin typeface="Calibri" pitchFamily="34" charset="0"/>
                <a:ea typeface="Calibri" pitchFamily="34" charset="-122"/>
                <a:cs typeface="Calibri" pitchFamily="34" charset="-120"/>
              </a:rPr>
              <a:t>Verkaufsdatum als Jahr-Monat, z. B. 2015-01</a:t>
            </a:r>
            <a:endParaRPr lang="en-US" sz="1000"/>
          </a:p>
        </p:txBody>
      </p:sp>
      <p:sp>
        <p:nvSpPr>
          <p:cNvPr id="25" name="Shape 23"/>
          <p:cNvSpPr/>
          <p:nvPr/>
        </p:nvSpPr>
        <p:spPr>
          <a:xfrm>
            <a:off x="320040" y="3557016"/>
            <a:ext cx="4023360" cy="502920"/>
          </a:xfrm>
          <a:prstGeom prst="rect">
            <a:avLst/>
          </a:prstGeom>
          <a:solidFill>
            <a:srgbClr val="F0FDFA"/>
          </a:solidFill>
          <a:ln w="12700">
            <a:solidFill>
              <a:srgbClr val="99F6E4"/>
            </a:solidFill>
            <a:prstDash val="solid"/>
          </a:ln>
          <a:effectLst>
            <a:outerShdw blurRad="101600" dist="25400" dir="8100000" algn="bl" rotWithShape="0">
              <a:srgbClr val="000000">
                <a:alpha val="10000"/>
              </a:srgbClr>
            </a:outerShdw>
          </a:effectLst>
        </p:spPr>
        <p:txBody>
          <a:bodyPr/>
          <a:lstStyle/>
          <a:p>
            <a:endParaRPr lang="de-DE"/>
          </a:p>
        </p:txBody>
      </p:sp>
      <p:sp>
        <p:nvSpPr>
          <p:cNvPr id="26" name="Shape 24"/>
          <p:cNvSpPr/>
          <p:nvPr/>
        </p:nvSpPr>
        <p:spPr>
          <a:xfrm>
            <a:off x="320040" y="3557016"/>
            <a:ext cx="64008" cy="502920"/>
          </a:xfrm>
          <a:prstGeom prst="rect">
            <a:avLst/>
          </a:prstGeom>
          <a:solidFill>
            <a:srgbClr val="0D9488"/>
          </a:solidFill>
          <a:ln w="12700">
            <a:solidFill>
              <a:srgbClr val="0D9488"/>
            </a:solidFill>
            <a:prstDash val="solid"/>
          </a:ln>
        </p:spPr>
        <p:txBody>
          <a:bodyPr/>
          <a:lstStyle/>
          <a:p>
            <a:endParaRPr lang="de-DE"/>
          </a:p>
        </p:txBody>
      </p:sp>
      <p:sp>
        <p:nvSpPr>
          <p:cNvPr id="27" name="Text 25"/>
          <p:cNvSpPr/>
          <p:nvPr/>
        </p:nvSpPr>
        <p:spPr>
          <a:xfrm>
            <a:off x="475488" y="3593592"/>
            <a:ext cx="1371600" cy="219456"/>
          </a:xfrm>
          <a:prstGeom prst="rect">
            <a:avLst/>
          </a:prstGeom>
          <a:noFill/>
          <a:ln/>
        </p:spPr>
        <p:txBody>
          <a:bodyPr wrap="square" lIns="0" tIns="0" rIns="0" bIns="0" rtlCol="0" anchor="ctr"/>
          <a:lstStyle/>
          <a:p>
            <a:pPr marL="0" indent="0">
              <a:buNone/>
            </a:pPr>
            <a:r>
              <a:rPr lang="en-US" sz="1100" b="1">
                <a:solidFill>
                  <a:srgbClr val="0F2240"/>
                </a:solidFill>
                <a:latin typeface="Calibri" pitchFamily="34" charset="0"/>
                <a:ea typeface="Calibri" pitchFamily="34" charset="-122"/>
                <a:cs typeface="Calibri" pitchFamily="34" charset="-120"/>
              </a:rPr>
              <a:t>sale_month</a:t>
            </a:r>
            <a:endParaRPr lang="en-US" sz="1100"/>
          </a:p>
        </p:txBody>
      </p:sp>
      <p:sp>
        <p:nvSpPr>
          <p:cNvPr id="28" name="Text 26"/>
          <p:cNvSpPr/>
          <p:nvPr/>
        </p:nvSpPr>
        <p:spPr>
          <a:xfrm>
            <a:off x="475488" y="3803904"/>
            <a:ext cx="3749040" cy="201168"/>
          </a:xfrm>
          <a:prstGeom prst="rect">
            <a:avLst/>
          </a:prstGeom>
          <a:noFill/>
          <a:ln/>
        </p:spPr>
        <p:txBody>
          <a:bodyPr wrap="square" lIns="0" tIns="0" rIns="0" bIns="0" rtlCol="0" anchor="ctr"/>
          <a:lstStyle/>
          <a:p>
            <a:pPr marL="0" indent="0">
              <a:buNone/>
            </a:pPr>
            <a:r>
              <a:rPr lang="en-US" sz="1000">
                <a:solidFill>
                  <a:srgbClr val="64748B"/>
                </a:solidFill>
                <a:latin typeface="Calibri" pitchFamily="34" charset="0"/>
                <a:ea typeface="Calibri" pitchFamily="34" charset="-122"/>
                <a:cs typeface="Calibri" pitchFamily="34" charset="-120"/>
              </a:rPr>
              <a:t>Verkaufsmonat als Zahl 1–12</a:t>
            </a:r>
            <a:endParaRPr lang="en-US" sz="1000"/>
          </a:p>
        </p:txBody>
      </p:sp>
      <p:sp>
        <p:nvSpPr>
          <p:cNvPr id="29" name="Text 27"/>
          <p:cNvSpPr/>
          <p:nvPr/>
        </p:nvSpPr>
        <p:spPr>
          <a:xfrm>
            <a:off x="4709160" y="2084832"/>
            <a:ext cx="4114800" cy="292608"/>
          </a:xfrm>
          <a:prstGeom prst="rect">
            <a:avLst/>
          </a:prstGeom>
          <a:noFill/>
          <a:ln/>
        </p:spPr>
        <p:txBody>
          <a:bodyPr wrap="square" lIns="0" tIns="0" rIns="0" bIns="0" rtlCol="0" anchor="ctr"/>
          <a:lstStyle/>
          <a:p>
            <a:pPr marL="0" indent="0">
              <a:buNone/>
            </a:pPr>
            <a:r>
              <a:rPr lang="en-US" sz="1400" b="1">
                <a:solidFill>
                  <a:srgbClr val="0F2240"/>
                </a:solidFill>
                <a:latin typeface="Calibri" pitchFamily="34" charset="0"/>
                <a:ea typeface="Calibri" pitchFamily="34" charset="-122"/>
                <a:cs typeface="Calibri" pitchFamily="34" charset="-120"/>
              </a:rPr>
              <a:t>Übernommene Features</a:t>
            </a:r>
            <a:endParaRPr lang="en-US" sz="1400"/>
          </a:p>
        </p:txBody>
      </p:sp>
      <p:sp>
        <p:nvSpPr>
          <p:cNvPr id="30" name="Shape 28"/>
          <p:cNvSpPr/>
          <p:nvPr/>
        </p:nvSpPr>
        <p:spPr>
          <a:xfrm>
            <a:off x="4709160" y="2423160"/>
            <a:ext cx="4114800" cy="329184"/>
          </a:xfrm>
          <a:prstGeom prst="rect">
            <a:avLst/>
          </a:prstGeom>
          <a:solidFill>
            <a:srgbClr val="F1F5F9"/>
          </a:solidFill>
          <a:ln w="12700">
            <a:solidFill>
              <a:srgbClr val="E2E8F0"/>
            </a:solidFill>
            <a:prstDash val="solid"/>
          </a:ln>
        </p:spPr>
        <p:txBody>
          <a:bodyPr/>
          <a:lstStyle/>
          <a:p>
            <a:endParaRPr lang="de-DE"/>
          </a:p>
        </p:txBody>
      </p:sp>
      <p:sp>
        <p:nvSpPr>
          <p:cNvPr id="31" name="Text 29"/>
          <p:cNvSpPr/>
          <p:nvPr/>
        </p:nvSpPr>
        <p:spPr>
          <a:xfrm>
            <a:off x="4800600" y="2459736"/>
            <a:ext cx="1188720" cy="228600"/>
          </a:xfrm>
          <a:prstGeom prst="rect">
            <a:avLst/>
          </a:prstGeom>
          <a:noFill/>
          <a:ln/>
        </p:spPr>
        <p:txBody>
          <a:bodyPr wrap="square" lIns="0" tIns="0" rIns="0" bIns="0" rtlCol="0" anchor="ctr"/>
          <a:lstStyle/>
          <a:p>
            <a:pPr marL="0" indent="0">
              <a:buNone/>
            </a:pPr>
            <a:r>
              <a:rPr lang="en-US" sz="1100" b="1">
                <a:solidFill>
                  <a:srgbClr val="0F2240"/>
                </a:solidFill>
                <a:latin typeface="Calibri" pitchFamily="34" charset="0"/>
                <a:ea typeface="Calibri" pitchFamily="34" charset="-122"/>
                <a:cs typeface="Calibri" pitchFamily="34" charset="-120"/>
              </a:rPr>
              <a:t>make</a:t>
            </a:r>
            <a:endParaRPr lang="en-US" sz="1100"/>
          </a:p>
        </p:txBody>
      </p:sp>
      <p:sp>
        <p:nvSpPr>
          <p:cNvPr id="32" name="Text 30"/>
          <p:cNvSpPr/>
          <p:nvPr/>
        </p:nvSpPr>
        <p:spPr>
          <a:xfrm>
            <a:off x="6035040" y="2459736"/>
            <a:ext cx="2743200" cy="228600"/>
          </a:xfrm>
          <a:prstGeom prst="rect">
            <a:avLst/>
          </a:prstGeom>
          <a:noFill/>
          <a:ln/>
        </p:spPr>
        <p:txBody>
          <a:bodyPr wrap="square" lIns="0" tIns="0" rIns="0" bIns="0" rtlCol="0" anchor="ctr"/>
          <a:lstStyle/>
          <a:p>
            <a:pPr marL="0" indent="0">
              <a:buNone/>
            </a:pPr>
            <a:r>
              <a:rPr lang="en-US" sz="1000">
                <a:solidFill>
                  <a:srgbClr val="64748B"/>
                </a:solidFill>
                <a:latin typeface="Calibri" pitchFamily="34" charset="0"/>
                <a:ea typeface="Calibri" pitchFamily="34" charset="-122"/>
                <a:cs typeface="Calibri" pitchFamily="34" charset="-120"/>
              </a:rPr>
              <a:t>Fahrzeugmarke (z. B. Ford, BMW)</a:t>
            </a:r>
            <a:endParaRPr lang="en-US" sz="1000"/>
          </a:p>
        </p:txBody>
      </p:sp>
      <p:sp>
        <p:nvSpPr>
          <p:cNvPr id="33" name="Shape 31"/>
          <p:cNvSpPr/>
          <p:nvPr/>
        </p:nvSpPr>
        <p:spPr>
          <a:xfrm>
            <a:off x="4709160" y="2807208"/>
            <a:ext cx="4114800" cy="329184"/>
          </a:xfrm>
          <a:prstGeom prst="rect">
            <a:avLst/>
          </a:prstGeom>
          <a:solidFill>
            <a:srgbClr val="FFFFFF"/>
          </a:solidFill>
          <a:ln w="12700">
            <a:solidFill>
              <a:srgbClr val="E2E8F0"/>
            </a:solidFill>
            <a:prstDash val="solid"/>
          </a:ln>
        </p:spPr>
        <p:txBody>
          <a:bodyPr/>
          <a:lstStyle/>
          <a:p>
            <a:endParaRPr lang="de-DE"/>
          </a:p>
        </p:txBody>
      </p:sp>
      <p:sp>
        <p:nvSpPr>
          <p:cNvPr id="34" name="Text 32"/>
          <p:cNvSpPr/>
          <p:nvPr/>
        </p:nvSpPr>
        <p:spPr>
          <a:xfrm>
            <a:off x="4800600" y="2843784"/>
            <a:ext cx="1188720" cy="228600"/>
          </a:xfrm>
          <a:prstGeom prst="rect">
            <a:avLst/>
          </a:prstGeom>
          <a:noFill/>
          <a:ln/>
        </p:spPr>
        <p:txBody>
          <a:bodyPr wrap="square" lIns="0" tIns="0" rIns="0" bIns="0" rtlCol="0" anchor="ctr"/>
          <a:lstStyle/>
          <a:p>
            <a:pPr marL="0" indent="0">
              <a:buNone/>
            </a:pPr>
            <a:r>
              <a:rPr lang="en-US" sz="1100" b="1">
                <a:solidFill>
                  <a:srgbClr val="0F2240"/>
                </a:solidFill>
                <a:latin typeface="Calibri" pitchFamily="34" charset="0"/>
                <a:ea typeface="Calibri" pitchFamily="34" charset="-122"/>
                <a:cs typeface="Calibri" pitchFamily="34" charset="-120"/>
              </a:rPr>
              <a:t>model</a:t>
            </a:r>
            <a:endParaRPr lang="en-US" sz="1100"/>
          </a:p>
        </p:txBody>
      </p:sp>
      <p:sp>
        <p:nvSpPr>
          <p:cNvPr id="35" name="Text 33"/>
          <p:cNvSpPr/>
          <p:nvPr/>
        </p:nvSpPr>
        <p:spPr>
          <a:xfrm>
            <a:off x="6035040" y="2843784"/>
            <a:ext cx="2743200" cy="228600"/>
          </a:xfrm>
          <a:prstGeom prst="rect">
            <a:avLst/>
          </a:prstGeom>
          <a:noFill/>
          <a:ln/>
        </p:spPr>
        <p:txBody>
          <a:bodyPr wrap="square" lIns="0" tIns="0" rIns="0" bIns="0" rtlCol="0" anchor="ctr"/>
          <a:lstStyle/>
          <a:p>
            <a:pPr marL="0" indent="0">
              <a:buNone/>
            </a:pPr>
            <a:r>
              <a:rPr lang="en-US" sz="1000">
                <a:solidFill>
                  <a:srgbClr val="64748B"/>
                </a:solidFill>
                <a:latin typeface="Calibri" pitchFamily="34" charset="0"/>
                <a:ea typeface="Calibri" pitchFamily="34" charset="-122"/>
                <a:cs typeface="Calibri" pitchFamily="34" charset="-120"/>
              </a:rPr>
              <a:t>Modellbezeichnung</a:t>
            </a:r>
            <a:endParaRPr lang="en-US" sz="1000"/>
          </a:p>
        </p:txBody>
      </p:sp>
      <p:sp>
        <p:nvSpPr>
          <p:cNvPr id="36" name="Shape 34"/>
          <p:cNvSpPr/>
          <p:nvPr/>
        </p:nvSpPr>
        <p:spPr>
          <a:xfrm>
            <a:off x="4709160" y="3191256"/>
            <a:ext cx="4114800" cy="329184"/>
          </a:xfrm>
          <a:prstGeom prst="rect">
            <a:avLst/>
          </a:prstGeom>
          <a:solidFill>
            <a:srgbClr val="F1F5F9"/>
          </a:solidFill>
          <a:ln w="12700">
            <a:solidFill>
              <a:srgbClr val="E2E8F0"/>
            </a:solidFill>
            <a:prstDash val="solid"/>
          </a:ln>
        </p:spPr>
        <p:txBody>
          <a:bodyPr/>
          <a:lstStyle/>
          <a:p>
            <a:endParaRPr lang="de-DE"/>
          </a:p>
        </p:txBody>
      </p:sp>
      <p:sp>
        <p:nvSpPr>
          <p:cNvPr id="37" name="Text 35"/>
          <p:cNvSpPr/>
          <p:nvPr/>
        </p:nvSpPr>
        <p:spPr>
          <a:xfrm>
            <a:off x="4800600" y="3227832"/>
            <a:ext cx="1188720" cy="228600"/>
          </a:xfrm>
          <a:prstGeom prst="rect">
            <a:avLst/>
          </a:prstGeom>
          <a:noFill/>
          <a:ln/>
        </p:spPr>
        <p:txBody>
          <a:bodyPr wrap="square" lIns="0" tIns="0" rIns="0" bIns="0" rtlCol="0" anchor="ctr"/>
          <a:lstStyle/>
          <a:p>
            <a:pPr marL="0" indent="0">
              <a:buNone/>
            </a:pPr>
            <a:r>
              <a:rPr lang="en-US" sz="1100" b="1">
                <a:solidFill>
                  <a:srgbClr val="0F2240"/>
                </a:solidFill>
                <a:latin typeface="Calibri" pitchFamily="34" charset="0"/>
                <a:ea typeface="Calibri" pitchFamily="34" charset="-122"/>
                <a:cs typeface="Calibri" pitchFamily="34" charset="-120"/>
              </a:rPr>
              <a:t>body</a:t>
            </a:r>
            <a:endParaRPr lang="en-US" sz="1100"/>
          </a:p>
        </p:txBody>
      </p:sp>
      <p:sp>
        <p:nvSpPr>
          <p:cNvPr id="38" name="Text 36"/>
          <p:cNvSpPr/>
          <p:nvPr/>
        </p:nvSpPr>
        <p:spPr>
          <a:xfrm>
            <a:off x="6035040" y="3227832"/>
            <a:ext cx="2743200" cy="228600"/>
          </a:xfrm>
          <a:prstGeom prst="rect">
            <a:avLst/>
          </a:prstGeom>
          <a:noFill/>
          <a:ln/>
        </p:spPr>
        <p:txBody>
          <a:bodyPr wrap="square" lIns="0" tIns="0" rIns="0" bIns="0" rtlCol="0" anchor="ctr"/>
          <a:lstStyle/>
          <a:p>
            <a:pPr marL="0" indent="0">
              <a:buNone/>
            </a:pPr>
            <a:r>
              <a:rPr lang="en-US" sz="1000">
                <a:solidFill>
                  <a:srgbClr val="64748B"/>
                </a:solidFill>
                <a:latin typeface="Calibri" pitchFamily="34" charset="0"/>
                <a:ea typeface="Calibri" pitchFamily="34" charset="-122"/>
                <a:cs typeface="Calibri" pitchFamily="34" charset="-120"/>
              </a:rPr>
              <a:t>Karosserieform (SUV, Sedan …)</a:t>
            </a:r>
            <a:endParaRPr lang="en-US" sz="1000"/>
          </a:p>
        </p:txBody>
      </p:sp>
      <p:sp>
        <p:nvSpPr>
          <p:cNvPr id="39" name="Shape 37"/>
          <p:cNvSpPr/>
          <p:nvPr/>
        </p:nvSpPr>
        <p:spPr>
          <a:xfrm>
            <a:off x="4709160" y="3575304"/>
            <a:ext cx="4114800" cy="329184"/>
          </a:xfrm>
          <a:prstGeom prst="rect">
            <a:avLst/>
          </a:prstGeom>
          <a:solidFill>
            <a:srgbClr val="FFFFFF"/>
          </a:solidFill>
          <a:ln w="12700">
            <a:solidFill>
              <a:srgbClr val="E2E8F0"/>
            </a:solidFill>
            <a:prstDash val="solid"/>
          </a:ln>
        </p:spPr>
        <p:txBody>
          <a:bodyPr/>
          <a:lstStyle/>
          <a:p>
            <a:endParaRPr lang="de-DE"/>
          </a:p>
        </p:txBody>
      </p:sp>
      <p:sp>
        <p:nvSpPr>
          <p:cNvPr id="40" name="Text 38"/>
          <p:cNvSpPr/>
          <p:nvPr/>
        </p:nvSpPr>
        <p:spPr>
          <a:xfrm>
            <a:off x="4800600" y="3611880"/>
            <a:ext cx="1188720" cy="228600"/>
          </a:xfrm>
          <a:prstGeom prst="rect">
            <a:avLst/>
          </a:prstGeom>
          <a:noFill/>
          <a:ln/>
        </p:spPr>
        <p:txBody>
          <a:bodyPr wrap="square" lIns="0" tIns="0" rIns="0" bIns="0" rtlCol="0" anchor="ctr"/>
          <a:lstStyle/>
          <a:p>
            <a:pPr marL="0" indent="0">
              <a:buNone/>
            </a:pPr>
            <a:r>
              <a:rPr lang="en-US" sz="1100" b="1">
                <a:solidFill>
                  <a:srgbClr val="0F2240"/>
                </a:solidFill>
                <a:latin typeface="Calibri" pitchFamily="34" charset="0"/>
                <a:ea typeface="Calibri" pitchFamily="34" charset="-122"/>
                <a:cs typeface="Calibri" pitchFamily="34" charset="-120"/>
              </a:rPr>
              <a:t>condition</a:t>
            </a:r>
            <a:endParaRPr lang="en-US" sz="1100"/>
          </a:p>
        </p:txBody>
      </p:sp>
      <p:sp>
        <p:nvSpPr>
          <p:cNvPr id="41" name="Text 39"/>
          <p:cNvSpPr/>
          <p:nvPr/>
        </p:nvSpPr>
        <p:spPr>
          <a:xfrm>
            <a:off x="6035040" y="3611880"/>
            <a:ext cx="2743200" cy="228600"/>
          </a:xfrm>
          <a:prstGeom prst="rect">
            <a:avLst/>
          </a:prstGeom>
          <a:noFill/>
          <a:ln/>
        </p:spPr>
        <p:txBody>
          <a:bodyPr wrap="square" lIns="0" tIns="0" rIns="0" bIns="0" rtlCol="0" anchor="ctr"/>
          <a:lstStyle/>
          <a:p>
            <a:pPr marL="0" indent="0">
              <a:buNone/>
            </a:pPr>
            <a:r>
              <a:rPr lang="en-US" sz="1000">
                <a:solidFill>
                  <a:srgbClr val="64748B"/>
                </a:solidFill>
                <a:latin typeface="Calibri" pitchFamily="34" charset="0"/>
                <a:ea typeface="Calibri" pitchFamily="34" charset="-122"/>
                <a:cs typeface="Calibri" pitchFamily="34" charset="-120"/>
              </a:rPr>
              <a:t>Manheim-Zustandsscore 1–5</a:t>
            </a:r>
            <a:endParaRPr lang="en-US" sz="1000"/>
          </a:p>
        </p:txBody>
      </p:sp>
      <p:sp>
        <p:nvSpPr>
          <p:cNvPr id="42" name="Shape 40"/>
          <p:cNvSpPr/>
          <p:nvPr/>
        </p:nvSpPr>
        <p:spPr>
          <a:xfrm>
            <a:off x="4709160" y="3959352"/>
            <a:ext cx="4114800" cy="329184"/>
          </a:xfrm>
          <a:prstGeom prst="rect">
            <a:avLst/>
          </a:prstGeom>
          <a:solidFill>
            <a:srgbClr val="F1F5F9"/>
          </a:solidFill>
          <a:ln w="12700">
            <a:solidFill>
              <a:srgbClr val="E2E8F0"/>
            </a:solidFill>
            <a:prstDash val="solid"/>
          </a:ln>
        </p:spPr>
        <p:txBody>
          <a:bodyPr/>
          <a:lstStyle/>
          <a:p>
            <a:endParaRPr lang="de-DE"/>
          </a:p>
        </p:txBody>
      </p:sp>
      <p:sp>
        <p:nvSpPr>
          <p:cNvPr id="43" name="Text 41"/>
          <p:cNvSpPr/>
          <p:nvPr/>
        </p:nvSpPr>
        <p:spPr>
          <a:xfrm>
            <a:off x="4800600" y="3995928"/>
            <a:ext cx="1188720" cy="228600"/>
          </a:xfrm>
          <a:prstGeom prst="rect">
            <a:avLst/>
          </a:prstGeom>
          <a:noFill/>
          <a:ln/>
        </p:spPr>
        <p:txBody>
          <a:bodyPr wrap="square" lIns="0" tIns="0" rIns="0" bIns="0" rtlCol="0" anchor="ctr"/>
          <a:lstStyle/>
          <a:p>
            <a:pPr marL="0" indent="0">
              <a:buNone/>
            </a:pPr>
            <a:r>
              <a:rPr lang="en-US" sz="1100" b="1">
                <a:solidFill>
                  <a:srgbClr val="0F2240"/>
                </a:solidFill>
                <a:latin typeface="Calibri" pitchFamily="34" charset="0"/>
                <a:ea typeface="Calibri" pitchFamily="34" charset="-122"/>
                <a:cs typeface="Calibri" pitchFamily="34" charset="-120"/>
              </a:rPr>
              <a:t>odometer</a:t>
            </a:r>
            <a:endParaRPr lang="en-US" sz="1100"/>
          </a:p>
        </p:txBody>
      </p:sp>
      <p:sp>
        <p:nvSpPr>
          <p:cNvPr id="44" name="Text 42"/>
          <p:cNvSpPr/>
          <p:nvPr/>
        </p:nvSpPr>
        <p:spPr>
          <a:xfrm>
            <a:off x="6035040" y="3995928"/>
            <a:ext cx="2743200" cy="228600"/>
          </a:xfrm>
          <a:prstGeom prst="rect">
            <a:avLst/>
          </a:prstGeom>
          <a:noFill/>
          <a:ln/>
        </p:spPr>
        <p:txBody>
          <a:bodyPr wrap="square" lIns="0" tIns="0" rIns="0" bIns="0" rtlCol="0" anchor="ctr"/>
          <a:lstStyle/>
          <a:p>
            <a:pPr marL="0" indent="0">
              <a:buNone/>
            </a:pPr>
            <a:r>
              <a:rPr lang="en-US" sz="1000">
                <a:solidFill>
                  <a:srgbClr val="64748B"/>
                </a:solidFill>
                <a:latin typeface="Calibri" pitchFamily="34" charset="0"/>
                <a:ea typeface="Calibri" pitchFamily="34" charset="-122"/>
                <a:cs typeface="Calibri" pitchFamily="34" charset="-120"/>
              </a:rPr>
              <a:t>Kilometerstand</a:t>
            </a:r>
            <a:endParaRPr lang="en-US" sz="1000"/>
          </a:p>
        </p:txBody>
      </p:sp>
      <p:sp>
        <p:nvSpPr>
          <p:cNvPr id="45" name="Shape 43"/>
          <p:cNvSpPr/>
          <p:nvPr/>
        </p:nvSpPr>
        <p:spPr>
          <a:xfrm>
            <a:off x="4709160" y="4343400"/>
            <a:ext cx="4114800" cy="329184"/>
          </a:xfrm>
          <a:prstGeom prst="rect">
            <a:avLst/>
          </a:prstGeom>
          <a:solidFill>
            <a:srgbClr val="FFFFFF"/>
          </a:solidFill>
          <a:ln w="12700">
            <a:solidFill>
              <a:srgbClr val="E2E8F0"/>
            </a:solidFill>
            <a:prstDash val="solid"/>
          </a:ln>
        </p:spPr>
        <p:txBody>
          <a:bodyPr/>
          <a:lstStyle/>
          <a:p>
            <a:endParaRPr lang="de-DE"/>
          </a:p>
        </p:txBody>
      </p:sp>
      <p:sp>
        <p:nvSpPr>
          <p:cNvPr id="46" name="Text 44"/>
          <p:cNvSpPr/>
          <p:nvPr/>
        </p:nvSpPr>
        <p:spPr>
          <a:xfrm>
            <a:off x="4800600" y="4379976"/>
            <a:ext cx="1188720" cy="228600"/>
          </a:xfrm>
          <a:prstGeom prst="rect">
            <a:avLst/>
          </a:prstGeom>
          <a:noFill/>
          <a:ln/>
        </p:spPr>
        <p:txBody>
          <a:bodyPr wrap="square" lIns="0" tIns="0" rIns="0" bIns="0" rtlCol="0" anchor="ctr"/>
          <a:lstStyle/>
          <a:p>
            <a:pPr marL="0" indent="0">
              <a:buNone/>
            </a:pPr>
            <a:r>
              <a:rPr lang="en-US" sz="1100" b="1">
                <a:solidFill>
                  <a:srgbClr val="0F2240"/>
                </a:solidFill>
                <a:latin typeface="Calibri" pitchFamily="34" charset="0"/>
                <a:ea typeface="Calibri" pitchFamily="34" charset="-122"/>
                <a:cs typeface="Calibri" pitchFamily="34" charset="-120"/>
              </a:rPr>
              <a:t>sellingprice</a:t>
            </a:r>
            <a:endParaRPr lang="en-US" sz="1100"/>
          </a:p>
        </p:txBody>
      </p:sp>
      <p:sp>
        <p:nvSpPr>
          <p:cNvPr id="47" name="Text 45"/>
          <p:cNvSpPr/>
          <p:nvPr/>
        </p:nvSpPr>
        <p:spPr>
          <a:xfrm>
            <a:off x="6035040" y="4379976"/>
            <a:ext cx="2743200" cy="228600"/>
          </a:xfrm>
          <a:prstGeom prst="rect">
            <a:avLst/>
          </a:prstGeom>
          <a:noFill/>
          <a:ln/>
        </p:spPr>
        <p:txBody>
          <a:bodyPr wrap="square" lIns="0" tIns="0" rIns="0" bIns="0" rtlCol="0" anchor="ctr"/>
          <a:lstStyle/>
          <a:p>
            <a:pPr marL="0" indent="0">
              <a:buNone/>
            </a:pPr>
            <a:r>
              <a:rPr lang="en-US" sz="1000">
                <a:solidFill>
                  <a:srgbClr val="64748B"/>
                </a:solidFill>
                <a:latin typeface="Calibri" pitchFamily="34" charset="0"/>
                <a:ea typeface="Calibri" pitchFamily="34" charset="-122"/>
                <a:cs typeface="Calibri" pitchFamily="34" charset="-120"/>
              </a:rPr>
              <a:t>Zielvariable — tatsächlicher Auktionspreis</a:t>
            </a:r>
            <a:endParaRPr lang="en-US" sz="1000"/>
          </a:p>
        </p:txBody>
      </p:sp>
      <p:sp>
        <p:nvSpPr>
          <p:cNvPr id="48" name="Shape 46"/>
          <p:cNvSpPr/>
          <p:nvPr/>
        </p:nvSpPr>
        <p:spPr>
          <a:xfrm>
            <a:off x="320040" y="4617720"/>
            <a:ext cx="8503920" cy="320040"/>
          </a:xfrm>
          <a:prstGeom prst="rect">
            <a:avLst/>
          </a:prstGeom>
          <a:solidFill>
            <a:srgbClr val="FEF3C7"/>
          </a:solidFill>
          <a:ln w="12700">
            <a:solidFill>
              <a:srgbClr val="FCD34D"/>
            </a:solidFill>
            <a:prstDash val="solid"/>
          </a:ln>
        </p:spPr>
        <p:txBody>
          <a:bodyPr/>
          <a:lstStyle/>
          <a:p>
            <a:endParaRPr lang="de-DE"/>
          </a:p>
        </p:txBody>
      </p:sp>
      <p:sp>
        <p:nvSpPr>
          <p:cNvPr id="49" name="Text 47"/>
          <p:cNvSpPr/>
          <p:nvPr/>
        </p:nvSpPr>
        <p:spPr>
          <a:xfrm>
            <a:off x="457200" y="4654296"/>
            <a:ext cx="8229600" cy="246888"/>
          </a:xfrm>
          <a:prstGeom prst="rect">
            <a:avLst/>
          </a:prstGeom>
          <a:noFill/>
          <a:ln/>
        </p:spPr>
        <p:txBody>
          <a:bodyPr wrap="square" lIns="0" tIns="0" rIns="0" bIns="0" rtlCol="0" anchor="ctr"/>
          <a:lstStyle/>
          <a:p>
            <a:pPr marL="0" indent="0">
              <a:buNone/>
            </a:pPr>
            <a:r>
              <a:rPr lang="en-US" sz="1000">
                <a:solidFill>
                  <a:srgbClr val="92400E"/>
                </a:solidFill>
                <a:latin typeface="Calibri" pitchFamily="34" charset="0"/>
                <a:ea typeface="Calibri" pitchFamily="34" charset="-122"/>
                <a:cs typeface="Calibri" pitchFamily="34" charset="-120"/>
              </a:rPr>
              <a:t>Bewusst ausgeschlossen: MMR (Händlerschätzwert → Data Leakage), VIN, trim, transmission, state, color — halten das Modell schlank und methodisch sauber.</a:t>
            </a:r>
            <a:endParaRPr lang="en-US" sz="1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9488"/>
          </a:solidFill>
          <a:ln w="12700">
            <a:solidFill>
              <a:srgbClr val="0D9488"/>
            </a:solidFill>
            <a:prstDash val="solid"/>
          </a:ln>
        </p:spPr>
        <p:txBody>
          <a:bodyPr/>
          <a:lstStyle/>
          <a:p>
            <a:endParaRPr lang="de-DE"/>
          </a:p>
        </p:txBody>
      </p:sp>
      <p:sp>
        <p:nvSpPr>
          <p:cNvPr id="3" name="Text 1"/>
          <p:cNvSpPr/>
          <p:nvPr/>
        </p:nvSpPr>
        <p:spPr>
          <a:xfrm>
            <a:off x="457200" y="201168"/>
            <a:ext cx="8229600" cy="475488"/>
          </a:xfrm>
          <a:prstGeom prst="rect">
            <a:avLst/>
          </a:prstGeom>
          <a:noFill/>
          <a:ln/>
        </p:spPr>
        <p:txBody>
          <a:bodyPr wrap="square" lIns="0" tIns="0" rIns="0" bIns="0" rtlCol="0" anchor="ctr"/>
          <a:lstStyle/>
          <a:p>
            <a:pPr marL="0" indent="0">
              <a:buNone/>
            </a:pPr>
            <a:r>
              <a:rPr lang="en-US" sz="3000" b="1">
                <a:solidFill>
                  <a:srgbClr val="0F2240"/>
                </a:solidFill>
                <a:latin typeface="Calibri" pitchFamily="34" charset="0"/>
                <a:ea typeface="Calibri" pitchFamily="34" charset="-122"/>
                <a:cs typeface="Calibri" pitchFamily="34" charset="-120"/>
              </a:rPr>
              <a:t>Makrodaten — Merge mit FRED</a:t>
            </a:r>
            <a:endParaRPr lang="en-US" sz="3000"/>
          </a:p>
        </p:txBody>
      </p:sp>
      <p:sp>
        <p:nvSpPr>
          <p:cNvPr id="4" name="Text 2"/>
          <p:cNvSpPr/>
          <p:nvPr/>
        </p:nvSpPr>
        <p:spPr>
          <a:xfrm>
            <a:off x="457200" y="713232"/>
            <a:ext cx="8229600" cy="256032"/>
          </a:xfrm>
          <a:prstGeom prst="rect">
            <a:avLst/>
          </a:prstGeom>
          <a:noFill/>
          <a:ln/>
        </p:spPr>
        <p:txBody>
          <a:bodyPr wrap="square" lIns="0" tIns="0" rIns="0" bIns="0" rtlCol="0" anchor="ctr"/>
          <a:lstStyle/>
          <a:p>
            <a:pPr marL="0" indent="0">
              <a:buNone/>
            </a:pPr>
            <a:r>
              <a:rPr lang="en-US" sz="1200" i="1">
                <a:solidFill>
                  <a:srgbClr val="64748B"/>
                </a:solidFill>
                <a:latin typeface="Calibri" pitchFamily="34" charset="0"/>
                <a:ea typeface="Calibri" pitchFamily="34" charset="-122"/>
                <a:cs typeface="Calibri" pitchFamily="34" charset="-120"/>
              </a:rPr>
              <a:t>7 FRED-Zeitreihen · 1996–2026 · Verknüpfung über year_month</a:t>
            </a:r>
            <a:endParaRPr lang="en-US" sz="1200"/>
          </a:p>
        </p:txBody>
      </p:sp>
      <p:sp>
        <p:nvSpPr>
          <p:cNvPr id="5" name="Shape 3"/>
          <p:cNvSpPr/>
          <p:nvPr/>
        </p:nvSpPr>
        <p:spPr>
          <a:xfrm>
            <a:off x="320040" y="1024128"/>
            <a:ext cx="4160520" cy="3822192"/>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txBody>
          <a:bodyPr/>
          <a:lstStyle/>
          <a:p>
            <a:endParaRPr lang="de-DE"/>
          </a:p>
        </p:txBody>
      </p:sp>
      <p:sp>
        <p:nvSpPr>
          <p:cNvPr id="6" name="Shape 4"/>
          <p:cNvSpPr/>
          <p:nvPr/>
        </p:nvSpPr>
        <p:spPr>
          <a:xfrm>
            <a:off x="320040" y="1024128"/>
            <a:ext cx="4160520" cy="365760"/>
          </a:xfrm>
          <a:prstGeom prst="rect">
            <a:avLst/>
          </a:prstGeom>
          <a:solidFill>
            <a:srgbClr val="0F2240"/>
          </a:solidFill>
          <a:ln w="12700">
            <a:solidFill>
              <a:srgbClr val="0F2240"/>
            </a:solidFill>
            <a:prstDash val="solid"/>
          </a:ln>
        </p:spPr>
        <p:txBody>
          <a:bodyPr/>
          <a:lstStyle/>
          <a:p>
            <a:endParaRPr lang="de-DE"/>
          </a:p>
        </p:txBody>
      </p:sp>
      <p:sp>
        <p:nvSpPr>
          <p:cNvPr id="7" name="Text 5"/>
          <p:cNvSpPr/>
          <p:nvPr/>
        </p:nvSpPr>
        <p:spPr>
          <a:xfrm>
            <a:off x="438912" y="1069848"/>
            <a:ext cx="3931920" cy="274320"/>
          </a:xfrm>
          <a:prstGeom prst="rect">
            <a:avLst/>
          </a:prstGeom>
          <a:noFill/>
          <a:ln/>
        </p:spPr>
        <p:txBody>
          <a:bodyPr wrap="square" lIns="0" tIns="0" rIns="0" bIns="0" rtlCol="0" anchor="ctr"/>
          <a:lstStyle/>
          <a:p>
            <a:pPr marL="0" indent="0">
              <a:buNone/>
            </a:pPr>
            <a:r>
              <a:rPr lang="en-US" sz="1100" b="1">
                <a:solidFill>
                  <a:srgbClr val="FFFFFF"/>
                </a:solidFill>
                <a:latin typeface="Calibri" pitchFamily="34" charset="0"/>
                <a:ea typeface="Calibri" pitchFamily="34" charset="-122"/>
                <a:cs typeface="Calibri" pitchFamily="34" charset="-120"/>
              </a:rPr>
              <a:t>FRED-Zeitreihe  →  Spalte in macro_index.csv</a:t>
            </a:r>
            <a:endParaRPr lang="en-US" sz="1100"/>
          </a:p>
        </p:txBody>
      </p:sp>
      <p:sp>
        <p:nvSpPr>
          <p:cNvPr id="8" name="Shape 6"/>
          <p:cNvSpPr/>
          <p:nvPr/>
        </p:nvSpPr>
        <p:spPr>
          <a:xfrm>
            <a:off x="320040" y="1463040"/>
            <a:ext cx="4160520" cy="411480"/>
          </a:xfrm>
          <a:prstGeom prst="rect">
            <a:avLst/>
          </a:prstGeom>
          <a:solidFill>
            <a:srgbClr val="F1F5F9"/>
          </a:solidFill>
          <a:ln w="12700">
            <a:solidFill>
              <a:srgbClr val="E2E8F0"/>
            </a:solidFill>
            <a:prstDash val="solid"/>
          </a:ln>
        </p:spPr>
        <p:txBody>
          <a:bodyPr/>
          <a:lstStyle/>
          <a:p>
            <a:endParaRPr lang="de-DE"/>
          </a:p>
        </p:txBody>
      </p:sp>
      <p:sp>
        <p:nvSpPr>
          <p:cNvPr id="9" name="Text 7"/>
          <p:cNvSpPr/>
          <p:nvPr/>
        </p:nvSpPr>
        <p:spPr>
          <a:xfrm>
            <a:off x="411480" y="1499616"/>
            <a:ext cx="1600200" cy="182880"/>
          </a:xfrm>
          <a:prstGeom prst="rect">
            <a:avLst/>
          </a:prstGeom>
          <a:noFill/>
          <a:ln/>
        </p:spPr>
        <p:txBody>
          <a:bodyPr wrap="square" lIns="0" tIns="0" rIns="0" bIns="0" rtlCol="0" anchor="ctr"/>
          <a:lstStyle/>
          <a:p>
            <a:pPr marL="0" indent="0">
              <a:buNone/>
            </a:pPr>
            <a:r>
              <a:rPr lang="en-US" sz="900" b="1">
                <a:solidFill>
                  <a:srgbClr val="0D9488"/>
                </a:solidFill>
                <a:latin typeface="Calibri" pitchFamily="34" charset="0"/>
                <a:ea typeface="Calibri" pitchFamily="34" charset="-122"/>
                <a:cs typeface="Calibri" pitchFamily="34" charset="-120"/>
              </a:rPr>
              <a:t>CUSR0000SETA01</a:t>
            </a:r>
            <a:endParaRPr lang="en-US" sz="900"/>
          </a:p>
        </p:txBody>
      </p:sp>
      <p:sp>
        <p:nvSpPr>
          <p:cNvPr id="10" name="Text 8"/>
          <p:cNvSpPr/>
          <p:nvPr/>
        </p:nvSpPr>
        <p:spPr>
          <a:xfrm>
            <a:off x="411480" y="1673352"/>
            <a:ext cx="1600200" cy="155448"/>
          </a:xfrm>
          <a:prstGeom prst="rect">
            <a:avLst/>
          </a:prstGeom>
          <a:noFill/>
          <a:ln/>
        </p:spPr>
        <p:txBody>
          <a:bodyPr wrap="square" lIns="0" tIns="0" rIns="0" bIns="0" rtlCol="0" anchor="ctr"/>
          <a:lstStyle/>
          <a:p>
            <a:pPr marL="0" indent="0">
              <a:buNone/>
            </a:pPr>
            <a:r>
              <a:rPr lang="en-US" sz="900" i="1">
                <a:solidFill>
                  <a:srgbClr val="64748B"/>
                </a:solidFill>
                <a:latin typeface="Calibri" pitchFamily="34" charset="0"/>
                <a:ea typeface="Calibri" pitchFamily="34" charset="-122"/>
                <a:cs typeface="Calibri" pitchFamily="34" charset="-120"/>
              </a:rPr>
              <a:t>cpi_used_cars</a:t>
            </a:r>
            <a:endParaRPr lang="en-US" sz="900"/>
          </a:p>
        </p:txBody>
      </p:sp>
      <p:sp>
        <p:nvSpPr>
          <p:cNvPr id="11" name="Text 9"/>
          <p:cNvSpPr/>
          <p:nvPr/>
        </p:nvSpPr>
        <p:spPr>
          <a:xfrm>
            <a:off x="2057400" y="1554480"/>
            <a:ext cx="2331720" cy="219456"/>
          </a:xfrm>
          <a:prstGeom prst="rect">
            <a:avLst/>
          </a:prstGeom>
          <a:noFill/>
          <a:ln/>
        </p:spPr>
        <p:txBody>
          <a:bodyPr wrap="square" lIns="0" tIns="0" rIns="0" bIns="0" rtlCol="0" anchor="ctr"/>
          <a:lstStyle/>
          <a:p>
            <a:pPr marL="0" indent="0">
              <a:buNone/>
            </a:pPr>
            <a:r>
              <a:rPr lang="en-US" sz="1000">
                <a:solidFill>
                  <a:srgbClr val="1E293B"/>
                </a:solidFill>
                <a:latin typeface="Calibri" pitchFamily="34" charset="0"/>
                <a:ea typeface="Calibri" pitchFamily="34" charset="-122"/>
                <a:cs typeface="Calibri" pitchFamily="34" charset="-120"/>
              </a:rPr>
              <a:t>CPI Gebrauchtwagen (MUVVI-Proxy)</a:t>
            </a:r>
            <a:endParaRPr lang="en-US" sz="1000"/>
          </a:p>
        </p:txBody>
      </p:sp>
      <p:sp>
        <p:nvSpPr>
          <p:cNvPr id="12" name="Shape 10"/>
          <p:cNvSpPr/>
          <p:nvPr/>
        </p:nvSpPr>
        <p:spPr>
          <a:xfrm>
            <a:off x="320040" y="1929384"/>
            <a:ext cx="4160520" cy="411480"/>
          </a:xfrm>
          <a:prstGeom prst="rect">
            <a:avLst/>
          </a:prstGeom>
          <a:solidFill>
            <a:srgbClr val="FFFFFF"/>
          </a:solidFill>
          <a:ln w="12700">
            <a:solidFill>
              <a:srgbClr val="E2E8F0"/>
            </a:solidFill>
            <a:prstDash val="solid"/>
          </a:ln>
        </p:spPr>
        <p:txBody>
          <a:bodyPr/>
          <a:lstStyle/>
          <a:p>
            <a:endParaRPr lang="de-DE"/>
          </a:p>
        </p:txBody>
      </p:sp>
      <p:sp>
        <p:nvSpPr>
          <p:cNvPr id="13" name="Text 11"/>
          <p:cNvSpPr/>
          <p:nvPr/>
        </p:nvSpPr>
        <p:spPr>
          <a:xfrm>
            <a:off x="411480" y="1965960"/>
            <a:ext cx="1600200" cy="182880"/>
          </a:xfrm>
          <a:prstGeom prst="rect">
            <a:avLst/>
          </a:prstGeom>
          <a:noFill/>
          <a:ln/>
        </p:spPr>
        <p:txBody>
          <a:bodyPr wrap="square" lIns="0" tIns="0" rIns="0" bIns="0" rtlCol="0" anchor="ctr"/>
          <a:lstStyle/>
          <a:p>
            <a:pPr marL="0" indent="0">
              <a:buNone/>
            </a:pPr>
            <a:r>
              <a:rPr lang="en-US" sz="900" b="1">
                <a:solidFill>
                  <a:srgbClr val="0D9488"/>
                </a:solidFill>
                <a:latin typeface="Calibri" pitchFamily="34" charset="0"/>
                <a:ea typeface="Calibri" pitchFamily="34" charset="-122"/>
                <a:cs typeface="Calibri" pitchFamily="34" charset="-120"/>
              </a:rPr>
              <a:t>FEDFUNDS</a:t>
            </a:r>
            <a:endParaRPr lang="en-US" sz="900"/>
          </a:p>
        </p:txBody>
      </p:sp>
      <p:sp>
        <p:nvSpPr>
          <p:cNvPr id="14" name="Text 12"/>
          <p:cNvSpPr/>
          <p:nvPr/>
        </p:nvSpPr>
        <p:spPr>
          <a:xfrm>
            <a:off x="411480" y="2139696"/>
            <a:ext cx="1600200" cy="155448"/>
          </a:xfrm>
          <a:prstGeom prst="rect">
            <a:avLst/>
          </a:prstGeom>
          <a:noFill/>
          <a:ln/>
        </p:spPr>
        <p:txBody>
          <a:bodyPr wrap="square" lIns="0" tIns="0" rIns="0" bIns="0" rtlCol="0" anchor="ctr"/>
          <a:lstStyle/>
          <a:p>
            <a:pPr marL="0" indent="0">
              <a:buNone/>
            </a:pPr>
            <a:r>
              <a:rPr lang="en-US" sz="900" i="1">
                <a:solidFill>
                  <a:srgbClr val="64748B"/>
                </a:solidFill>
                <a:latin typeface="Calibri" pitchFamily="34" charset="0"/>
                <a:ea typeface="Calibri" pitchFamily="34" charset="-122"/>
                <a:cs typeface="Calibri" pitchFamily="34" charset="-120"/>
              </a:rPr>
              <a:t>fedfunds</a:t>
            </a:r>
            <a:endParaRPr lang="en-US" sz="900"/>
          </a:p>
        </p:txBody>
      </p:sp>
      <p:sp>
        <p:nvSpPr>
          <p:cNvPr id="15" name="Text 13"/>
          <p:cNvSpPr/>
          <p:nvPr/>
        </p:nvSpPr>
        <p:spPr>
          <a:xfrm>
            <a:off x="2057400" y="2020824"/>
            <a:ext cx="2331720" cy="219456"/>
          </a:xfrm>
          <a:prstGeom prst="rect">
            <a:avLst/>
          </a:prstGeom>
          <a:noFill/>
          <a:ln/>
        </p:spPr>
        <p:txBody>
          <a:bodyPr wrap="square" lIns="0" tIns="0" rIns="0" bIns="0" rtlCol="0" anchor="ctr"/>
          <a:lstStyle/>
          <a:p>
            <a:pPr marL="0" indent="0">
              <a:buNone/>
            </a:pPr>
            <a:r>
              <a:rPr lang="en-US" sz="1000">
                <a:solidFill>
                  <a:srgbClr val="1E293B"/>
                </a:solidFill>
                <a:latin typeface="Calibri" pitchFamily="34" charset="0"/>
                <a:ea typeface="Calibri" pitchFamily="34" charset="-122"/>
                <a:cs typeface="Calibri" pitchFamily="34" charset="-120"/>
              </a:rPr>
              <a:t>US-Leitzins</a:t>
            </a:r>
            <a:endParaRPr lang="en-US" sz="1000"/>
          </a:p>
        </p:txBody>
      </p:sp>
      <p:sp>
        <p:nvSpPr>
          <p:cNvPr id="16" name="Shape 14"/>
          <p:cNvSpPr/>
          <p:nvPr/>
        </p:nvSpPr>
        <p:spPr>
          <a:xfrm>
            <a:off x="320040" y="2395728"/>
            <a:ext cx="4160520" cy="411480"/>
          </a:xfrm>
          <a:prstGeom prst="rect">
            <a:avLst/>
          </a:prstGeom>
          <a:solidFill>
            <a:srgbClr val="F1F5F9"/>
          </a:solidFill>
          <a:ln w="12700">
            <a:solidFill>
              <a:srgbClr val="E2E8F0"/>
            </a:solidFill>
            <a:prstDash val="solid"/>
          </a:ln>
        </p:spPr>
        <p:txBody>
          <a:bodyPr/>
          <a:lstStyle/>
          <a:p>
            <a:endParaRPr lang="de-DE"/>
          </a:p>
        </p:txBody>
      </p:sp>
      <p:sp>
        <p:nvSpPr>
          <p:cNvPr id="17" name="Text 15"/>
          <p:cNvSpPr/>
          <p:nvPr/>
        </p:nvSpPr>
        <p:spPr>
          <a:xfrm>
            <a:off x="411480" y="2432304"/>
            <a:ext cx="1600200" cy="182880"/>
          </a:xfrm>
          <a:prstGeom prst="rect">
            <a:avLst/>
          </a:prstGeom>
          <a:noFill/>
          <a:ln/>
        </p:spPr>
        <p:txBody>
          <a:bodyPr wrap="square" lIns="0" tIns="0" rIns="0" bIns="0" rtlCol="0" anchor="ctr"/>
          <a:lstStyle/>
          <a:p>
            <a:pPr marL="0" indent="0">
              <a:buNone/>
            </a:pPr>
            <a:r>
              <a:rPr lang="en-US" sz="900" b="1">
                <a:solidFill>
                  <a:srgbClr val="0D9488"/>
                </a:solidFill>
                <a:latin typeface="Calibri" pitchFamily="34" charset="0"/>
                <a:ea typeface="Calibri" pitchFamily="34" charset="-122"/>
                <a:cs typeface="Calibri" pitchFamily="34" charset="-120"/>
              </a:rPr>
              <a:t>UMCSENT</a:t>
            </a:r>
            <a:endParaRPr lang="en-US" sz="900"/>
          </a:p>
        </p:txBody>
      </p:sp>
      <p:sp>
        <p:nvSpPr>
          <p:cNvPr id="18" name="Text 16"/>
          <p:cNvSpPr/>
          <p:nvPr/>
        </p:nvSpPr>
        <p:spPr>
          <a:xfrm>
            <a:off x="411480" y="2606040"/>
            <a:ext cx="1600200" cy="155448"/>
          </a:xfrm>
          <a:prstGeom prst="rect">
            <a:avLst/>
          </a:prstGeom>
          <a:noFill/>
          <a:ln/>
        </p:spPr>
        <p:txBody>
          <a:bodyPr wrap="square" lIns="0" tIns="0" rIns="0" bIns="0" rtlCol="0" anchor="ctr"/>
          <a:lstStyle/>
          <a:p>
            <a:pPr marL="0" indent="0">
              <a:buNone/>
            </a:pPr>
            <a:r>
              <a:rPr lang="en-US" sz="900" i="1">
                <a:solidFill>
                  <a:srgbClr val="64748B"/>
                </a:solidFill>
                <a:latin typeface="Calibri" pitchFamily="34" charset="0"/>
                <a:ea typeface="Calibri" pitchFamily="34" charset="-122"/>
                <a:cs typeface="Calibri" pitchFamily="34" charset="-120"/>
              </a:rPr>
              <a:t>consumer_sentiment</a:t>
            </a:r>
            <a:endParaRPr lang="en-US" sz="900"/>
          </a:p>
        </p:txBody>
      </p:sp>
      <p:sp>
        <p:nvSpPr>
          <p:cNvPr id="19" name="Text 17"/>
          <p:cNvSpPr/>
          <p:nvPr/>
        </p:nvSpPr>
        <p:spPr>
          <a:xfrm>
            <a:off x="2057400" y="2487168"/>
            <a:ext cx="2331720" cy="219456"/>
          </a:xfrm>
          <a:prstGeom prst="rect">
            <a:avLst/>
          </a:prstGeom>
          <a:noFill/>
          <a:ln/>
        </p:spPr>
        <p:txBody>
          <a:bodyPr wrap="square" lIns="0" tIns="0" rIns="0" bIns="0" rtlCol="0" anchor="ctr"/>
          <a:lstStyle/>
          <a:p>
            <a:pPr marL="0" indent="0">
              <a:buNone/>
            </a:pPr>
            <a:r>
              <a:rPr lang="en-US" sz="1000">
                <a:solidFill>
                  <a:srgbClr val="1E293B"/>
                </a:solidFill>
                <a:latin typeface="Calibri" pitchFamily="34" charset="0"/>
                <a:ea typeface="Calibri" pitchFamily="34" charset="-122"/>
                <a:cs typeface="Calibri" pitchFamily="34" charset="-120"/>
              </a:rPr>
              <a:t>Konsumentenstimmung</a:t>
            </a:r>
            <a:endParaRPr lang="en-US" sz="1000"/>
          </a:p>
        </p:txBody>
      </p:sp>
      <p:sp>
        <p:nvSpPr>
          <p:cNvPr id="20" name="Shape 18"/>
          <p:cNvSpPr/>
          <p:nvPr/>
        </p:nvSpPr>
        <p:spPr>
          <a:xfrm>
            <a:off x="320040" y="2862072"/>
            <a:ext cx="4160520" cy="411480"/>
          </a:xfrm>
          <a:prstGeom prst="rect">
            <a:avLst/>
          </a:prstGeom>
          <a:solidFill>
            <a:srgbClr val="FFFFFF"/>
          </a:solidFill>
          <a:ln w="12700">
            <a:solidFill>
              <a:srgbClr val="E2E8F0"/>
            </a:solidFill>
            <a:prstDash val="solid"/>
          </a:ln>
        </p:spPr>
        <p:txBody>
          <a:bodyPr/>
          <a:lstStyle/>
          <a:p>
            <a:endParaRPr lang="de-DE"/>
          </a:p>
        </p:txBody>
      </p:sp>
      <p:sp>
        <p:nvSpPr>
          <p:cNvPr id="21" name="Text 19"/>
          <p:cNvSpPr/>
          <p:nvPr/>
        </p:nvSpPr>
        <p:spPr>
          <a:xfrm>
            <a:off x="411480" y="2898648"/>
            <a:ext cx="1600200" cy="182880"/>
          </a:xfrm>
          <a:prstGeom prst="rect">
            <a:avLst/>
          </a:prstGeom>
          <a:noFill/>
          <a:ln/>
        </p:spPr>
        <p:txBody>
          <a:bodyPr wrap="square" lIns="0" tIns="0" rIns="0" bIns="0" rtlCol="0" anchor="ctr"/>
          <a:lstStyle/>
          <a:p>
            <a:pPr marL="0" indent="0">
              <a:buNone/>
            </a:pPr>
            <a:r>
              <a:rPr lang="en-US" sz="900" b="1">
                <a:solidFill>
                  <a:srgbClr val="0D9488"/>
                </a:solidFill>
                <a:latin typeface="Calibri" pitchFamily="34" charset="0"/>
                <a:ea typeface="Calibri" pitchFamily="34" charset="-122"/>
                <a:cs typeface="Calibri" pitchFamily="34" charset="-120"/>
              </a:rPr>
              <a:t>UNRATE</a:t>
            </a:r>
            <a:endParaRPr lang="en-US" sz="900"/>
          </a:p>
        </p:txBody>
      </p:sp>
      <p:sp>
        <p:nvSpPr>
          <p:cNvPr id="22" name="Text 20"/>
          <p:cNvSpPr/>
          <p:nvPr/>
        </p:nvSpPr>
        <p:spPr>
          <a:xfrm>
            <a:off x="411480" y="3072384"/>
            <a:ext cx="1600200" cy="155448"/>
          </a:xfrm>
          <a:prstGeom prst="rect">
            <a:avLst/>
          </a:prstGeom>
          <a:noFill/>
          <a:ln/>
        </p:spPr>
        <p:txBody>
          <a:bodyPr wrap="square" lIns="0" tIns="0" rIns="0" bIns="0" rtlCol="0" anchor="ctr"/>
          <a:lstStyle/>
          <a:p>
            <a:pPr marL="0" indent="0">
              <a:buNone/>
            </a:pPr>
            <a:r>
              <a:rPr lang="en-US" sz="900" i="1">
                <a:solidFill>
                  <a:srgbClr val="64748B"/>
                </a:solidFill>
                <a:latin typeface="Calibri" pitchFamily="34" charset="0"/>
                <a:ea typeface="Calibri" pitchFamily="34" charset="-122"/>
                <a:cs typeface="Calibri" pitchFamily="34" charset="-120"/>
              </a:rPr>
              <a:t>unemployment</a:t>
            </a:r>
            <a:endParaRPr lang="en-US" sz="900"/>
          </a:p>
        </p:txBody>
      </p:sp>
      <p:sp>
        <p:nvSpPr>
          <p:cNvPr id="23" name="Text 21"/>
          <p:cNvSpPr/>
          <p:nvPr/>
        </p:nvSpPr>
        <p:spPr>
          <a:xfrm>
            <a:off x="2057400" y="2953512"/>
            <a:ext cx="2331720" cy="219456"/>
          </a:xfrm>
          <a:prstGeom prst="rect">
            <a:avLst/>
          </a:prstGeom>
          <a:noFill/>
          <a:ln/>
        </p:spPr>
        <p:txBody>
          <a:bodyPr wrap="square" lIns="0" tIns="0" rIns="0" bIns="0" rtlCol="0" anchor="ctr"/>
          <a:lstStyle/>
          <a:p>
            <a:pPr marL="0" indent="0">
              <a:buNone/>
            </a:pPr>
            <a:r>
              <a:rPr lang="en-US" sz="1000">
                <a:solidFill>
                  <a:srgbClr val="1E293B"/>
                </a:solidFill>
                <a:latin typeface="Calibri" pitchFamily="34" charset="0"/>
                <a:ea typeface="Calibri" pitchFamily="34" charset="-122"/>
                <a:cs typeface="Calibri" pitchFamily="34" charset="-120"/>
              </a:rPr>
              <a:t>Arbeitslosenquote</a:t>
            </a:r>
            <a:endParaRPr lang="en-US" sz="1000"/>
          </a:p>
        </p:txBody>
      </p:sp>
      <p:sp>
        <p:nvSpPr>
          <p:cNvPr id="24" name="Shape 22"/>
          <p:cNvSpPr/>
          <p:nvPr/>
        </p:nvSpPr>
        <p:spPr>
          <a:xfrm>
            <a:off x="320040" y="3328416"/>
            <a:ext cx="4160520" cy="411480"/>
          </a:xfrm>
          <a:prstGeom prst="rect">
            <a:avLst/>
          </a:prstGeom>
          <a:solidFill>
            <a:srgbClr val="F1F5F9"/>
          </a:solidFill>
          <a:ln w="12700">
            <a:solidFill>
              <a:srgbClr val="E2E8F0"/>
            </a:solidFill>
            <a:prstDash val="solid"/>
          </a:ln>
        </p:spPr>
        <p:txBody>
          <a:bodyPr/>
          <a:lstStyle/>
          <a:p>
            <a:endParaRPr lang="de-DE"/>
          </a:p>
        </p:txBody>
      </p:sp>
      <p:sp>
        <p:nvSpPr>
          <p:cNvPr id="25" name="Text 23"/>
          <p:cNvSpPr/>
          <p:nvPr/>
        </p:nvSpPr>
        <p:spPr>
          <a:xfrm>
            <a:off x="411480" y="3364992"/>
            <a:ext cx="1600200" cy="182880"/>
          </a:xfrm>
          <a:prstGeom prst="rect">
            <a:avLst/>
          </a:prstGeom>
          <a:noFill/>
          <a:ln/>
        </p:spPr>
        <p:txBody>
          <a:bodyPr wrap="square" lIns="0" tIns="0" rIns="0" bIns="0" rtlCol="0" anchor="ctr"/>
          <a:lstStyle/>
          <a:p>
            <a:pPr marL="0" indent="0">
              <a:buNone/>
            </a:pPr>
            <a:r>
              <a:rPr lang="en-US" sz="900" b="1">
                <a:solidFill>
                  <a:srgbClr val="0D9488"/>
                </a:solidFill>
                <a:latin typeface="Calibri" pitchFamily="34" charset="0"/>
                <a:ea typeface="Calibri" pitchFamily="34" charset="-122"/>
                <a:cs typeface="Calibri" pitchFamily="34" charset="-120"/>
              </a:rPr>
              <a:t>TOTALSA</a:t>
            </a:r>
            <a:endParaRPr lang="en-US" sz="900"/>
          </a:p>
        </p:txBody>
      </p:sp>
      <p:sp>
        <p:nvSpPr>
          <p:cNvPr id="26" name="Text 24"/>
          <p:cNvSpPr/>
          <p:nvPr/>
        </p:nvSpPr>
        <p:spPr>
          <a:xfrm>
            <a:off x="411480" y="3538728"/>
            <a:ext cx="1600200" cy="155448"/>
          </a:xfrm>
          <a:prstGeom prst="rect">
            <a:avLst/>
          </a:prstGeom>
          <a:noFill/>
          <a:ln/>
        </p:spPr>
        <p:txBody>
          <a:bodyPr wrap="square" lIns="0" tIns="0" rIns="0" bIns="0" rtlCol="0" anchor="ctr"/>
          <a:lstStyle/>
          <a:p>
            <a:pPr marL="0" indent="0">
              <a:buNone/>
            </a:pPr>
            <a:r>
              <a:rPr lang="en-US" sz="900" i="1">
                <a:solidFill>
                  <a:srgbClr val="64748B"/>
                </a:solidFill>
                <a:latin typeface="Calibri" pitchFamily="34" charset="0"/>
                <a:ea typeface="Calibri" pitchFamily="34" charset="-122"/>
                <a:cs typeface="Calibri" pitchFamily="34" charset="-120"/>
              </a:rPr>
              <a:t>total_vehicle_sales</a:t>
            </a:r>
            <a:endParaRPr lang="en-US" sz="900"/>
          </a:p>
        </p:txBody>
      </p:sp>
      <p:sp>
        <p:nvSpPr>
          <p:cNvPr id="27" name="Text 25"/>
          <p:cNvSpPr/>
          <p:nvPr/>
        </p:nvSpPr>
        <p:spPr>
          <a:xfrm>
            <a:off x="2057400" y="3419856"/>
            <a:ext cx="2331720" cy="219456"/>
          </a:xfrm>
          <a:prstGeom prst="rect">
            <a:avLst/>
          </a:prstGeom>
          <a:noFill/>
          <a:ln/>
        </p:spPr>
        <p:txBody>
          <a:bodyPr wrap="square" lIns="0" tIns="0" rIns="0" bIns="0" rtlCol="0" anchor="ctr"/>
          <a:lstStyle/>
          <a:p>
            <a:pPr marL="0" indent="0">
              <a:buNone/>
            </a:pPr>
            <a:r>
              <a:rPr lang="en-US" sz="1000">
                <a:solidFill>
                  <a:srgbClr val="1E293B"/>
                </a:solidFill>
                <a:latin typeface="Calibri" pitchFamily="34" charset="0"/>
                <a:ea typeface="Calibri" pitchFamily="34" charset="-122"/>
                <a:cs typeface="Calibri" pitchFamily="34" charset="-120"/>
              </a:rPr>
              <a:t>Fahrzeugverkäufe (SAAR)</a:t>
            </a:r>
            <a:endParaRPr lang="en-US" sz="1000"/>
          </a:p>
        </p:txBody>
      </p:sp>
      <p:sp>
        <p:nvSpPr>
          <p:cNvPr id="28" name="Shape 26"/>
          <p:cNvSpPr/>
          <p:nvPr/>
        </p:nvSpPr>
        <p:spPr>
          <a:xfrm>
            <a:off x="320040" y="3794760"/>
            <a:ext cx="4160520" cy="411480"/>
          </a:xfrm>
          <a:prstGeom prst="rect">
            <a:avLst/>
          </a:prstGeom>
          <a:solidFill>
            <a:srgbClr val="FFFFFF"/>
          </a:solidFill>
          <a:ln w="12700">
            <a:solidFill>
              <a:srgbClr val="E2E8F0"/>
            </a:solidFill>
            <a:prstDash val="solid"/>
          </a:ln>
        </p:spPr>
        <p:txBody>
          <a:bodyPr/>
          <a:lstStyle/>
          <a:p>
            <a:endParaRPr lang="de-DE"/>
          </a:p>
        </p:txBody>
      </p:sp>
      <p:sp>
        <p:nvSpPr>
          <p:cNvPr id="29" name="Text 27"/>
          <p:cNvSpPr/>
          <p:nvPr/>
        </p:nvSpPr>
        <p:spPr>
          <a:xfrm>
            <a:off x="411480" y="3831336"/>
            <a:ext cx="1600200" cy="182880"/>
          </a:xfrm>
          <a:prstGeom prst="rect">
            <a:avLst/>
          </a:prstGeom>
          <a:noFill/>
          <a:ln/>
        </p:spPr>
        <p:txBody>
          <a:bodyPr wrap="square" lIns="0" tIns="0" rIns="0" bIns="0" rtlCol="0" anchor="ctr"/>
          <a:lstStyle/>
          <a:p>
            <a:pPr marL="0" indent="0">
              <a:buNone/>
            </a:pPr>
            <a:r>
              <a:rPr lang="en-US" sz="900" b="1">
                <a:solidFill>
                  <a:srgbClr val="0D9488"/>
                </a:solidFill>
                <a:latin typeface="Calibri" pitchFamily="34" charset="0"/>
                <a:ea typeface="Calibri" pitchFamily="34" charset="-122"/>
                <a:cs typeface="Calibri" pitchFamily="34" charset="-120"/>
              </a:rPr>
              <a:t>USREC</a:t>
            </a:r>
            <a:endParaRPr lang="en-US" sz="900"/>
          </a:p>
        </p:txBody>
      </p:sp>
      <p:sp>
        <p:nvSpPr>
          <p:cNvPr id="30" name="Text 28"/>
          <p:cNvSpPr/>
          <p:nvPr/>
        </p:nvSpPr>
        <p:spPr>
          <a:xfrm>
            <a:off x="411480" y="4005072"/>
            <a:ext cx="1600200" cy="155448"/>
          </a:xfrm>
          <a:prstGeom prst="rect">
            <a:avLst/>
          </a:prstGeom>
          <a:noFill/>
          <a:ln/>
        </p:spPr>
        <p:txBody>
          <a:bodyPr wrap="square" lIns="0" tIns="0" rIns="0" bIns="0" rtlCol="0" anchor="ctr"/>
          <a:lstStyle/>
          <a:p>
            <a:pPr marL="0" indent="0">
              <a:buNone/>
            </a:pPr>
            <a:r>
              <a:rPr lang="en-US" sz="900" i="1">
                <a:solidFill>
                  <a:srgbClr val="64748B"/>
                </a:solidFill>
                <a:latin typeface="Calibri" pitchFamily="34" charset="0"/>
                <a:ea typeface="Calibri" pitchFamily="34" charset="-122"/>
                <a:cs typeface="Calibri" pitchFamily="34" charset="-120"/>
              </a:rPr>
              <a:t>recession</a:t>
            </a:r>
            <a:endParaRPr lang="en-US" sz="900"/>
          </a:p>
        </p:txBody>
      </p:sp>
      <p:sp>
        <p:nvSpPr>
          <p:cNvPr id="31" name="Text 29"/>
          <p:cNvSpPr/>
          <p:nvPr/>
        </p:nvSpPr>
        <p:spPr>
          <a:xfrm>
            <a:off x="2057400" y="3886200"/>
            <a:ext cx="2331720" cy="219456"/>
          </a:xfrm>
          <a:prstGeom prst="rect">
            <a:avLst/>
          </a:prstGeom>
          <a:noFill/>
          <a:ln/>
        </p:spPr>
        <p:txBody>
          <a:bodyPr wrap="square" lIns="0" tIns="0" rIns="0" bIns="0" rtlCol="0" anchor="ctr"/>
          <a:lstStyle/>
          <a:p>
            <a:pPr marL="0" indent="0">
              <a:buNone/>
            </a:pPr>
            <a:r>
              <a:rPr lang="en-US" sz="1000">
                <a:solidFill>
                  <a:srgbClr val="1E293B"/>
                </a:solidFill>
                <a:latin typeface="Calibri" pitchFamily="34" charset="0"/>
                <a:ea typeface="Calibri" pitchFamily="34" charset="-122"/>
                <a:cs typeface="Calibri" pitchFamily="34" charset="-120"/>
              </a:rPr>
              <a:t>Rezessionsindikator (0/1)</a:t>
            </a:r>
            <a:endParaRPr lang="en-US" sz="1000"/>
          </a:p>
        </p:txBody>
      </p:sp>
      <p:sp>
        <p:nvSpPr>
          <p:cNvPr id="32" name="Shape 30"/>
          <p:cNvSpPr/>
          <p:nvPr/>
        </p:nvSpPr>
        <p:spPr>
          <a:xfrm>
            <a:off x="320040" y="4261104"/>
            <a:ext cx="4160520" cy="411480"/>
          </a:xfrm>
          <a:prstGeom prst="rect">
            <a:avLst/>
          </a:prstGeom>
          <a:solidFill>
            <a:srgbClr val="F1F5F9"/>
          </a:solidFill>
          <a:ln w="12700">
            <a:solidFill>
              <a:srgbClr val="E2E8F0"/>
            </a:solidFill>
            <a:prstDash val="solid"/>
          </a:ln>
        </p:spPr>
        <p:txBody>
          <a:bodyPr/>
          <a:lstStyle/>
          <a:p>
            <a:endParaRPr lang="de-DE"/>
          </a:p>
        </p:txBody>
      </p:sp>
      <p:sp>
        <p:nvSpPr>
          <p:cNvPr id="33" name="Text 31"/>
          <p:cNvSpPr/>
          <p:nvPr/>
        </p:nvSpPr>
        <p:spPr>
          <a:xfrm>
            <a:off x="411480" y="4297680"/>
            <a:ext cx="1600200" cy="182880"/>
          </a:xfrm>
          <a:prstGeom prst="rect">
            <a:avLst/>
          </a:prstGeom>
          <a:noFill/>
          <a:ln/>
        </p:spPr>
        <p:txBody>
          <a:bodyPr wrap="square" lIns="0" tIns="0" rIns="0" bIns="0" rtlCol="0" anchor="ctr"/>
          <a:lstStyle/>
          <a:p>
            <a:pPr marL="0" indent="0">
              <a:buNone/>
            </a:pPr>
            <a:r>
              <a:rPr lang="en-US" sz="900" b="1">
                <a:solidFill>
                  <a:srgbClr val="0D9488"/>
                </a:solidFill>
                <a:latin typeface="Calibri" pitchFamily="34" charset="0"/>
                <a:ea typeface="Calibri" pitchFamily="34" charset="-122"/>
                <a:cs typeface="Calibri" pitchFamily="34" charset="-120"/>
              </a:rPr>
              <a:t>BAMLH0A0HYM2</a:t>
            </a:r>
            <a:endParaRPr lang="en-US" sz="900"/>
          </a:p>
        </p:txBody>
      </p:sp>
      <p:sp>
        <p:nvSpPr>
          <p:cNvPr id="34" name="Text 32"/>
          <p:cNvSpPr/>
          <p:nvPr/>
        </p:nvSpPr>
        <p:spPr>
          <a:xfrm>
            <a:off x="411480" y="4471416"/>
            <a:ext cx="1600200" cy="155448"/>
          </a:xfrm>
          <a:prstGeom prst="rect">
            <a:avLst/>
          </a:prstGeom>
          <a:noFill/>
          <a:ln/>
        </p:spPr>
        <p:txBody>
          <a:bodyPr wrap="square" lIns="0" tIns="0" rIns="0" bIns="0" rtlCol="0" anchor="ctr"/>
          <a:lstStyle/>
          <a:p>
            <a:pPr marL="0" indent="0">
              <a:buNone/>
            </a:pPr>
            <a:r>
              <a:rPr lang="en-US" sz="900" i="1">
                <a:solidFill>
                  <a:srgbClr val="64748B"/>
                </a:solidFill>
                <a:latin typeface="Calibri" pitchFamily="34" charset="0"/>
                <a:ea typeface="Calibri" pitchFamily="34" charset="-122"/>
                <a:cs typeface="Calibri" pitchFamily="34" charset="-120"/>
              </a:rPr>
              <a:t>credit_spread</a:t>
            </a:r>
            <a:endParaRPr lang="en-US" sz="900"/>
          </a:p>
        </p:txBody>
      </p:sp>
      <p:sp>
        <p:nvSpPr>
          <p:cNvPr id="35" name="Text 33"/>
          <p:cNvSpPr/>
          <p:nvPr/>
        </p:nvSpPr>
        <p:spPr>
          <a:xfrm>
            <a:off x="2057400" y="4352544"/>
            <a:ext cx="2331720" cy="219456"/>
          </a:xfrm>
          <a:prstGeom prst="rect">
            <a:avLst/>
          </a:prstGeom>
          <a:noFill/>
          <a:ln/>
        </p:spPr>
        <p:txBody>
          <a:bodyPr wrap="square" lIns="0" tIns="0" rIns="0" bIns="0" rtlCol="0" anchor="ctr"/>
          <a:lstStyle/>
          <a:p>
            <a:pPr marL="0" indent="0">
              <a:buNone/>
            </a:pPr>
            <a:r>
              <a:rPr lang="en-US" sz="1000">
                <a:solidFill>
                  <a:srgbClr val="1E293B"/>
                </a:solidFill>
                <a:latin typeface="Calibri" pitchFamily="34" charset="0"/>
                <a:ea typeface="Calibri" pitchFamily="34" charset="-122"/>
                <a:cs typeface="Calibri" pitchFamily="34" charset="-120"/>
              </a:rPr>
              <a:t>High-Yield-Spread</a:t>
            </a:r>
            <a:endParaRPr lang="en-US" sz="1000"/>
          </a:p>
        </p:txBody>
      </p:sp>
      <p:sp>
        <p:nvSpPr>
          <p:cNvPr id="36" name="Text 34"/>
          <p:cNvSpPr/>
          <p:nvPr/>
        </p:nvSpPr>
        <p:spPr>
          <a:xfrm>
            <a:off x="4754880" y="1024128"/>
            <a:ext cx="4069080" cy="292608"/>
          </a:xfrm>
          <a:prstGeom prst="rect">
            <a:avLst/>
          </a:prstGeom>
          <a:noFill/>
          <a:ln/>
        </p:spPr>
        <p:txBody>
          <a:bodyPr wrap="square" lIns="0" tIns="0" rIns="0" bIns="0" rtlCol="0" anchor="ctr"/>
          <a:lstStyle/>
          <a:p>
            <a:pPr marL="0" indent="0">
              <a:buNone/>
            </a:pPr>
            <a:r>
              <a:rPr lang="en-US" sz="1400" b="1">
                <a:solidFill>
                  <a:srgbClr val="0F2240"/>
                </a:solidFill>
                <a:latin typeface="Calibri" pitchFamily="34" charset="0"/>
                <a:ea typeface="Calibri" pitchFamily="34" charset="-122"/>
                <a:cs typeface="Calibri" pitchFamily="34" charset="-120"/>
              </a:rPr>
              <a:t>Wie der Merge funktioniert</a:t>
            </a:r>
            <a:endParaRPr lang="en-US" sz="1400"/>
          </a:p>
        </p:txBody>
      </p:sp>
      <p:sp>
        <p:nvSpPr>
          <p:cNvPr id="37" name="Shape 35"/>
          <p:cNvSpPr/>
          <p:nvPr/>
        </p:nvSpPr>
        <p:spPr>
          <a:xfrm>
            <a:off x="4754880" y="1371600"/>
            <a:ext cx="347472" cy="347472"/>
          </a:xfrm>
          <a:prstGeom prst="ellipse">
            <a:avLst/>
          </a:prstGeom>
          <a:solidFill>
            <a:srgbClr val="0D9488"/>
          </a:solidFill>
          <a:ln w="12700">
            <a:solidFill>
              <a:srgbClr val="0D9488"/>
            </a:solidFill>
            <a:prstDash val="solid"/>
          </a:ln>
        </p:spPr>
        <p:txBody>
          <a:bodyPr/>
          <a:lstStyle/>
          <a:p>
            <a:endParaRPr lang="de-DE"/>
          </a:p>
        </p:txBody>
      </p:sp>
      <p:sp>
        <p:nvSpPr>
          <p:cNvPr id="38" name="Text 36"/>
          <p:cNvSpPr/>
          <p:nvPr/>
        </p:nvSpPr>
        <p:spPr>
          <a:xfrm>
            <a:off x="4754880" y="1371600"/>
            <a:ext cx="347472" cy="347472"/>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1</a:t>
            </a:r>
            <a:endParaRPr lang="en-US" sz="1300"/>
          </a:p>
        </p:txBody>
      </p:sp>
      <p:sp>
        <p:nvSpPr>
          <p:cNvPr id="39" name="Text 37"/>
          <p:cNvSpPr/>
          <p:nvPr/>
        </p:nvSpPr>
        <p:spPr>
          <a:xfrm>
            <a:off x="5193792" y="1389888"/>
            <a:ext cx="3630168" cy="310896"/>
          </a:xfrm>
          <a:prstGeom prst="rect">
            <a:avLst/>
          </a:prstGeom>
          <a:noFill/>
          <a:ln/>
        </p:spPr>
        <p:txBody>
          <a:bodyPr wrap="square" lIns="0" tIns="0" rIns="0" bIns="0" rtlCol="0" anchor="ctr"/>
          <a:lstStyle/>
          <a:p>
            <a:pPr marL="0" indent="0">
              <a:buNone/>
            </a:pPr>
            <a:r>
              <a:rPr lang="en-US" sz="1100">
                <a:solidFill>
                  <a:srgbClr val="1E293B"/>
                </a:solidFill>
                <a:latin typeface="Calibri" pitchFamily="34" charset="0"/>
                <a:ea typeface="Calibri" pitchFamily="34" charset="-122"/>
                <a:cs typeface="Calibri" pitchFamily="34" charset="-120"/>
              </a:rPr>
              <a:t>FRED-Daten werden direkt per URL geladen — kein API-Key nötig</a:t>
            </a:r>
            <a:endParaRPr lang="en-US" sz="1100"/>
          </a:p>
        </p:txBody>
      </p:sp>
      <p:sp>
        <p:nvSpPr>
          <p:cNvPr id="40" name="Shape 38"/>
          <p:cNvSpPr/>
          <p:nvPr/>
        </p:nvSpPr>
        <p:spPr>
          <a:xfrm>
            <a:off x="4754880" y="2011680"/>
            <a:ext cx="347472" cy="347472"/>
          </a:xfrm>
          <a:prstGeom prst="ellipse">
            <a:avLst/>
          </a:prstGeom>
          <a:solidFill>
            <a:srgbClr val="0D9488"/>
          </a:solidFill>
          <a:ln w="12700">
            <a:solidFill>
              <a:srgbClr val="0D9488"/>
            </a:solidFill>
            <a:prstDash val="solid"/>
          </a:ln>
        </p:spPr>
        <p:txBody>
          <a:bodyPr/>
          <a:lstStyle/>
          <a:p>
            <a:endParaRPr lang="de-DE"/>
          </a:p>
        </p:txBody>
      </p:sp>
      <p:sp>
        <p:nvSpPr>
          <p:cNvPr id="41" name="Text 39"/>
          <p:cNvSpPr/>
          <p:nvPr/>
        </p:nvSpPr>
        <p:spPr>
          <a:xfrm>
            <a:off x="4754880" y="2011680"/>
            <a:ext cx="347472" cy="347472"/>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2</a:t>
            </a:r>
            <a:endParaRPr lang="en-US" sz="1300"/>
          </a:p>
        </p:txBody>
      </p:sp>
      <p:sp>
        <p:nvSpPr>
          <p:cNvPr id="42" name="Text 40"/>
          <p:cNvSpPr/>
          <p:nvPr/>
        </p:nvSpPr>
        <p:spPr>
          <a:xfrm>
            <a:off x="5193792" y="2029968"/>
            <a:ext cx="3630168" cy="310896"/>
          </a:xfrm>
          <a:prstGeom prst="rect">
            <a:avLst/>
          </a:prstGeom>
          <a:noFill/>
          <a:ln/>
        </p:spPr>
        <p:txBody>
          <a:bodyPr wrap="square" lIns="0" tIns="0" rIns="0" bIns="0" rtlCol="0" anchor="ctr"/>
          <a:lstStyle/>
          <a:p>
            <a:pPr marL="0" indent="0">
              <a:buNone/>
            </a:pPr>
            <a:r>
              <a:rPr lang="en-US" sz="1100">
                <a:solidFill>
                  <a:srgbClr val="1E293B"/>
                </a:solidFill>
                <a:latin typeface="Calibri" pitchFamily="34" charset="0"/>
                <a:ea typeface="Calibri" pitchFamily="34" charset="-122"/>
                <a:cs typeface="Calibri" pitchFamily="34" charset="-120"/>
              </a:rPr>
              <a:t>Alle Serien auf Monatsbasis (year_month) zusammengeführt, sortiert und forward-filled</a:t>
            </a:r>
            <a:endParaRPr lang="en-US" sz="1100"/>
          </a:p>
        </p:txBody>
      </p:sp>
      <p:sp>
        <p:nvSpPr>
          <p:cNvPr id="43" name="Shape 41"/>
          <p:cNvSpPr/>
          <p:nvPr/>
        </p:nvSpPr>
        <p:spPr>
          <a:xfrm>
            <a:off x="4754880" y="2651760"/>
            <a:ext cx="347472" cy="347472"/>
          </a:xfrm>
          <a:prstGeom prst="ellipse">
            <a:avLst/>
          </a:prstGeom>
          <a:solidFill>
            <a:srgbClr val="0D9488"/>
          </a:solidFill>
          <a:ln w="12700">
            <a:solidFill>
              <a:srgbClr val="0D9488"/>
            </a:solidFill>
            <a:prstDash val="solid"/>
          </a:ln>
        </p:spPr>
        <p:txBody>
          <a:bodyPr/>
          <a:lstStyle/>
          <a:p>
            <a:endParaRPr lang="de-DE"/>
          </a:p>
        </p:txBody>
      </p:sp>
      <p:sp>
        <p:nvSpPr>
          <p:cNvPr id="44" name="Text 42"/>
          <p:cNvSpPr/>
          <p:nvPr/>
        </p:nvSpPr>
        <p:spPr>
          <a:xfrm>
            <a:off x="4754880" y="2651760"/>
            <a:ext cx="347472" cy="347472"/>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3</a:t>
            </a:r>
            <a:endParaRPr lang="en-US" sz="1300"/>
          </a:p>
        </p:txBody>
      </p:sp>
      <p:sp>
        <p:nvSpPr>
          <p:cNvPr id="45" name="Text 43"/>
          <p:cNvSpPr/>
          <p:nvPr/>
        </p:nvSpPr>
        <p:spPr>
          <a:xfrm>
            <a:off x="5193792" y="2670048"/>
            <a:ext cx="3630168" cy="310896"/>
          </a:xfrm>
          <a:prstGeom prst="rect">
            <a:avLst/>
          </a:prstGeom>
          <a:noFill/>
          <a:ln/>
        </p:spPr>
        <p:txBody>
          <a:bodyPr wrap="square" lIns="0" tIns="0" rIns="0" bIns="0" rtlCol="0" anchor="ctr"/>
          <a:lstStyle/>
          <a:p>
            <a:pPr marL="0" indent="0">
              <a:buNone/>
            </a:pPr>
            <a:r>
              <a:rPr lang="en-US" sz="1100">
                <a:solidFill>
                  <a:srgbClr val="1E293B"/>
                </a:solidFill>
                <a:latin typeface="Calibri" pitchFamily="34" charset="0"/>
                <a:ea typeface="Calibri" pitchFamily="34" charset="-122"/>
                <a:cs typeface="Calibri" pitchFamily="34" charset="-120"/>
              </a:rPr>
              <a:t>Verknüpfung mit Fahrzeugdaten über gemeinsames year_month-Feld</a:t>
            </a:r>
            <a:endParaRPr lang="en-US" sz="1100"/>
          </a:p>
        </p:txBody>
      </p:sp>
      <p:sp>
        <p:nvSpPr>
          <p:cNvPr id="46" name="Shape 44"/>
          <p:cNvSpPr/>
          <p:nvPr/>
        </p:nvSpPr>
        <p:spPr>
          <a:xfrm>
            <a:off x="4754880" y="3291840"/>
            <a:ext cx="347472" cy="347472"/>
          </a:xfrm>
          <a:prstGeom prst="ellipse">
            <a:avLst/>
          </a:prstGeom>
          <a:solidFill>
            <a:srgbClr val="0D9488"/>
          </a:solidFill>
          <a:ln w="12700">
            <a:solidFill>
              <a:srgbClr val="0D9488"/>
            </a:solidFill>
            <a:prstDash val="solid"/>
          </a:ln>
        </p:spPr>
        <p:txBody>
          <a:bodyPr/>
          <a:lstStyle/>
          <a:p>
            <a:endParaRPr lang="de-DE"/>
          </a:p>
        </p:txBody>
      </p:sp>
      <p:sp>
        <p:nvSpPr>
          <p:cNvPr id="47" name="Text 45"/>
          <p:cNvSpPr/>
          <p:nvPr/>
        </p:nvSpPr>
        <p:spPr>
          <a:xfrm>
            <a:off x="4754880" y="3291840"/>
            <a:ext cx="347472" cy="347472"/>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4</a:t>
            </a:r>
            <a:endParaRPr lang="en-US" sz="1300"/>
          </a:p>
        </p:txBody>
      </p:sp>
      <p:sp>
        <p:nvSpPr>
          <p:cNvPr id="48" name="Text 46"/>
          <p:cNvSpPr/>
          <p:nvPr/>
        </p:nvSpPr>
        <p:spPr>
          <a:xfrm>
            <a:off x="5193792" y="3310128"/>
            <a:ext cx="3630168" cy="310896"/>
          </a:xfrm>
          <a:prstGeom prst="rect">
            <a:avLst/>
          </a:prstGeom>
          <a:noFill/>
          <a:ln/>
        </p:spPr>
        <p:txBody>
          <a:bodyPr wrap="square" lIns="0" tIns="0" rIns="0" bIns="0" rtlCol="0" anchor="ctr"/>
          <a:lstStyle/>
          <a:p>
            <a:pPr marL="0" indent="0">
              <a:buNone/>
            </a:pPr>
            <a:r>
              <a:rPr lang="en-US" sz="1100">
                <a:solidFill>
                  <a:srgbClr val="1E293B"/>
                </a:solidFill>
                <a:latin typeface="Calibri" pitchFamily="34" charset="0"/>
                <a:ea typeface="Calibri" pitchFamily="34" charset="-122"/>
                <a:cs typeface="Calibri" pitchFamily="34" charset="-120"/>
              </a:rPr>
              <a:t>Ergebnis: car_prices_macro.csv (98 MB, gitignored)</a:t>
            </a:r>
            <a:endParaRPr lang="en-US" sz="1100"/>
          </a:p>
        </p:txBody>
      </p:sp>
      <p:sp>
        <p:nvSpPr>
          <p:cNvPr id="49" name="Shape 47"/>
          <p:cNvSpPr/>
          <p:nvPr/>
        </p:nvSpPr>
        <p:spPr>
          <a:xfrm>
            <a:off x="4754880" y="3127248"/>
            <a:ext cx="4069080" cy="1719072"/>
          </a:xfrm>
          <a:prstGeom prst="rect">
            <a:avLst/>
          </a:prstGeom>
          <a:solidFill>
            <a:srgbClr val="0D1F35"/>
          </a:solidFill>
          <a:ln w="12700">
            <a:solidFill>
              <a:srgbClr val="0D1F35"/>
            </a:solidFill>
            <a:prstDash val="solid"/>
          </a:ln>
          <a:effectLst>
            <a:outerShdw blurRad="101600" dist="25400" dir="8100000" algn="bl" rotWithShape="0">
              <a:srgbClr val="000000">
                <a:alpha val="10000"/>
              </a:srgbClr>
            </a:outerShdw>
          </a:effectLst>
        </p:spPr>
        <p:txBody>
          <a:bodyPr/>
          <a:lstStyle/>
          <a:p>
            <a:endParaRPr lang="de-DE"/>
          </a:p>
        </p:txBody>
      </p:sp>
      <p:sp>
        <p:nvSpPr>
          <p:cNvPr id="50" name="Text 48"/>
          <p:cNvSpPr/>
          <p:nvPr/>
        </p:nvSpPr>
        <p:spPr>
          <a:xfrm>
            <a:off x="4892040" y="3218688"/>
            <a:ext cx="3794760" cy="292608"/>
          </a:xfrm>
          <a:prstGeom prst="rect">
            <a:avLst/>
          </a:prstGeom>
          <a:noFill/>
          <a:ln/>
        </p:spPr>
        <p:txBody>
          <a:bodyPr wrap="square" lIns="0" tIns="0" rIns="0" bIns="0" rtlCol="0" anchor="ctr"/>
          <a:lstStyle/>
          <a:p>
            <a:pPr marL="0" indent="0">
              <a:buNone/>
            </a:pPr>
            <a:r>
              <a:rPr lang="en-US" sz="1300" b="1">
                <a:solidFill>
                  <a:srgbClr val="14B8A6"/>
                </a:solidFill>
                <a:latin typeface="Calibri" pitchFamily="34" charset="0"/>
                <a:ea typeface="Calibri" pitchFamily="34" charset="-122"/>
                <a:cs typeface="Calibri" pitchFamily="34" charset="-120"/>
              </a:rPr>
              <a:t>Der cpi_multiplier</a:t>
            </a:r>
            <a:endParaRPr lang="en-US" sz="1300"/>
          </a:p>
        </p:txBody>
      </p:sp>
      <p:sp>
        <p:nvSpPr>
          <p:cNvPr id="51" name="Text 49"/>
          <p:cNvSpPr/>
          <p:nvPr/>
        </p:nvSpPr>
        <p:spPr>
          <a:xfrm>
            <a:off x="4892040" y="3547872"/>
            <a:ext cx="3794760" cy="411480"/>
          </a:xfrm>
          <a:prstGeom prst="rect">
            <a:avLst/>
          </a:prstGeom>
          <a:noFill/>
          <a:ln/>
        </p:spPr>
        <p:txBody>
          <a:bodyPr wrap="square" lIns="0" tIns="0" rIns="0" bIns="0" rtlCol="0" anchor="ctr"/>
          <a:lstStyle/>
          <a:p>
            <a:pPr marL="0" indent="0">
              <a:buNone/>
            </a:pPr>
            <a:r>
              <a:rPr lang="en-US" sz="1100">
                <a:solidFill>
                  <a:srgbClr val="94A3B8"/>
                </a:solidFill>
                <a:latin typeface="Calibri" pitchFamily="34" charset="0"/>
                <a:ea typeface="Calibri" pitchFamily="34" charset="-122"/>
                <a:cs typeface="Calibri" pitchFamily="34" charset="-120"/>
              </a:rPr>
              <a:t>Normiert CPI auf Basisjahr 2015 = 1,000</a:t>
            </a:r>
            <a:endParaRPr lang="en-US" sz="1100"/>
          </a:p>
          <a:p>
            <a:pPr marL="0" indent="0">
              <a:buNone/>
            </a:pPr>
            <a:r>
              <a:rPr lang="en-US" sz="1100">
                <a:solidFill>
                  <a:srgbClr val="94A3B8"/>
                </a:solidFill>
                <a:latin typeface="Calibri" pitchFamily="34" charset="0"/>
                <a:ea typeface="Calibri" pitchFamily="34" charset="-122"/>
                <a:cs typeface="Calibri" pitchFamily="34" charset="-120"/>
              </a:rPr>
              <a:t>Beispiel Juni 2026:</a:t>
            </a:r>
            <a:endParaRPr lang="en-US" sz="1100"/>
          </a:p>
        </p:txBody>
      </p:sp>
      <p:sp>
        <p:nvSpPr>
          <p:cNvPr id="52" name="Text 50"/>
          <p:cNvSpPr/>
          <p:nvPr/>
        </p:nvSpPr>
        <p:spPr>
          <a:xfrm>
            <a:off x="4892040" y="3977640"/>
            <a:ext cx="3794760" cy="438912"/>
          </a:xfrm>
          <a:prstGeom prst="rect">
            <a:avLst/>
          </a:prstGeom>
          <a:noFill/>
          <a:ln/>
        </p:spPr>
        <p:txBody>
          <a:bodyPr wrap="square" lIns="0" tIns="0" rIns="0" bIns="0" rtlCol="0" anchor="ctr"/>
          <a:lstStyle/>
          <a:p>
            <a:pPr marL="0" indent="0" algn="ctr">
              <a:buNone/>
            </a:pPr>
            <a:r>
              <a:rPr lang="en-US" sz="3200" b="1">
                <a:solidFill>
                  <a:srgbClr val="0D9488"/>
                </a:solidFill>
                <a:latin typeface="Calibri" pitchFamily="34" charset="0"/>
                <a:ea typeface="Calibri" pitchFamily="34" charset="-122"/>
                <a:cs typeface="Calibri" pitchFamily="34" charset="-120"/>
              </a:rPr>
              <a:t>× 1,2177</a:t>
            </a:r>
            <a:endParaRPr lang="en-US" sz="3200"/>
          </a:p>
        </p:txBody>
      </p:sp>
      <p:sp>
        <p:nvSpPr>
          <p:cNvPr id="53" name="Text 51"/>
          <p:cNvSpPr/>
          <p:nvPr/>
        </p:nvSpPr>
        <p:spPr>
          <a:xfrm>
            <a:off x="4892040" y="4407408"/>
            <a:ext cx="3794760" cy="274320"/>
          </a:xfrm>
          <a:prstGeom prst="rect">
            <a:avLst/>
          </a:prstGeom>
          <a:noFill/>
          <a:ln/>
        </p:spPr>
        <p:txBody>
          <a:bodyPr wrap="square" lIns="0" tIns="0" rIns="0" bIns="0" rtlCol="0" anchor="ctr"/>
          <a:lstStyle/>
          <a:p>
            <a:pPr marL="0" indent="0" algn="ctr">
              <a:buNone/>
            </a:pPr>
            <a:r>
              <a:rPr lang="en-US" sz="1100">
                <a:solidFill>
                  <a:srgbClr val="CBD5E1"/>
                </a:solidFill>
                <a:latin typeface="Calibri" pitchFamily="34" charset="0"/>
                <a:ea typeface="Calibri" pitchFamily="34" charset="-122"/>
                <a:cs typeface="Calibri" pitchFamily="34" charset="-120"/>
              </a:rPr>
              <a:t>→  +21,8 % gegenüber 2015-Niveau</a:t>
            </a:r>
            <a:endParaRPr lang="en-US" sz="1100"/>
          </a:p>
        </p:txBody>
      </p:sp>
      <p:sp>
        <p:nvSpPr>
          <p:cNvPr id="54" name="Shape 52"/>
          <p:cNvSpPr/>
          <p:nvPr/>
        </p:nvSpPr>
        <p:spPr>
          <a:xfrm>
            <a:off x="320040" y="4617720"/>
            <a:ext cx="8503920" cy="320040"/>
          </a:xfrm>
          <a:prstGeom prst="rect">
            <a:avLst/>
          </a:prstGeom>
          <a:solidFill>
            <a:srgbClr val="F0FDFA"/>
          </a:solidFill>
          <a:ln w="12700">
            <a:solidFill>
              <a:srgbClr val="99F6E4"/>
            </a:solidFill>
            <a:prstDash val="solid"/>
          </a:ln>
        </p:spPr>
        <p:txBody>
          <a:bodyPr/>
          <a:lstStyle/>
          <a:p>
            <a:endParaRPr lang="de-DE"/>
          </a:p>
        </p:txBody>
      </p:sp>
      <p:sp>
        <p:nvSpPr>
          <p:cNvPr id="55" name="Text 53"/>
          <p:cNvSpPr/>
          <p:nvPr/>
        </p:nvSpPr>
        <p:spPr>
          <a:xfrm>
            <a:off x="457200" y="4654296"/>
            <a:ext cx="8229600" cy="246888"/>
          </a:xfrm>
          <a:prstGeom prst="rect">
            <a:avLst/>
          </a:prstGeom>
          <a:noFill/>
          <a:ln/>
        </p:spPr>
        <p:txBody>
          <a:bodyPr wrap="square" lIns="0" tIns="0" rIns="0" bIns="0" rtlCol="0" anchor="ctr"/>
          <a:lstStyle/>
          <a:p>
            <a:pPr marL="0" indent="0">
              <a:buNone/>
            </a:pPr>
            <a:r>
              <a:rPr lang="en-US" sz="1000">
                <a:solidFill>
                  <a:srgbClr val="065F46"/>
                </a:solidFill>
                <a:latin typeface="Calibri" pitchFamily="34" charset="0"/>
                <a:ea typeface="Calibri" pitchFamily="34" charset="-122"/>
                <a:cs typeface="Calibri" pitchFamily="34" charset="-120"/>
              </a:rPr>
              <a:t>Stage 2 greift direkt auf macro_index.csv zu — kein erneuter Download nötig. stage2_macro.py lädt und berechnet den Multiplikator für beliebige Zieldaten.</a:t>
            </a:r>
            <a:endParaRPr lang="en-US" sz="1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EF4FA"/>
        </a:solidFill>
        <a:effectLst/>
      </p:bgPr>
    </p:bg>
    <p:spTree>
      <p:nvGrpSpPr>
        <p:cNvPr id="1" name=""/>
        <p:cNvGrpSpPr/>
        <p:nvPr/>
      </p:nvGrpSpPr>
      <p:grpSpPr>
        <a:xfrm>
          <a:off x="0" y="0"/>
          <a:ext cx="0" cy="0"/>
          <a:chOff x="0" y="0"/>
          <a:chExt cx="0" cy="0"/>
        </a:xfrm>
      </p:grpSpPr>
      <p:sp>
        <p:nvSpPr>
          <p:cNvPr id="4" name="TopBar">
            <a:extLst>
              <a:ext uri="{FF2B5EF4-FFF2-40B4-BE49-F238E27FC236}">
                <a16:creationId xmlns:a16="http://schemas.microsoft.com/office/drawing/2014/main" id="{EC68D2CC-5C03-400B-AE01-C7007A1B922C}"/>
              </a:ext>
            </a:extLst>
          </p:cNvPr>
          <p:cNvSpPr>
            <a:spLocks noGrp="1"/>
          </p:cNvSpPr>
          <p:nvPr/>
        </p:nvSpPr>
        <p:spPr>
          <a:xfrm>
            <a:off x="0" y="0"/>
            <a:ext cx="9144000" cy="63818"/>
          </a:xfrm>
          <a:prstGeom prst="rect">
            <a:avLst/>
          </a:prstGeom>
          <a:solidFill>
            <a:srgbClr val="009681"/>
          </a:solidFill>
          <a:ln w="0">
            <a:solidFill>
              <a:srgbClr val="009681"/>
            </a:solidFill>
          </a:ln>
        </p:spPr>
        <p:txBody>
          <a:bodyPr/>
          <a:lstStyle/>
          <a:p>
            <a:endParaRPr lang="de-DE"/>
          </a:p>
        </p:txBody>
      </p:sp>
      <p:sp>
        <p:nvSpPr>
          <p:cNvPr id="2" name="Title">
            <a:extLst>
              <a:ext uri="{FF2B5EF4-FFF2-40B4-BE49-F238E27FC236}">
                <a16:creationId xmlns:a16="http://schemas.microsoft.com/office/drawing/2014/main" id="{792D1315-CDDA-43CC-990F-F14462E59531}"/>
              </a:ext>
            </a:extLst>
          </p:cNvPr>
          <p:cNvSpPr>
            <a:spLocks noGrp="1"/>
          </p:cNvSpPr>
          <p:nvPr/>
        </p:nvSpPr>
        <p:spPr>
          <a:xfrm>
            <a:off x="361950" y="300038"/>
            <a:ext cx="7810500" cy="495300"/>
          </a:xfrm>
          <a:prstGeom prst="rect">
            <a:avLst/>
          </a:prstGeom>
          <a:noFill/>
          <a:ln w="0">
            <a:noFill/>
            <a:prstDash val="solid"/>
          </a:ln>
        </p:spPr>
        <p:txBody>
          <a:bodyPr/>
          <a:lstStyle/>
          <a:p>
            <a:pPr algn="l">
              <a:defRPr sz="2700" b="0" i="0">
                <a:solidFill>
                  <a:srgbClr val="142746"/>
                </a:solidFill>
              </a:defRPr>
            </a:pPr>
            <a:r>
              <a:rPr lang="de-DE" sz="2700" b="1" i="0" err="1">
                <a:solidFill>
                  <a:srgbClr val="142746"/>
                </a:solidFill>
              </a:rPr>
              <a:t>Modellauswahl</a:t>
            </a:r>
            <a:endParaRPr lang="de-DE" sz="2700" b="1" i="0">
              <a:solidFill>
                <a:srgbClr val="142746"/>
              </a:solidFill>
            </a:endParaRPr>
          </a:p>
        </p:txBody>
      </p:sp>
      <p:sp>
        <p:nvSpPr>
          <p:cNvPr id="3" name="Subtitle">
            <a:extLst>
              <a:ext uri="{FF2B5EF4-FFF2-40B4-BE49-F238E27FC236}">
                <a16:creationId xmlns:a16="http://schemas.microsoft.com/office/drawing/2014/main" id="{5069EF8B-2344-42A6-B25A-1E759DAF7CDA}"/>
              </a:ext>
            </a:extLst>
          </p:cNvPr>
          <p:cNvSpPr>
            <a:spLocks noGrp="1"/>
          </p:cNvSpPr>
          <p:nvPr/>
        </p:nvSpPr>
        <p:spPr>
          <a:xfrm>
            <a:off x="361950" y="795338"/>
            <a:ext cx="7810500" cy="266700"/>
          </a:xfrm>
          <a:prstGeom prst="rect">
            <a:avLst/>
          </a:prstGeom>
          <a:noFill/>
          <a:ln w="0">
            <a:noFill/>
            <a:prstDash val="solid"/>
          </a:ln>
        </p:spPr>
        <p:txBody>
          <a:bodyPr/>
          <a:lstStyle/>
          <a:p>
            <a:pPr algn="l">
              <a:defRPr sz="1125" b="0" i="1">
                <a:solidFill>
                  <a:srgbClr val="68768E"/>
                </a:solidFill>
              </a:defRPr>
            </a:pPr>
            <a:r>
              <a:rPr sz="1125" b="0" i="1">
                <a:solidFill>
                  <a:srgbClr val="68768E"/>
                </a:solidFill>
              </a:rPr>
              <a:t>6 Modelle · </a:t>
            </a:r>
            <a:r>
              <a:rPr lang="de-DE" sz="1125" b="0" i="1" err="1">
                <a:solidFill>
                  <a:srgbClr val="68768E"/>
                </a:solidFill>
              </a:rPr>
              <a:t>gleiche</a:t>
            </a:r>
            <a:r>
              <a:rPr sz="1125" b="0" i="1">
                <a:solidFill>
                  <a:srgbClr val="68768E"/>
                </a:solidFill>
              </a:rPr>
              <a:t> </a:t>
            </a:r>
            <a:r>
              <a:rPr lang="de-DE" sz="1125" b="0" i="1" err="1">
                <a:solidFill>
                  <a:srgbClr val="68768E"/>
                </a:solidFill>
              </a:rPr>
              <a:t>Bedingungen</a:t>
            </a:r>
            <a:r>
              <a:rPr sz="1125" b="0" i="1">
                <a:solidFill>
                  <a:srgbClr val="68768E"/>
                </a:solidFill>
              </a:rPr>
              <a:t> · 200k Zeilen · 80/20 Split</a:t>
            </a:r>
          </a:p>
        </p:txBody>
      </p:sp>
      <p:graphicFrame>
        <p:nvGraphicFramePr>
          <p:cNvPr id="10" name="Tabelle 9"/>
          <p:cNvGraphicFramePr/>
          <p:nvPr/>
        </p:nvGraphicFramePr>
        <p:xfrm>
          <a:off x="361950" y="1104900"/>
          <a:ext cx="8420102" cy="3067048"/>
        </p:xfrm>
        <a:graphic>
          <a:graphicData uri="http://schemas.openxmlformats.org/drawingml/2006/table">
            <a:tbl>
              <a:tblPr/>
              <a:tblGrid>
                <a:gridCol w="3420666">
                  <a:extLst>
                    <a:ext uri="{9D8B030D-6E8A-4147-A177-3AD203B41FA5}">
                      <a16:colId xmlns:a16="http://schemas.microsoft.com/office/drawing/2014/main" val="20000"/>
                    </a:ext>
                  </a:extLst>
                </a:gridCol>
                <a:gridCol w="1315641">
                  <a:extLst>
                    <a:ext uri="{9D8B030D-6E8A-4147-A177-3AD203B41FA5}">
                      <a16:colId xmlns:a16="http://schemas.microsoft.com/office/drawing/2014/main" val="20001"/>
                    </a:ext>
                  </a:extLst>
                </a:gridCol>
                <a:gridCol w="1052513">
                  <a:extLst>
                    <a:ext uri="{9D8B030D-6E8A-4147-A177-3AD203B41FA5}">
                      <a16:colId xmlns:a16="http://schemas.microsoft.com/office/drawing/2014/main" val="20002"/>
                    </a:ext>
                  </a:extLst>
                </a:gridCol>
                <a:gridCol w="1184077">
                  <a:extLst>
                    <a:ext uri="{9D8B030D-6E8A-4147-A177-3AD203B41FA5}">
                      <a16:colId xmlns:a16="http://schemas.microsoft.com/office/drawing/2014/main" val="20003"/>
                    </a:ext>
                  </a:extLst>
                </a:gridCol>
                <a:gridCol w="1447205">
                  <a:extLst>
                    <a:ext uri="{9D8B030D-6E8A-4147-A177-3AD203B41FA5}">
                      <a16:colId xmlns:a16="http://schemas.microsoft.com/office/drawing/2014/main" val="20004"/>
                    </a:ext>
                  </a:extLst>
                </a:gridCol>
              </a:tblGrid>
              <a:tr h="383381">
                <a:tc>
                  <a:txBody>
                    <a:bodyPr/>
                    <a:lstStyle/>
                    <a:p>
                      <a:r>
                        <a:rPr sz="975" b="1">
                          <a:solidFill>
                            <a:srgbClr val="FFFFFF"/>
                          </a:solidFill>
                        </a:rPr>
                        <a:t>Modell</a:t>
                      </a:r>
                    </a:p>
                  </a:txBody>
                  <a:tcPr>
                    <a:solidFill>
                      <a:srgbClr val="112744"/>
                    </a:solidFill>
                  </a:tcPr>
                </a:tc>
                <a:tc>
                  <a:txBody>
                    <a:bodyPr/>
                    <a:lstStyle/>
                    <a:p>
                      <a:r>
                        <a:rPr sz="975" b="1">
                          <a:solidFill>
                            <a:srgbClr val="FFFFFF"/>
                          </a:solidFill>
                        </a:rPr>
                        <a:t>MAE</a:t>
                      </a:r>
                    </a:p>
                  </a:txBody>
                  <a:tcPr>
                    <a:solidFill>
                      <a:srgbClr val="112744"/>
                    </a:solidFill>
                  </a:tcPr>
                </a:tc>
                <a:tc>
                  <a:txBody>
                    <a:bodyPr/>
                    <a:lstStyle/>
                    <a:p>
                      <a:r>
                        <a:rPr sz="975" b="1">
                          <a:solidFill>
                            <a:srgbClr val="FFFFFF"/>
                          </a:solidFill>
                        </a:rPr>
                        <a:t>R²</a:t>
                      </a:r>
                    </a:p>
                  </a:txBody>
                  <a:tcPr>
                    <a:solidFill>
                      <a:srgbClr val="112744"/>
                    </a:solidFill>
                  </a:tcPr>
                </a:tc>
                <a:tc>
                  <a:txBody>
                    <a:bodyPr/>
                    <a:lstStyle/>
                    <a:p>
                      <a:r>
                        <a:rPr sz="975" b="1">
                          <a:solidFill>
                            <a:srgbClr val="FFFFFF"/>
                          </a:solidFill>
                        </a:rPr>
                        <a:t>MAPE</a:t>
                      </a:r>
                    </a:p>
                  </a:txBody>
                  <a:tcPr>
                    <a:solidFill>
                      <a:srgbClr val="112744"/>
                    </a:solidFill>
                  </a:tcPr>
                </a:tc>
                <a:tc>
                  <a:txBody>
                    <a:bodyPr/>
                    <a:lstStyle/>
                    <a:p>
                      <a:r>
                        <a:rPr sz="975" b="1">
                          <a:solidFill>
                            <a:srgbClr val="FFFFFF"/>
                          </a:solidFill>
                        </a:rPr>
                        <a:t>Trainingszeit</a:t>
                      </a:r>
                    </a:p>
                  </a:txBody>
                  <a:tcPr>
                    <a:solidFill>
                      <a:srgbClr val="112744"/>
                    </a:solidFill>
                  </a:tcPr>
                </a:tc>
                <a:extLst>
                  <a:ext uri="{0D108BD9-81ED-4DB2-BD59-A6C34878D82A}">
                    <a16:rowId xmlns:a16="http://schemas.microsoft.com/office/drawing/2014/main" val="10000"/>
                  </a:ext>
                </a:extLst>
              </a:tr>
              <a:tr h="383381">
                <a:tc>
                  <a:txBody>
                    <a:bodyPr/>
                    <a:lstStyle/>
                    <a:p>
                      <a:r>
                        <a:rPr sz="900" b="1">
                          <a:solidFill>
                            <a:srgbClr val="009681"/>
                          </a:solidFill>
                        </a:rPr>
                        <a:t>HistGradientBoosting ★</a:t>
                      </a:r>
                    </a:p>
                  </a:txBody>
                  <a:tcPr>
                    <a:solidFill>
                      <a:srgbClr val="E8FBF7"/>
                    </a:solidFill>
                  </a:tcPr>
                </a:tc>
                <a:tc>
                  <a:txBody>
                    <a:bodyPr/>
                    <a:lstStyle/>
                    <a:p>
                      <a:r>
                        <a:rPr sz="900" b="1">
                          <a:solidFill>
                            <a:srgbClr val="009681"/>
                          </a:solidFill>
                        </a:rPr>
                        <a:t>$1.766</a:t>
                      </a:r>
                    </a:p>
                  </a:txBody>
                  <a:tcPr>
                    <a:solidFill>
                      <a:srgbClr val="E8FBF7"/>
                    </a:solidFill>
                  </a:tcPr>
                </a:tc>
                <a:tc>
                  <a:txBody>
                    <a:bodyPr/>
                    <a:lstStyle/>
                    <a:p>
                      <a:r>
                        <a:rPr sz="900" b="1">
                          <a:solidFill>
                            <a:srgbClr val="009681"/>
                          </a:solidFill>
                        </a:rPr>
                        <a:t>0.898</a:t>
                      </a:r>
                    </a:p>
                  </a:txBody>
                  <a:tcPr>
                    <a:solidFill>
                      <a:srgbClr val="E8FBF7"/>
                    </a:solidFill>
                  </a:tcPr>
                </a:tc>
                <a:tc>
                  <a:txBody>
                    <a:bodyPr/>
                    <a:lstStyle/>
                    <a:p>
                      <a:r>
                        <a:rPr sz="900" b="1">
                          <a:solidFill>
                            <a:srgbClr val="009681"/>
                          </a:solidFill>
                        </a:rPr>
                        <a:t>16,0%</a:t>
                      </a:r>
                    </a:p>
                  </a:txBody>
                  <a:tcPr>
                    <a:solidFill>
                      <a:srgbClr val="E8FBF7"/>
                    </a:solidFill>
                  </a:tcPr>
                </a:tc>
                <a:tc>
                  <a:txBody>
                    <a:bodyPr/>
                    <a:lstStyle/>
                    <a:p>
                      <a:r>
                        <a:rPr sz="900" b="1">
                          <a:solidFill>
                            <a:srgbClr val="009681"/>
                          </a:solidFill>
                        </a:rPr>
                        <a:t>33 s</a:t>
                      </a:r>
                    </a:p>
                  </a:txBody>
                  <a:tcPr>
                    <a:solidFill>
                      <a:srgbClr val="E8FBF7"/>
                    </a:solidFill>
                  </a:tcPr>
                </a:tc>
                <a:extLst>
                  <a:ext uri="{0D108BD9-81ED-4DB2-BD59-A6C34878D82A}">
                    <a16:rowId xmlns:a16="http://schemas.microsoft.com/office/drawing/2014/main" val="10001"/>
                  </a:ext>
                </a:extLst>
              </a:tr>
              <a:tr h="383381">
                <a:tc>
                  <a:txBody>
                    <a:bodyPr/>
                    <a:lstStyle/>
                    <a:p>
                      <a:r>
                        <a:rPr sz="900">
                          <a:solidFill>
                            <a:srgbClr val="142746"/>
                          </a:solidFill>
                        </a:rPr>
                        <a:t>XGBoost</a:t>
                      </a:r>
                    </a:p>
                  </a:txBody>
                  <a:tcPr>
                    <a:solidFill>
                      <a:srgbClr val="F8FBFF"/>
                    </a:solidFill>
                  </a:tcPr>
                </a:tc>
                <a:tc>
                  <a:txBody>
                    <a:bodyPr/>
                    <a:lstStyle/>
                    <a:p>
                      <a:r>
                        <a:rPr sz="900">
                          <a:solidFill>
                            <a:srgbClr val="142746"/>
                          </a:solidFill>
                        </a:rPr>
                        <a:t>$2.055</a:t>
                      </a:r>
                    </a:p>
                  </a:txBody>
                  <a:tcPr>
                    <a:solidFill>
                      <a:srgbClr val="F8FBFF"/>
                    </a:solidFill>
                  </a:tcPr>
                </a:tc>
                <a:tc>
                  <a:txBody>
                    <a:bodyPr/>
                    <a:lstStyle/>
                    <a:p>
                      <a:r>
                        <a:rPr sz="900">
                          <a:solidFill>
                            <a:srgbClr val="142746"/>
                          </a:solidFill>
                        </a:rPr>
                        <a:t>0.865</a:t>
                      </a:r>
                    </a:p>
                  </a:txBody>
                  <a:tcPr>
                    <a:solidFill>
                      <a:srgbClr val="F8FBFF"/>
                    </a:solidFill>
                  </a:tcPr>
                </a:tc>
                <a:tc>
                  <a:txBody>
                    <a:bodyPr/>
                    <a:lstStyle/>
                    <a:p>
                      <a:r>
                        <a:rPr sz="900">
                          <a:solidFill>
                            <a:srgbClr val="142746"/>
                          </a:solidFill>
                        </a:rPr>
                        <a:t>18,2%</a:t>
                      </a:r>
                    </a:p>
                  </a:txBody>
                  <a:tcPr>
                    <a:solidFill>
                      <a:srgbClr val="F8FBFF"/>
                    </a:solidFill>
                  </a:tcPr>
                </a:tc>
                <a:tc>
                  <a:txBody>
                    <a:bodyPr/>
                    <a:lstStyle/>
                    <a:p>
                      <a:r>
                        <a:rPr sz="900">
                          <a:solidFill>
                            <a:srgbClr val="142746"/>
                          </a:solidFill>
                        </a:rPr>
                        <a:t>1 s</a:t>
                      </a:r>
                    </a:p>
                  </a:txBody>
                  <a:tcPr>
                    <a:solidFill>
                      <a:srgbClr val="F8FBFF"/>
                    </a:solidFill>
                  </a:tcPr>
                </a:tc>
                <a:extLst>
                  <a:ext uri="{0D108BD9-81ED-4DB2-BD59-A6C34878D82A}">
                    <a16:rowId xmlns:a16="http://schemas.microsoft.com/office/drawing/2014/main" val="10002"/>
                  </a:ext>
                </a:extLst>
              </a:tr>
              <a:tr h="383381">
                <a:tc>
                  <a:txBody>
                    <a:bodyPr/>
                    <a:lstStyle/>
                    <a:p>
                      <a:r>
                        <a:rPr sz="900">
                          <a:solidFill>
                            <a:srgbClr val="142746"/>
                          </a:solidFill>
                        </a:rPr>
                        <a:t>Linear Regression</a:t>
                      </a:r>
                    </a:p>
                  </a:txBody>
                  <a:tcPr>
                    <a:solidFill>
                      <a:srgbClr val="FFFFFF"/>
                    </a:solidFill>
                  </a:tcPr>
                </a:tc>
                <a:tc>
                  <a:txBody>
                    <a:bodyPr/>
                    <a:lstStyle/>
                    <a:p>
                      <a:r>
                        <a:rPr sz="900">
                          <a:solidFill>
                            <a:srgbClr val="142746"/>
                          </a:solidFill>
                        </a:rPr>
                        <a:t>$2.193</a:t>
                      </a:r>
                    </a:p>
                  </a:txBody>
                  <a:tcPr>
                    <a:solidFill>
                      <a:srgbClr val="FFFFFF"/>
                    </a:solidFill>
                  </a:tcPr>
                </a:tc>
                <a:tc>
                  <a:txBody>
                    <a:bodyPr/>
                    <a:lstStyle/>
                    <a:p>
                      <a:r>
                        <a:rPr sz="900">
                          <a:solidFill>
                            <a:srgbClr val="142746"/>
                          </a:solidFill>
                        </a:rPr>
                        <a:t>0.852</a:t>
                      </a:r>
                    </a:p>
                  </a:txBody>
                  <a:tcPr>
                    <a:solidFill>
                      <a:srgbClr val="FFFFFF"/>
                    </a:solidFill>
                  </a:tcPr>
                </a:tc>
                <a:tc>
                  <a:txBody>
                    <a:bodyPr/>
                    <a:lstStyle/>
                    <a:p>
                      <a:r>
                        <a:rPr sz="900">
                          <a:solidFill>
                            <a:srgbClr val="142746"/>
                          </a:solidFill>
                        </a:rPr>
                        <a:t>20,1%</a:t>
                      </a:r>
                    </a:p>
                  </a:txBody>
                  <a:tcPr>
                    <a:solidFill>
                      <a:srgbClr val="FFFFFF"/>
                    </a:solidFill>
                  </a:tcPr>
                </a:tc>
                <a:tc>
                  <a:txBody>
                    <a:bodyPr/>
                    <a:lstStyle/>
                    <a:p>
                      <a:r>
                        <a:rPr sz="900">
                          <a:solidFill>
                            <a:srgbClr val="142746"/>
                          </a:solidFill>
                        </a:rPr>
                        <a:t>1 s</a:t>
                      </a:r>
                    </a:p>
                  </a:txBody>
                  <a:tcPr>
                    <a:solidFill>
                      <a:srgbClr val="FFFFFF"/>
                    </a:solidFill>
                  </a:tcPr>
                </a:tc>
                <a:extLst>
                  <a:ext uri="{0D108BD9-81ED-4DB2-BD59-A6C34878D82A}">
                    <a16:rowId xmlns:a16="http://schemas.microsoft.com/office/drawing/2014/main" val="10003"/>
                  </a:ext>
                </a:extLst>
              </a:tr>
              <a:tr h="383381">
                <a:tc>
                  <a:txBody>
                    <a:bodyPr/>
                    <a:lstStyle/>
                    <a:p>
                      <a:r>
                        <a:rPr sz="900">
                          <a:solidFill>
                            <a:srgbClr val="142746"/>
                          </a:solidFill>
                        </a:rPr>
                        <a:t>Ridge Regression</a:t>
                      </a:r>
                    </a:p>
                  </a:txBody>
                  <a:tcPr>
                    <a:solidFill>
                      <a:srgbClr val="F8FBFF"/>
                    </a:solidFill>
                  </a:tcPr>
                </a:tc>
                <a:tc>
                  <a:txBody>
                    <a:bodyPr/>
                    <a:lstStyle/>
                    <a:p>
                      <a:r>
                        <a:rPr sz="900">
                          <a:solidFill>
                            <a:srgbClr val="142746"/>
                          </a:solidFill>
                        </a:rPr>
                        <a:t>$2.202</a:t>
                      </a:r>
                    </a:p>
                  </a:txBody>
                  <a:tcPr>
                    <a:solidFill>
                      <a:srgbClr val="F8FBFF"/>
                    </a:solidFill>
                  </a:tcPr>
                </a:tc>
                <a:tc>
                  <a:txBody>
                    <a:bodyPr/>
                    <a:lstStyle/>
                    <a:p>
                      <a:r>
                        <a:rPr sz="900">
                          <a:solidFill>
                            <a:srgbClr val="142746"/>
                          </a:solidFill>
                        </a:rPr>
                        <a:t>0.850</a:t>
                      </a:r>
                    </a:p>
                  </a:txBody>
                  <a:tcPr>
                    <a:solidFill>
                      <a:srgbClr val="F8FBFF"/>
                    </a:solidFill>
                  </a:tcPr>
                </a:tc>
                <a:tc>
                  <a:txBody>
                    <a:bodyPr/>
                    <a:lstStyle/>
                    <a:p>
                      <a:r>
                        <a:rPr sz="900">
                          <a:solidFill>
                            <a:srgbClr val="142746"/>
                          </a:solidFill>
                        </a:rPr>
                        <a:t>20,2%</a:t>
                      </a:r>
                    </a:p>
                  </a:txBody>
                  <a:tcPr>
                    <a:solidFill>
                      <a:srgbClr val="F8FBFF"/>
                    </a:solidFill>
                  </a:tcPr>
                </a:tc>
                <a:tc>
                  <a:txBody>
                    <a:bodyPr/>
                    <a:lstStyle/>
                    <a:p>
                      <a:r>
                        <a:rPr sz="900">
                          <a:solidFill>
                            <a:srgbClr val="142746"/>
                          </a:solidFill>
                        </a:rPr>
                        <a:t>1 s</a:t>
                      </a:r>
                    </a:p>
                  </a:txBody>
                  <a:tcPr>
                    <a:solidFill>
                      <a:srgbClr val="F8FBFF"/>
                    </a:solidFill>
                  </a:tcPr>
                </a:tc>
                <a:extLst>
                  <a:ext uri="{0D108BD9-81ED-4DB2-BD59-A6C34878D82A}">
                    <a16:rowId xmlns:a16="http://schemas.microsoft.com/office/drawing/2014/main" val="10004"/>
                  </a:ext>
                </a:extLst>
              </a:tr>
              <a:tr h="383381">
                <a:tc>
                  <a:txBody>
                    <a:bodyPr/>
                    <a:lstStyle/>
                    <a:p>
                      <a:r>
                        <a:rPr sz="900">
                          <a:solidFill>
                            <a:srgbClr val="142746"/>
                          </a:solidFill>
                        </a:rPr>
                        <a:t>Random Forest</a:t>
                      </a:r>
                    </a:p>
                  </a:txBody>
                  <a:tcPr>
                    <a:solidFill>
                      <a:srgbClr val="FFFFFF"/>
                    </a:solidFill>
                  </a:tcPr>
                </a:tc>
                <a:tc>
                  <a:txBody>
                    <a:bodyPr/>
                    <a:lstStyle/>
                    <a:p>
                      <a:r>
                        <a:rPr sz="900">
                          <a:solidFill>
                            <a:srgbClr val="142746"/>
                          </a:solidFill>
                        </a:rPr>
                        <a:t>$2.333</a:t>
                      </a:r>
                    </a:p>
                  </a:txBody>
                  <a:tcPr>
                    <a:solidFill>
                      <a:srgbClr val="FFFFFF"/>
                    </a:solidFill>
                  </a:tcPr>
                </a:tc>
                <a:tc>
                  <a:txBody>
                    <a:bodyPr/>
                    <a:lstStyle/>
                    <a:p>
                      <a:r>
                        <a:rPr sz="900">
                          <a:solidFill>
                            <a:srgbClr val="142746"/>
                          </a:solidFill>
                        </a:rPr>
                        <a:t>0.840</a:t>
                      </a:r>
                    </a:p>
                  </a:txBody>
                  <a:tcPr>
                    <a:solidFill>
                      <a:srgbClr val="FFFFFF"/>
                    </a:solidFill>
                  </a:tcPr>
                </a:tc>
                <a:tc>
                  <a:txBody>
                    <a:bodyPr/>
                    <a:lstStyle/>
                    <a:p>
                      <a:r>
                        <a:rPr sz="900">
                          <a:solidFill>
                            <a:srgbClr val="142746"/>
                          </a:solidFill>
                        </a:rPr>
                        <a:t>21,2%</a:t>
                      </a:r>
                    </a:p>
                  </a:txBody>
                  <a:tcPr>
                    <a:solidFill>
                      <a:srgbClr val="FFFFFF"/>
                    </a:solidFill>
                  </a:tcPr>
                </a:tc>
                <a:tc>
                  <a:txBody>
                    <a:bodyPr/>
                    <a:lstStyle/>
                    <a:p>
                      <a:r>
                        <a:rPr sz="900">
                          <a:solidFill>
                            <a:srgbClr val="142746"/>
                          </a:solidFill>
                        </a:rPr>
                        <a:t>81 s</a:t>
                      </a:r>
                    </a:p>
                  </a:txBody>
                  <a:tcPr>
                    <a:solidFill>
                      <a:srgbClr val="FFFFFF"/>
                    </a:solidFill>
                  </a:tcPr>
                </a:tc>
                <a:extLst>
                  <a:ext uri="{0D108BD9-81ED-4DB2-BD59-A6C34878D82A}">
                    <a16:rowId xmlns:a16="http://schemas.microsoft.com/office/drawing/2014/main" val="10005"/>
                  </a:ext>
                </a:extLst>
              </a:tr>
              <a:tr h="383381">
                <a:tc>
                  <a:txBody>
                    <a:bodyPr/>
                    <a:lstStyle/>
                    <a:p>
                      <a:r>
                        <a:rPr sz="900" b="0">
                          <a:solidFill>
                            <a:srgbClr val="E11D2E"/>
                          </a:solidFill>
                        </a:rPr>
                        <a:t>Lasso Regression</a:t>
                      </a:r>
                    </a:p>
                  </a:txBody>
                  <a:tcPr>
                    <a:solidFill>
                      <a:srgbClr val="F8FBFF"/>
                    </a:solidFill>
                  </a:tcPr>
                </a:tc>
                <a:tc>
                  <a:txBody>
                    <a:bodyPr/>
                    <a:lstStyle/>
                    <a:p>
                      <a:r>
                        <a:rPr sz="900" b="0">
                          <a:solidFill>
                            <a:srgbClr val="E11D2E"/>
                          </a:solidFill>
                        </a:rPr>
                        <a:t>$7.132</a:t>
                      </a:r>
                    </a:p>
                  </a:txBody>
                  <a:tcPr>
                    <a:solidFill>
                      <a:srgbClr val="F8FBFF"/>
                    </a:solidFill>
                  </a:tcPr>
                </a:tc>
                <a:tc>
                  <a:txBody>
                    <a:bodyPr/>
                    <a:lstStyle/>
                    <a:p>
                      <a:r>
                        <a:rPr sz="900" b="0">
                          <a:solidFill>
                            <a:srgbClr val="E11D2E"/>
                          </a:solidFill>
                        </a:rPr>
                        <a:t>-0.125</a:t>
                      </a:r>
                    </a:p>
                  </a:txBody>
                  <a:tcPr>
                    <a:solidFill>
                      <a:srgbClr val="F8FBFF"/>
                    </a:solidFill>
                  </a:tcPr>
                </a:tc>
                <a:tc>
                  <a:txBody>
                    <a:bodyPr/>
                    <a:lstStyle/>
                    <a:p>
                      <a:r>
                        <a:rPr sz="900" b="0">
                          <a:solidFill>
                            <a:srgbClr val="E11D2E"/>
                          </a:solidFill>
                        </a:rPr>
                        <a:t>104,5%</a:t>
                      </a:r>
                    </a:p>
                  </a:txBody>
                  <a:tcPr>
                    <a:solidFill>
                      <a:srgbClr val="F8FBFF"/>
                    </a:solidFill>
                  </a:tcPr>
                </a:tc>
                <a:tc>
                  <a:txBody>
                    <a:bodyPr/>
                    <a:lstStyle/>
                    <a:p>
                      <a:r>
                        <a:rPr sz="900" b="0">
                          <a:solidFill>
                            <a:srgbClr val="E11D2E"/>
                          </a:solidFill>
                        </a:rPr>
                        <a:t>&lt;1 s</a:t>
                      </a:r>
                    </a:p>
                  </a:txBody>
                  <a:tcPr>
                    <a:solidFill>
                      <a:srgbClr val="F8FBFF"/>
                    </a:solidFill>
                  </a:tcPr>
                </a:tc>
                <a:extLst>
                  <a:ext uri="{0D108BD9-81ED-4DB2-BD59-A6C34878D82A}">
                    <a16:rowId xmlns:a16="http://schemas.microsoft.com/office/drawing/2014/main" val="10006"/>
                  </a:ext>
                </a:extLst>
              </a:tr>
              <a:tr h="383381">
                <a:tc>
                  <a:txBody>
                    <a:bodyPr/>
                    <a:lstStyle/>
                    <a:p>
                      <a:r>
                        <a:rPr sz="900">
                          <a:solidFill>
                            <a:srgbClr val="8A99AD"/>
                          </a:solidFill>
                        </a:rPr>
                        <a:t>Median Baseline</a:t>
                      </a:r>
                    </a:p>
                  </a:txBody>
                  <a:tcPr>
                    <a:solidFill>
                      <a:srgbClr val="FFFFFF"/>
                    </a:solidFill>
                  </a:tcPr>
                </a:tc>
                <a:tc>
                  <a:txBody>
                    <a:bodyPr/>
                    <a:lstStyle/>
                    <a:p>
                      <a:r>
                        <a:rPr sz="900">
                          <a:solidFill>
                            <a:srgbClr val="8A99AD"/>
                          </a:solidFill>
                        </a:rPr>
                        <a:t>$6.932</a:t>
                      </a:r>
                    </a:p>
                  </a:txBody>
                  <a:tcPr>
                    <a:solidFill>
                      <a:srgbClr val="FFFFFF"/>
                    </a:solidFill>
                  </a:tcPr>
                </a:tc>
                <a:tc>
                  <a:txBody>
                    <a:bodyPr/>
                    <a:lstStyle/>
                    <a:p>
                      <a:r>
                        <a:rPr sz="900">
                          <a:solidFill>
                            <a:srgbClr val="8A99AD"/>
                          </a:solidFill>
                        </a:rPr>
                        <a:t>-0.025</a:t>
                      </a:r>
                    </a:p>
                  </a:txBody>
                  <a:tcPr>
                    <a:solidFill>
                      <a:srgbClr val="FFFFFF"/>
                    </a:solidFill>
                  </a:tcPr>
                </a:tc>
                <a:tc>
                  <a:txBody>
                    <a:bodyPr/>
                    <a:lstStyle/>
                    <a:p>
                      <a:r>
                        <a:rPr sz="900">
                          <a:solidFill>
                            <a:srgbClr val="8A99AD"/>
                          </a:solidFill>
                        </a:rPr>
                        <a:t>121,0%</a:t>
                      </a:r>
                    </a:p>
                  </a:txBody>
                  <a:tcPr>
                    <a:solidFill>
                      <a:srgbClr val="FFFFFF"/>
                    </a:solidFill>
                  </a:tcPr>
                </a:tc>
                <a:tc>
                  <a:txBody>
                    <a:bodyPr/>
                    <a:lstStyle/>
                    <a:p>
                      <a:r>
                        <a:rPr sz="900">
                          <a:solidFill>
                            <a:srgbClr val="8A99AD"/>
                          </a:solidFill>
                        </a:rPr>
                        <a:t>-</a:t>
                      </a:r>
                    </a:p>
                  </a:txBody>
                  <a:tcPr>
                    <a:solidFill>
                      <a:srgbClr val="FFFFFF"/>
                    </a:solidFill>
                  </a:tcPr>
                </a:tc>
                <a:extLst>
                  <a:ext uri="{0D108BD9-81ED-4DB2-BD59-A6C34878D82A}">
                    <a16:rowId xmlns:a16="http://schemas.microsoft.com/office/drawing/2014/main" val="10007"/>
                  </a:ext>
                </a:extLst>
              </a:tr>
            </a:tbl>
          </a:graphicData>
        </a:graphic>
      </p:graphicFrame>
      <p:sp>
        <p:nvSpPr>
          <p:cNvPr id="5" name="Callout">
            <a:extLst>
              <a:ext uri="{FF2B5EF4-FFF2-40B4-BE49-F238E27FC236}">
                <a16:creationId xmlns:a16="http://schemas.microsoft.com/office/drawing/2014/main" id="{7116B130-FA19-4DF6-A4A7-0BD4615EBE27}"/>
              </a:ext>
            </a:extLst>
          </p:cNvPr>
          <p:cNvSpPr>
            <a:spLocks noGrp="1"/>
          </p:cNvSpPr>
          <p:nvPr/>
        </p:nvSpPr>
        <p:spPr>
          <a:xfrm>
            <a:off x="361950" y="4476750"/>
            <a:ext cx="8420100" cy="438150"/>
          </a:xfrm>
          <a:prstGeom prst="rect">
            <a:avLst/>
          </a:prstGeom>
          <a:solidFill>
            <a:srgbClr val="E8FBF7"/>
          </a:solidFill>
          <a:ln w="9525">
            <a:solidFill>
              <a:srgbClr val="54D8C8"/>
            </a:solidFill>
            <a:prstDash val="solid"/>
          </a:ln>
        </p:spPr>
        <p:txBody>
          <a:bodyPr/>
          <a:lstStyle/>
          <a:p>
            <a:endParaRPr lang="de-DE"/>
          </a:p>
        </p:txBody>
      </p:sp>
      <p:sp>
        <p:nvSpPr>
          <p:cNvPr id="6" name="CalloutText">
            <a:extLst>
              <a:ext uri="{FF2B5EF4-FFF2-40B4-BE49-F238E27FC236}">
                <a16:creationId xmlns:a16="http://schemas.microsoft.com/office/drawing/2014/main" id="{ED6F983E-DA32-42F3-A3DF-13A79828D7D9}"/>
              </a:ext>
            </a:extLst>
          </p:cNvPr>
          <p:cNvSpPr>
            <a:spLocks noGrp="1"/>
          </p:cNvSpPr>
          <p:nvPr/>
        </p:nvSpPr>
        <p:spPr>
          <a:xfrm>
            <a:off x="457200" y="4562475"/>
            <a:ext cx="8077200" cy="266700"/>
          </a:xfrm>
          <a:prstGeom prst="rect">
            <a:avLst/>
          </a:prstGeom>
          <a:noFill/>
          <a:ln w="0">
            <a:noFill/>
            <a:prstDash val="solid"/>
          </a:ln>
        </p:spPr>
        <p:txBody>
          <a:bodyPr/>
          <a:lstStyle/>
          <a:p>
            <a:pPr algn="l">
              <a:defRPr sz="1125" b="0" i="0">
                <a:solidFill>
                  <a:srgbClr val="142746"/>
                </a:solidFill>
              </a:defRPr>
            </a:pPr>
            <a:r>
              <a:rPr lang="de-DE" sz="1125" b="0" i="0" err="1">
                <a:solidFill>
                  <a:srgbClr val="142746"/>
                </a:solidFill>
              </a:rPr>
              <a:t>Kernaussage</a:t>
            </a:r>
            <a:r>
              <a:rPr sz="1125" b="0" i="0">
                <a:solidFill>
                  <a:srgbClr val="142746"/>
                </a:solidFill>
              </a:rPr>
              <a:t>: </a:t>
            </a:r>
            <a:r>
              <a:rPr lang="de-DE" sz="1125" b="0" i="0" err="1">
                <a:solidFill>
                  <a:srgbClr val="142746"/>
                </a:solidFill>
              </a:rPr>
              <a:t>HistGradientBoosting</a:t>
            </a:r>
            <a:r>
              <a:rPr sz="1125" b="0" i="0">
                <a:solidFill>
                  <a:srgbClr val="142746"/>
                </a:solidFill>
              </a:rPr>
              <a:t> </a:t>
            </a:r>
            <a:r>
              <a:rPr lang="de-DE" sz="1125" b="0" i="0" err="1">
                <a:solidFill>
                  <a:srgbClr val="142746"/>
                </a:solidFill>
              </a:rPr>
              <a:t>liefert</a:t>
            </a:r>
            <a:r>
              <a:rPr sz="1125" b="0" i="0">
                <a:solidFill>
                  <a:srgbClr val="142746"/>
                </a:solidFill>
              </a:rPr>
              <a:t> das </a:t>
            </a:r>
            <a:r>
              <a:rPr lang="de-DE" sz="1125" b="0" i="0" err="1">
                <a:solidFill>
                  <a:srgbClr val="142746"/>
                </a:solidFill>
              </a:rPr>
              <a:t>beste</a:t>
            </a:r>
            <a:r>
              <a:rPr sz="1125" b="0" i="0">
                <a:solidFill>
                  <a:srgbClr val="142746"/>
                </a:solidFill>
              </a:rPr>
              <a:t> MAE und </a:t>
            </a:r>
            <a:r>
              <a:rPr lang="de-DE" sz="1125" b="0" i="0" err="1">
                <a:solidFill>
                  <a:srgbClr val="142746"/>
                </a:solidFill>
              </a:rPr>
              <a:t>läuft</a:t>
            </a:r>
            <a:r>
              <a:rPr sz="1125" b="0" i="0">
                <a:solidFill>
                  <a:srgbClr val="142746"/>
                </a:solidFill>
              </a:rPr>
              <a:t> </a:t>
            </a:r>
            <a:r>
              <a:rPr lang="de-DE" sz="1125" b="0" i="0" err="1">
                <a:solidFill>
                  <a:srgbClr val="142746"/>
                </a:solidFill>
              </a:rPr>
              <a:t>stabil</a:t>
            </a:r>
            <a:r>
              <a:rPr sz="1125" b="0" i="0">
                <a:solidFill>
                  <a:srgbClr val="142746"/>
                </a:solidFill>
              </a:rPr>
              <a:t> </a:t>
            </a:r>
            <a:r>
              <a:rPr lang="de-DE" sz="1125" b="0" i="0" err="1">
                <a:solidFill>
                  <a:srgbClr val="142746"/>
                </a:solidFill>
              </a:rPr>
              <a:t>ohne</a:t>
            </a:r>
            <a:r>
              <a:rPr sz="1125" b="0" i="0">
                <a:solidFill>
                  <a:srgbClr val="142746"/>
                </a:solidFill>
              </a:rPr>
              <a:t> </a:t>
            </a:r>
            <a:r>
              <a:rPr lang="de-DE" sz="1125" b="0" i="0" err="1">
                <a:solidFill>
                  <a:srgbClr val="142746"/>
                </a:solidFill>
              </a:rPr>
              <a:t>XGBoost-Systemabhängigkeit</a:t>
            </a:r>
            <a:r>
              <a:rPr sz="1125" b="0" i="0">
                <a:solidFill>
                  <a:srgbClr val="142746"/>
                </a:solidFill>
              </a:rPr>
              <a:t>.</a:t>
            </a:r>
          </a:p>
        </p:txBody>
      </p:sp>
    </p:spTree>
    <p:extLst>
      <p:ext uri="{BB962C8B-B14F-4D97-AF65-F5344CB8AC3E}">
        <p14:creationId xmlns:p14="http://schemas.microsoft.com/office/powerpoint/2010/main" val="7476573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EF4FA"/>
        </a:solidFill>
        <a:effectLst/>
      </p:bgPr>
    </p:bg>
    <p:spTree>
      <p:nvGrpSpPr>
        <p:cNvPr id="1" name=""/>
        <p:cNvGrpSpPr/>
        <p:nvPr/>
      </p:nvGrpSpPr>
      <p:grpSpPr>
        <a:xfrm>
          <a:off x="0" y="0"/>
          <a:ext cx="0" cy="0"/>
          <a:chOff x="0" y="0"/>
          <a:chExt cx="0" cy="0"/>
        </a:xfrm>
      </p:grpSpPr>
      <p:sp>
        <p:nvSpPr>
          <p:cNvPr id="30" name="TopBar">
            <a:extLst>
              <a:ext uri="{FF2B5EF4-FFF2-40B4-BE49-F238E27FC236}">
                <a16:creationId xmlns:a16="http://schemas.microsoft.com/office/drawing/2014/main" id="{74E05A94-C389-438D-9D91-CDE1AC8BA001}"/>
              </a:ext>
            </a:extLst>
          </p:cNvPr>
          <p:cNvSpPr>
            <a:spLocks noGrp="1"/>
          </p:cNvSpPr>
          <p:nvPr/>
        </p:nvSpPr>
        <p:spPr>
          <a:xfrm>
            <a:off x="0" y="0"/>
            <a:ext cx="9144000" cy="63818"/>
          </a:xfrm>
          <a:prstGeom prst="rect">
            <a:avLst/>
          </a:prstGeom>
          <a:solidFill>
            <a:srgbClr val="009681"/>
          </a:solidFill>
          <a:ln w="0">
            <a:solidFill>
              <a:srgbClr val="009681"/>
            </a:solidFill>
          </a:ln>
        </p:spPr>
        <p:txBody>
          <a:bodyPr/>
          <a:lstStyle/>
          <a:p>
            <a:endParaRPr lang="de-DE"/>
          </a:p>
        </p:txBody>
      </p:sp>
      <p:sp>
        <p:nvSpPr>
          <p:cNvPr id="2" name="Title">
            <a:extLst>
              <a:ext uri="{FF2B5EF4-FFF2-40B4-BE49-F238E27FC236}">
                <a16:creationId xmlns:a16="http://schemas.microsoft.com/office/drawing/2014/main" id="{0CCFA744-AFDD-44CC-BE04-0FEC9571669A}"/>
              </a:ext>
            </a:extLst>
          </p:cNvPr>
          <p:cNvSpPr>
            <a:spLocks noGrp="1"/>
          </p:cNvSpPr>
          <p:nvPr/>
        </p:nvSpPr>
        <p:spPr>
          <a:xfrm>
            <a:off x="326231" y="276225"/>
            <a:ext cx="7810500" cy="495300"/>
          </a:xfrm>
          <a:prstGeom prst="rect">
            <a:avLst/>
          </a:prstGeom>
          <a:noFill/>
          <a:ln w="0">
            <a:noFill/>
            <a:prstDash val="solid"/>
          </a:ln>
        </p:spPr>
        <p:txBody>
          <a:bodyPr/>
          <a:lstStyle/>
          <a:p>
            <a:pPr algn="l">
              <a:defRPr sz="2700" b="0" i="0">
                <a:solidFill>
                  <a:srgbClr val="142746"/>
                </a:solidFill>
              </a:defRPr>
            </a:pPr>
            <a:r>
              <a:rPr lang="de-DE" sz="2700" b="1" i="0" err="1">
                <a:solidFill>
                  <a:srgbClr val="142746"/>
                </a:solidFill>
              </a:rPr>
              <a:t>Gewähltes</a:t>
            </a:r>
            <a:r>
              <a:rPr lang="de-DE" sz="2700" b="1" i="0">
                <a:solidFill>
                  <a:srgbClr val="142746"/>
                </a:solidFill>
              </a:rPr>
              <a:t> Modell: </a:t>
            </a:r>
            <a:r>
              <a:rPr lang="de-DE" sz="2700" b="1" i="0" err="1">
                <a:solidFill>
                  <a:srgbClr val="142746"/>
                </a:solidFill>
              </a:rPr>
              <a:t>HistGradientBoosting</a:t>
            </a:r>
            <a:endParaRPr lang="de-DE" sz="2700" b="1" i="0">
              <a:solidFill>
                <a:srgbClr val="142746"/>
              </a:solidFill>
            </a:endParaRPr>
          </a:p>
        </p:txBody>
      </p:sp>
      <p:sp>
        <p:nvSpPr>
          <p:cNvPr id="3" name="Subtitle">
            <a:extLst>
              <a:ext uri="{FF2B5EF4-FFF2-40B4-BE49-F238E27FC236}">
                <a16:creationId xmlns:a16="http://schemas.microsoft.com/office/drawing/2014/main" id="{EBAC0D4C-E14C-49F5-96AF-55F493232798}"/>
              </a:ext>
            </a:extLst>
          </p:cNvPr>
          <p:cNvSpPr>
            <a:spLocks noGrp="1"/>
          </p:cNvSpPr>
          <p:nvPr/>
        </p:nvSpPr>
        <p:spPr>
          <a:xfrm>
            <a:off x="326231" y="781050"/>
            <a:ext cx="7810500" cy="266700"/>
          </a:xfrm>
          <a:prstGeom prst="rect">
            <a:avLst/>
          </a:prstGeom>
          <a:noFill/>
          <a:ln w="0">
            <a:noFill/>
            <a:prstDash val="solid"/>
          </a:ln>
        </p:spPr>
        <p:txBody>
          <a:bodyPr/>
          <a:lstStyle/>
          <a:p>
            <a:pPr algn="l">
              <a:defRPr sz="1125" b="0" i="1">
                <a:solidFill>
                  <a:srgbClr val="68768E"/>
                </a:solidFill>
              </a:defRPr>
            </a:pPr>
            <a:r>
              <a:rPr sz="1125" b="0" i="1">
                <a:solidFill>
                  <a:srgbClr val="68768E"/>
                </a:solidFill>
              </a:rPr>
              <a:t>Stage 1 </a:t>
            </a:r>
            <a:r>
              <a:rPr lang="de-DE" sz="1125" b="0" i="1" err="1">
                <a:solidFill>
                  <a:srgbClr val="68768E"/>
                </a:solidFill>
              </a:rPr>
              <a:t>berechnet</a:t>
            </a:r>
            <a:r>
              <a:rPr sz="1125" b="0" i="1">
                <a:solidFill>
                  <a:srgbClr val="68768E"/>
                </a:solidFill>
              </a:rPr>
              <a:t> den </a:t>
            </a:r>
            <a:r>
              <a:rPr lang="de-DE" sz="1125" b="0" i="1" err="1">
                <a:solidFill>
                  <a:srgbClr val="68768E"/>
                </a:solidFill>
              </a:rPr>
              <a:t>fahrzeugbezogenen</a:t>
            </a:r>
            <a:r>
              <a:rPr sz="1125" b="0" i="1">
                <a:solidFill>
                  <a:srgbClr val="68768E"/>
                </a:solidFill>
              </a:rPr>
              <a:t> </a:t>
            </a:r>
            <a:r>
              <a:rPr lang="de-DE" sz="1125" b="0" i="1" err="1">
                <a:solidFill>
                  <a:srgbClr val="68768E"/>
                </a:solidFill>
              </a:rPr>
              <a:t>Basispreis</a:t>
            </a:r>
            <a:endParaRPr sz="1125" b="0" i="1">
              <a:solidFill>
                <a:srgbClr val="68768E"/>
              </a:solidFill>
            </a:endParaRPr>
          </a:p>
        </p:txBody>
      </p:sp>
      <p:sp>
        <p:nvSpPr>
          <p:cNvPr id="4" name="MetricBox">
            <a:extLst>
              <a:ext uri="{FF2B5EF4-FFF2-40B4-BE49-F238E27FC236}">
                <a16:creationId xmlns:a16="http://schemas.microsoft.com/office/drawing/2014/main" id="{567A4248-478F-4884-92B2-774A790062EE}"/>
              </a:ext>
            </a:extLst>
          </p:cNvPr>
          <p:cNvSpPr>
            <a:spLocks noGrp="1"/>
          </p:cNvSpPr>
          <p:nvPr/>
        </p:nvSpPr>
        <p:spPr>
          <a:xfrm>
            <a:off x="342900" y="1028700"/>
            <a:ext cx="1962150" cy="876300"/>
          </a:xfrm>
          <a:prstGeom prst="rect">
            <a:avLst/>
          </a:prstGeom>
          <a:solidFill>
            <a:srgbClr val="FFFFFF"/>
          </a:solidFill>
          <a:ln w="9525">
            <a:solidFill>
              <a:srgbClr val="DCE4EE"/>
            </a:solidFill>
            <a:prstDash val="solid"/>
          </a:ln>
        </p:spPr>
        <p:txBody>
          <a:bodyPr/>
          <a:lstStyle/>
          <a:p>
            <a:endParaRPr lang="de-DE"/>
          </a:p>
        </p:txBody>
      </p:sp>
      <p:sp>
        <p:nvSpPr>
          <p:cNvPr id="5" name="Text">
            <a:extLst>
              <a:ext uri="{FF2B5EF4-FFF2-40B4-BE49-F238E27FC236}">
                <a16:creationId xmlns:a16="http://schemas.microsoft.com/office/drawing/2014/main" id="{8C9071F8-D713-4761-B97A-5602A820F4DC}"/>
              </a:ext>
            </a:extLst>
          </p:cNvPr>
          <p:cNvSpPr>
            <a:spLocks noGrp="1"/>
          </p:cNvSpPr>
          <p:nvPr/>
        </p:nvSpPr>
        <p:spPr>
          <a:xfrm>
            <a:off x="457200" y="1171575"/>
            <a:ext cx="1733550" cy="342900"/>
          </a:xfrm>
          <a:prstGeom prst="rect">
            <a:avLst/>
          </a:prstGeom>
          <a:noFill/>
          <a:ln w="0">
            <a:noFill/>
            <a:prstDash val="solid"/>
          </a:ln>
        </p:spPr>
        <p:txBody>
          <a:bodyPr/>
          <a:lstStyle/>
          <a:p>
            <a:pPr algn="ctr">
              <a:defRPr sz="2100" b="0" i="0">
                <a:solidFill>
                  <a:srgbClr val="009681"/>
                </a:solidFill>
              </a:defRPr>
            </a:pPr>
            <a:r>
              <a:rPr sz="2100" b="0" i="0">
                <a:solidFill>
                  <a:srgbClr val="009681"/>
                </a:solidFill>
              </a:rPr>
              <a:t>$1.850</a:t>
            </a:r>
          </a:p>
        </p:txBody>
      </p:sp>
      <p:sp>
        <p:nvSpPr>
          <p:cNvPr id="6" name="Text">
            <a:extLst>
              <a:ext uri="{FF2B5EF4-FFF2-40B4-BE49-F238E27FC236}">
                <a16:creationId xmlns:a16="http://schemas.microsoft.com/office/drawing/2014/main" id="{51448AC0-9F6E-44F5-BB99-574AE7CC9A64}"/>
              </a:ext>
            </a:extLst>
          </p:cNvPr>
          <p:cNvSpPr>
            <a:spLocks noGrp="1"/>
          </p:cNvSpPr>
          <p:nvPr/>
        </p:nvSpPr>
        <p:spPr>
          <a:xfrm>
            <a:off x="457200" y="1562100"/>
            <a:ext cx="1733550" cy="228600"/>
          </a:xfrm>
          <a:prstGeom prst="rect">
            <a:avLst/>
          </a:prstGeom>
          <a:noFill/>
          <a:ln w="0">
            <a:noFill/>
            <a:prstDash val="solid"/>
          </a:ln>
        </p:spPr>
        <p:txBody>
          <a:bodyPr/>
          <a:lstStyle/>
          <a:p>
            <a:pPr algn="ctr">
              <a:defRPr sz="900" b="0" i="0">
                <a:solidFill>
                  <a:srgbClr val="142746"/>
                </a:solidFill>
              </a:defRPr>
            </a:pPr>
            <a:r>
              <a:rPr sz="900" b="0" i="0">
                <a:solidFill>
                  <a:srgbClr val="142746"/>
                </a:solidFill>
              </a:rPr>
              <a:t>MAE aktuelles App-Modell</a:t>
            </a:r>
          </a:p>
        </p:txBody>
      </p:sp>
      <p:sp>
        <p:nvSpPr>
          <p:cNvPr id="7" name="MetricBox">
            <a:extLst>
              <a:ext uri="{FF2B5EF4-FFF2-40B4-BE49-F238E27FC236}">
                <a16:creationId xmlns:a16="http://schemas.microsoft.com/office/drawing/2014/main" id="{31A8FD4B-1468-459C-91E4-D4476FA7A591}"/>
              </a:ext>
            </a:extLst>
          </p:cNvPr>
          <p:cNvSpPr>
            <a:spLocks noGrp="1"/>
          </p:cNvSpPr>
          <p:nvPr/>
        </p:nvSpPr>
        <p:spPr>
          <a:xfrm>
            <a:off x="2495550" y="1028700"/>
            <a:ext cx="1962150" cy="876300"/>
          </a:xfrm>
          <a:prstGeom prst="rect">
            <a:avLst/>
          </a:prstGeom>
          <a:solidFill>
            <a:srgbClr val="FFFFFF"/>
          </a:solidFill>
          <a:ln w="9525">
            <a:solidFill>
              <a:srgbClr val="DCE4EE"/>
            </a:solidFill>
            <a:prstDash val="solid"/>
          </a:ln>
        </p:spPr>
        <p:txBody>
          <a:bodyPr/>
          <a:lstStyle/>
          <a:p>
            <a:endParaRPr lang="de-DE"/>
          </a:p>
        </p:txBody>
      </p:sp>
      <p:sp>
        <p:nvSpPr>
          <p:cNvPr id="8" name="Text">
            <a:extLst>
              <a:ext uri="{FF2B5EF4-FFF2-40B4-BE49-F238E27FC236}">
                <a16:creationId xmlns:a16="http://schemas.microsoft.com/office/drawing/2014/main" id="{EF70112C-2B94-48A4-B936-D6E96847779A}"/>
              </a:ext>
            </a:extLst>
          </p:cNvPr>
          <p:cNvSpPr>
            <a:spLocks noGrp="1"/>
          </p:cNvSpPr>
          <p:nvPr/>
        </p:nvSpPr>
        <p:spPr>
          <a:xfrm>
            <a:off x="2609850" y="1171575"/>
            <a:ext cx="1733550" cy="342900"/>
          </a:xfrm>
          <a:prstGeom prst="rect">
            <a:avLst/>
          </a:prstGeom>
          <a:noFill/>
          <a:ln w="0">
            <a:noFill/>
            <a:prstDash val="solid"/>
          </a:ln>
        </p:spPr>
        <p:txBody>
          <a:bodyPr/>
          <a:lstStyle/>
          <a:p>
            <a:pPr algn="ctr">
              <a:defRPr sz="2100" b="0" i="0">
                <a:solidFill>
                  <a:srgbClr val="009681"/>
                </a:solidFill>
              </a:defRPr>
            </a:pPr>
            <a:r>
              <a:rPr sz="2100" b="0" i="0">
                <a:solidFill>
                  <a:srgbClr val="009681"/>
                </a:solidFill>
              </a:rPr>
              <a:t>0.882</a:t>
            </a:r>
          </a:p>
        </p:txBody>
      </p:sp>
      <p:sp>
        <p:nvSpPr>
          <p:cNvPr id="9" name="Text">
            <a:extLst>
              <a:ext uri="{FF2B5EF4-FFF2-40B4-BE49-F238E27FC236}">
                <a16:creationId xmlns:a16="http://schemas.microsoft.com/office/drawing/2014/main" id="{CE4B1630-D2A4-4179-ACD4-900D13253489}"/>
              </a:ext>
            </a:extLst>
          </p:cNvPr>
          <p:cNvSpPr>
            <a:spLocks noGrp="1"/>
          </p:cNvSpPr>
          <p:nvPr/>
        </p:nvSpPr>
        <p:spPr>
          <a:xfrm>
            <a:off x="2609850" y="1562100"/>
            <a:ext cx="1733550" cy="228600"/>
          </a:xfrm>
          <a:prstGeom prst="rect">
            <a:avLst/>
          </a:prstGeom>
          <a:noFill/>
          <a:ln w="0">
            <a:noFill/>
            <a:prstDash val="solid"/>
          </a:ln>
        </p:spPr>
        <p:txBody>
          <a:bodyPr/>
          <a:lstStyle/>
          <a:p>
            <a:pPr algn="ctr">
              <a:defRPr sz="900" b="0" i="0">
                <a:solidFill>
                  <a:srgbClr val="142746"/>
                </a:solidFill>
              </a:defRPr>
            </a:pPr>
            <a:r>
              <a:rPr sz="900" b="0" i="0">
                <a:solidFill>
                  <a:srgbClr val="142746"/>
                </a:solidFill>
              </a:rPr>
              <a:t>R² Score</a:t>
            </a:r>
          </a:p>
        </p:txBody>
      </p:sp>
      <p:sp>
        <p:nvSpPr>
          <p:cNvPr id="10" name="MetricBox">
            <a:extLst>
              <a:ext uri="{FF2B5EF4-FFF2-40B4-BE49-F238E27FC236}">
                <a16:creationId xmlns:a16="http://schemas.microsoft.com/office/drawing/2014/main" id="{007D3546-3900-4A5D-A82D-7858B60E75CC}"/>
              </a:ext>
            </a:extLst>
          </p:cNvPr>
          <p:cNvSpPr>
            <a:spLocks noGrp="1"/>
          </p:cNvSpPr>
          <p:nvPr/>
        </p:nvSpPr>
        <p:spPr>
          <a:xfrm>
            <a:off x="4648200" y="1028700"/>
            <a:ext cx="1962150" cy="876300"/>
          </a:xfrm>
          <a:prstGeom prst="rect">
            <a:avLst/>
          </a:prstGeom>
          <a:solidFill>
            <a:srgbClr val="FFFFFF"/>
          </a:solidFill>
          <a:ln w="9525">
            <a:solidFill>
              <a:srgbClr val="DCE4EE"/>
            </a:solidFill>
            <a:prstDash val="solid"/>
          </a:ln>
        </p:spPr>
        <p:txBody>
          <a:bodyPr/>
          <a:lstStyle/>
          <a:p>
            <a:endParaRPr lang="de-DE"/>
          </a:p>
        </p:txBody>
      </p:sp>
      <p:sp>
        <p:nvSpPr>
          <p:cNvPr id="11" name="Text">
            <a:extLst>
              <a:ext uri="{FF2B5EF4-FFF2-40B4-BE49-F238E27FC236}">
                <a16:creationId xmlns:a16="http://schemas.microsoft.com/office/drawing/2014/main" id="{D5D65470-E8BA-4547-9164-BB7F768A045B}"/>
              </a:ext>
            </a:extLst>
          </p:cNvPr>
          <p:cNvSpPr>
            <a:spLocks noGrp="1"/>
          </p:cNvSpPr>
          <p:nvPr/>
        </p:nvSpPr>
        <p:spPr>
          <a:xfrm>
            <a:off x="4762500" y="1171575"/>
            <a:ext cx="1733550" cy="342900"/>
          </a:xfrm>
          <a:prstGeom prst="rect">
            <a:avLst/>
          </a:prstGeom>
          <a:noFill/>
          <a:ln w="0">
            <a:noFill/>
            <a:prstDash val="solid"/>
          </a:ln>
        </p:spPr>
        <p:txBody>
          <a:bodyPr/>
          <a:lstStyle/>
          <a:p>
            <a:pPr algn="ctr">
              <a:defRPr sz="2100" b="0" i="0">
                <a:solidFill>
                  <a:srgbClr val="009681"/>
                </a:solidFill>
              </a:defRPr>
            </a:pPr>
            <a:r>
              <a:rPr sz="2100" b="0" i="0">
                <a:solidFill>
                  <a:srgbClr val="009681"/>
                </a:solidFill>
              </a:rPr>
              <a:t>16,4 %</a:t>
            </a:r>
          </a:p>
        </p:txBody>
      </p:sp>
      <p:sp>
        <p:nvSpPr>
          <p:cNvPr id="12" name="Text">
            <a:extLst>
              <a:ext uri="{FF2B5EF4-FFF2-40B4-BE49-F238E27FC236}">
                <a16:creationId xmlns:a16="http://schemas.microsoft.com/office/drawing/2014/main" id="{0730EA2F-A79C-4D69-A085-6E5B91460AC4}"/>
              </a:ext>
            </a:extLst>
          </p:cNvPr>
          <p:cNvSpPr>
            <a:spLocks noGrp="1"/>
          </p:cNvSpPr>
          <p:nvPr/>
        </p:nvSpPr>
        <p:spPr>
          <a:xfrm>
            <a:off x="4762500" y="1562100"/>
            <a:ext cx="1733550" cy="228600"/>
          </a:xfrm>
          <a:prstGeom prst="rect">
            <a:avLst/>
          </a:prstGeom>
          <a:noFill/>
          <a:ln w="0">
            <a:noFill/>
            <a:prstDash val="solid"/>
          </a:ln>
        </p:spPr>
        <p:txBody>
          <a:bodyPr/>
          <a:lstStyle/>
          <a:p>
            <a:pPr algn="ctr">
              <a:defRPr sz="900" b="0" i="0">
                <a:solidFill>
                  <a:srgbClr val="142746"/>
                </a:solidFill>
              </a:defRPr>
            </a:pPr>
            <a:r>
              <a:rPr sz="900" b="0" i="0">
                <a:solidFill>
                  <a:srgbClr val="142746"/>
                </a:solidFill>
              </a:rPr>
              <a:t>MAPE</a:t>
            </a:r>
          </a:p>
        </p:txBody>
      </p:sp>
      <p:sp>
        <p:nvSpPr>
          <p:cNvPr id="13" name="MetricBox">
            <a:extLst>
              <a:ext uri="{FF2B5EF4-FFF2-40B4-BE49-F238E27FC236}">
                <a16:creationId xmlns:a16="http://schemas.microsoft.com/office/drawing/2014/main" id="{703841A9-F526-416B-815A-6ABA85FF396B}"/>
              </a:ext>
            </a:extLst>
          </p:cNvPr>
          <p:cNvSpPr>
            <a:spLocks noGrp="1"/>
          </p:cNvSpPr>
          <p:nvPr/>
        </p:nvSpPr>
        <p:spPr>
          <a:xfrm>
            <a:off x="6800850" y="1028700"/>
            <a:ext cx="1962150" cy="876300"/>
          </a:xfrm>
          <a:prstGeom prst="rect">
            <a:avLst/>
          </a:prstGeom>
          <a:solidFill>
            <a:srgbClr val="FFFFFF"/>
          </a:solidFill>
          <a:ln w="9525">
            <a:solidFill>
              <a:srgbClr val="DCE4EE"/>
            </a:solidFill>
            <a:prstDash val="solid"/>
          </a:ln>
        </p:spPr>
        <p:txBody>
          <a:bodyPr/>
          <a:lstStyle/>
          <a:p>
            <a:endParaRPr lang="de-DE"/>
          </a:p>
        </p:txBody>
      </p:sp>
      <p:sp>
        <p:nvSpPr>
          <p:cNvPr id="14" name="Text">
            <a:extLst>
              <a:ext uri="{FF2B5EF4-FFF2-40B4-BE49-F238E27FC236}">
                <a16:creationId xmlns:a16="http://schemas.microsoft.com/office/drawing/2014/main" id="{E76AFE2B-DBA9-49DC-ACCF-C95E8EDA780A}"/>
              </a:ext>
            </a:extLst>
          </p:cNvPr>
          <p:cNvSpPr>
            <a:spLocks noGrp="1"/>
          </p:cNvSpPr>
          <p:nvPr/>
        </p:nvSpPr>
        <p:spPr>
          <a:xfrm>
            <a:off x="6915150" y="1171575"/>
            <a:ext cx="1733550" cy="342900"/>
          </a:xfrm>
          <a:prstGeom prst="rect">
            <a:avLst/>
          </a:prstGeom>
          <a:noFill/>
          <a:ln w="0">
            <a:noFill/>
            <a:prstDash val="solid"/>
          </a:ln>
        </p:spPr>
        <p:txBody>
          <a:bodyPr/>
          <a:lstStyle/>
          <a:p>
            <a:pPr algn="ctr">
              <a:defRPr sz="2100" b="0" i="0">
                <a:solidFill>
                  <a:srgbClr val="009681"/>
                </a:solidFill>
              </a:defRPr>
            </a:pPr>
            <a:r>
              <a:rPr sz="2100" b="0" i="0">
                <a:solidFill>
                  <a:srgbClr val="009681"/>
                </a:solidFill>
              </a:rPr>
              <a:t>$</a:t>
            </a:r>
            <a:r>
              <a:rPr lang="de-DE" sz="2100" b="0" i="0">
                <a:solidFill>
                  <a:srgbClr val="009681"/>
                </a:solidFill>
              </a:rPr>
              <a:t>14.010</a:t>
            </a:r>
            <a:endParaRPr sz="2100" b="0" i="0">
              <a:solidFill>
                <a:srgbClr val="009681"/>
              </a:solidFill>
            </a:endParaRPr>
          </a:p>
        </p:txBody>
      </p:sp>
      <p:sp>
        <p:nvSpPr>
          <p:cNvPr id="15" name="Text">
            <a:extLst>
              <a:ext uri="{FF2B5EF4-FFF2-40B4-BE49-F238E27FC236}">
                <a16:creationId xmlns:a16="http://schemas.microsoft.com/office/drawing/2014/main" id="{3CB8B438-3A7B-48BB-B74F-E1F9877D7FD9}"/>
              </a:ext>
            </a:extLst>
          </p:cNvPr>
          <p:cNvSpPr>
            <a:spLocks noGrp="1"/>
          </p:cNvSpPr>
          <p:nvPr/>
        </p:nvSpPr>
        <p:spPr>
          <a:xfrm>
            <a:off x="6915150" y="1562100"/>
            <a:ext cx="1733550" cy="228600"/>
          </a:xfrm>
          <a:prstGeom prst="rect">
            <a:avLst/>
          </a:prstGeom>
          <a:noFill/>
          <a:ln w="0">
            <a:noFill/>
            <a:prstDash val="solid"/>
          </a:ln>
        </p:spPr>
        <p:txBody>
          <a:bodyPr/>
          <a:lstStyle/>
          <a:p>
            <a:pPr algn="ctr">
              <a:defRPr sz="900" b="0" i="0">
                <a:solidFill>
                  <a:srgbClr val="142746"/>
                </a:solidFill>
              </a:defRPr>
            </a:pPr>
            <a:r>
              <a:rPr sz="900" b="0" i="0">
                <a:solidFill>
                  <a:srgbClr val="142746"/>
                </a:solidFill>
              </a:rPr>
              <a:t>Ø Preis im Testset</a:t>
            </a:r>
          </a:p>
        </p:txBody>
      </p:sp>
      <p:sp>
        <p:nvSpPr>
          <p:cNvPr id="16" name="Text">
            <a:extLst>
              <a:ext uri="{FF2B5EF4-FFF2-40B4-BE49-F238E27FC236}">
                <a16:creationId xmlns:a16="http://schemas.microsoft.com/office/drawing/2014/main" id="{EFB5816C-6C15-44B0-A63B-8C836D79F86B}"/>
              </a:ext>
            </a:extLst>
          </p:cNvPr>
          <p:cNvSpPr>
            <a:spLocks noGrp="1"/>
          </p:cNvSpPr>
          <p:nvPr/>
        </p:nvSpPr>
        <p:spPr>
          <a:xfrm>
            <a:off x="361950" y="2171700"/>
            <a:ext cx="3619500" cy="285750"/>
          </a:xfrm>
          <a:prstGeom prst="rect">
            <a:avLst/>
          </a:prstGeom>
          <a:noFill/>
          <a:ln w="0">
            <a:noFill/>
            <a:prstDash val="solid"/>
          </a:ln>
        </p:spPr>
        <p:txBody>
          <a:bodyPr/>
          <a:lstStyle/>
          <a:p>
            <a:pPr algn="l">
              <a:defRPr sz="1350" b="0" i="0">
                <a:solidFill>
                  <a:srgbClr val="142746"/>
                </a:solidFill>
              </a:defRPr>
            </a:pPr>
            <a:r>
              <a:rPr sz="1350" b="0" i="0">
                <a:solidFill>
                  <a:srgbClr val="142746"/>
                </a:solidFill>
              </a:rPr>
              <a:t>Wichtigste Features</a:t>
            </a:r>
          </a:p>
        </p:txBody>
      </p:sp>
      <p:sp>
        <p:nvSpPr>
          <p:cNvPr id="17" name="Text">
            <a:extLst>
              <a:ext uri="{FF2B5EF4-FFF2-40B4-BE49-F238E27FC236}">
                <a16:creationId xmlns:a16="http://schemas.microsoft.com/office/drawing/2014/main" id="{75AD24C0-4D06-41B7-91C2-F01FDB6DFB26}"/>
              </a:ext>
            </a:extLst>
          </p:cNvPr>
          <p:cNvSpPr>
            <a:spLocks noGrp="1"/>
          </p:cNvSpPr>
          <p:nvPr/>
        </p:nvSpPr>
        <p:spPr>
          <a:xfrm>
            <a:off x="476250" y="2533650"/>
            <a:ext cx="952500" cy="171450"/>
          </a:xfrm>
          <a:prstGeom prst="rect">
            <a:avLst/>
          </a:prstGeom>
          <a:noFill/>
          <a:ln w="0">
            <a:noFill/>
            <a:prstDash val="solid"/>
          </a:ln>
        </p:spPr>
        <p:txBody>
          <a:bodyPr/>
          <a:lstStyle/>
          <a:p>
            <a:pPr algn="r">
              <a:defRPr sz="1050" b="0" i="0">
                <a:solidFill>
                  <a:srgbClr val="68768E"/>
                </a:solidFill>
              </a:defRPr>
            </a:pPr>
            <a:r>
              <a:rPr sz="1050" b="0" i="0">
                <a:solidFill>
                  <a:srgbClr val="68768E"/>
                </a:solidFill>
              </a:rPr>
              <a:t>make</a:t>
            </a:r>
          </a:p>
        </p:txBody>
      </p:sp>
      <p:sp>
        <p:nvSpPr>
          <p:cNvPr id="18" name="Bar">
            <a:extLst>
              <a:ext uri="{FF2B5EF4-FFF2-40B4-BE49-F238E27FC236}">
                <a16:creationId xmlns:a16="http://schemas.microsoft.com/office/drawing/2014/main" id="{C1E8C608-5A38-4B46-AFD5-A4AEB2BAA98D}"/>
              </a:ext>
            </a:extLst>
          </p:cNvPr>
          <p:cNvSpPr>
            <a:spLocks noGrp="1"/>
          </p:cNvSpPr>
          <p:nvPr/>
        </p:nvSpPr>
        <p:spPr>
          <a:xfrm>
            <a:off x="1524000" y="2552700"/>
            <a:ext cx="2381250" cy="114300"/>
          </a:xfrm>
          <a:prstGeom prst="rect">
            <a:avLst/>
          </a:prstGeom>
          <a:solidFill>
            <a:srgbClr val="009681"/>
          </a:solidFill>
          <a:ln w="9525">
            <a:noFill/>
            <a:prstDash val="solid"/>
          </a:ln>
        </p:spPr>
        <p:txBody>
          <a:bodyPr/>
          <a:lstStyle/>
          <a:p>
            <a:endParaRPr lang="de-DE"/>
          </a:p>
        </p:txBody>
      </p:sp>
      <p:sp>
        <p:nvSpPr>
          <p:cNvPr id="19" name="Text">
            <a:extLst>
              <a:ext uri="{FF2B5EF4-FFF2-40B4-BE49-F238E27FC236}">
                <a16:creationId xmlns:a16="http://schemas.microsoft.com/office/drawing/2014/main" id="{11A3E343-C7D4-4692-A36B-8E7D1ABD4E15}"/>
              </a:ext>
            </a:extLst>
          </p:cNvPr>
          <p:cNvSpPr>
            <a:spLocks noGrp="1"/>
          </p:cNvSpPr>
          <p:nvPr/>
        </p:nvSpPr>
        <p:spPr>
          <a:xfrm>
            <a:off x="476250" y="2857500"/>
            <a:ext cx="952500" cy="171450"/>
          </a:xfrm>
          <a:prstGeom prst="rect">
            <a:avLst/>
          </a:prstGeom>
          <a:noFill/>
          <a:ln w="0">
            <a:noFill/>
            <a:prstDash val="solid"/>
          </a:ln>
        </p:spPr>
        <p:txBody>
          <a:bodyPr/>
          <a:lstStyle/>
          <a:p>
            <a:pPr algn="r">
              <a:defRPr sz="1050" b="0" i="0">
                <a:solidFill>
                  <a:srgbClr val="68768E"/>
                </a:solidFill>
              </a:defRPr>
            </a:pPr>
            <a:r>
              <a:rPr sz="1050" b="0" i="0">
                <a:solidFill>
                  <a:srgbClr val="68768E"/>
                </a:solidFill>
              </a:rPr>
              <a:t>vehicle_age</a:t>
            </a:r>
          </a:p>
        </p:txBody>
      </p:sp>
      <p:sp>
        <p:nvSpPr>
          <p:cNvPr id="20" name="Bar">
            <a:extLst>
              <a:ext uri="{FF2B5EF4-FFF2-40B4-BE49-F238E27FC236}">
                <a16:creationId xmlns:a16="http://schemas.microsoft.com/office/drawing/2014/main" id="{6DF94D56-67CB-4D0F-87EE-D83AA77DB000}"/>
              </a:ext>
            </a:extLst>
          </p:cNvPr>
          <p:cNvSpPr>
            <a:spLocks noGrp="1"/>
          </p:cNvSpPr>
          <p:nvPr/>
        </p:nvSpPr>
        <p:spPr>
          <a:xfrm>
            <a:off x="1524000" y="2876550"/>
            <a:ext cx="2333625" cy="114300"/>
          </a:xfrm>
          <a:prstGeom prst="rect">
            <a:avLst/>
          </a:prstGeom>
          <a:solidFill>
            <a:srgbClr val="009681"/>
          </a:solidFill>
          <a:ln w="9525">
            <a:noFill/>
            <a:prstDash val="solid"/>
          </a:ln>
        </p:spPr>
        <p:txBody>
          <a:bodyPr/>
          <a:lstStyle/>
          <a:p>
            <a:endParaRPr lang="de-DE"/>
          </a:p>
        </p:txBody>
      </p:sp>
      <p:sp>
        <p:nvSpPr>
          <p:cNvPr id="21" name="Text">
            <a:extLst>
              <a:ext uri="{FF2B5EF4-FFF2-40B4-BE49-F238E27FC236}">
                <a16:creationId xmlns:a16="http://schemas.microsoft.com/office/drawing/2014/main" id="{61FE2AC0-8806-4B72-9C93-735AFAC69DCF}"/>
              </a:ext>
            </a:extLst>
          </p:cNvPr>
          <p:cNvSpPr>
            <a:spLocks noGrp="1"/>
          </p:cNvSpPr>
          <p:nvPr/>
        </p:nvSpPr>
        <p:spPr>
          <a:xfrm>
            <a:off x="476250" y="3181350"/>
            <a:ext cx="952500" cy="171450"/>
          </a:xfrm>
          <a:prstGeom prst="rect">
            <a:avLst/>
          </a:prstGeom>
          <a:noFill/>
          <a:ln w="0">
            <a:noFill/>
            <a:prstDash val="solid"/>
          </a:ln>
        </p:spPr>
        <p:txBody>
          <a:bodyPr/>
          <a:lstStyle/>
          <a:p>
            <a:pPr algn="r">
              <a:defRPr sz="1050" b="0" i="0">
                <a:solidFill>
                  <a:srgbClr val="68768E"/>
                </a:solidFill>
              </a:defRPr>
            </a:pPr>
            <a:r>
              <a:rPr sz="1050" b="0" i="0">
                <a:solidFill>
                  <a:srgbClr val="68768E"/>
                </a:solidFill>
              </a:rPr>
              <a:t>body</a:t>
            </a:r>
          </a:p>
        </p:txBody>
      </p:sp>
      <p:sp>
        <p:nvSpPr>
          <p:cNvPr id="22" name="Bar">
            <a:extLst>
              <a:ext uri="{FF2B5EF4-FFF2-40B4-BE49-F238E27FC236}">
                <a16:creationId xmlns:a16="http://schemas.microsoft.com/office/drawing/2014/main" id="{4CC1F4A4-E245-4E0F-913C-3AD6A6507950}"/>
              </a:ext>
            </a:extLst>
          </p:cNvPr>
          <p:cNvSpPr>
            <a:spLocks noGrp="1"/>
          </p:cNvSpPr>
          <p:nvPr/>
        </p:nvSpPr>
        <p:spPr>
          <a:xfrm>
            <a:off x="1524000" y="3200400"/>
            <a:ext cx="1976438" cy="114300"/>
          </a:xfrm>
          <a:prstGeom prst="rect">
            <a:avLst/>
          </a:prstGeom>
          <a:solidFill>
            <a:srgbClr val="18B7A6"/>
          </a:solidFill>
          <a:ln w="9525">
            <a:noFill/>
            <a:prstDash val="solid"/>
          </a:ln>
        </p:spPr>
        <p:txBody>
          <a:bodyPr/>
          <a:lstStyle/>
          <a:p>
            <a:endParaRPr lang="de-DE"/>
          </a:p>
        </p:txBody>
      </p:sp>
      <p:sp>
        <p:nvSpPr>
          <p:cNvPr id="23" name="Text">
            <a:extLst>
              <a:ext uri="{FF2B5EF4-FFF2-40B4-BE49-F238E27FC236}">
                <a16:creationId xmlns:a16="http://schemas.microsoft.com/office/drawing/2014/main" id="{0EC7ED39-A045-434C-826F-77952705FF5C}"/>
              </a:ext>
            </a:extLst>
          </p:cNvPr>
          <p:cNvSpPr>
            <a:spLocks noGrp="1"/>
          </p:cNvSpPr>
          <p:nvPr/>
        </p:nvSpPr>
        <p:spPr>
          <a:xfrm>
            <a:off x="476250" y="3505200"/>
            <a:ext cx="952500" cy="171450"/>
          </a:xfrm>
          <a:prstGeom prst="rect">
            <a:avLst/>
          </a:prstGeom>
          <a:noFill/>
          <a:ln w="0">
            <a:noFill/>
            <a:prstDash val="solid"/>
          </a:ln>
        </p:spPr>
        <p:txBody>
          <a:bodyPr/>
          <a:lstStyle/>
          <a:p>
            <a:pPr algn="r">
              <a:defRPr sz="1050" b="0" i="0">
                <a:solidFill>
                  <a:srgbClr val="68768E"/>
                </a:solidFill>
              </a:defRPr>
            </a:pPr>
            <a:r>
              <a:rPr sz="1050" b="0" i="0">
                <a:solidFill>
                  <a:srgbClr val="68768E"/>
                </a:solidFill>
              </a:rPr>
              <a:t>odometer</a:t>
            </a:r>
          </a:p>
        </p:txBody>
      </p:sp>
      <p:sp>
        <p:nvSpPr>
          <p:cNvPr id="24" name="Bar">
            <a:extLst>
              <a:ext uri="{FF2B5EF4-FFF2-40B4-BE49-F238E27FC236}">
                <a16:creationId xmlns:a16="http://schemas.microsoft.com/office/drawing/2014/main" id="{5DD5C054-A90B-4602-B132-D29A1AE28DF1}"/>
              </a:ext>
            </a:extLst>
          </p:cNvPr>
          <p:cNvSpPr>
            <a:spLocks noGrp="1"/>
          </p:cNvSpPr>
          <p:nvPr/>
        </p:nvSpPr>
        <p:spPr>
          <a:xfrm>
            <a:off x="1524000" y="3524250"/>
            <a:ext cx="1833563" cy="114300"/>
          </a:xfrm>
          <a:prstGeom prst="rect">
            <a:avLst/>
          </a:prstGeom>
          <a:solidFill>
            <a:srgbClr val="18B7A6"/>
          </a:solidFill>
          <a:ln w="9525">
            <a:noFill/>
            <a:prstDash val="solid"/>
          </a:ln>
        </p:spPr>
        <p:txBody>
          <a:bodyPr/>
          <a:lstStyle/>
          <a:p>
            <a:endParaRPr lang="de-DE"/>
          </a:p>
        </p:txBody>
      </p:sp>
      <p:sp>
        <p:nvSpPr>
          <p:cNvPr id="25" name="Text">
            <a:extLst>
              <a:ext uri="{FF2B5EF4-FFF2-40B4-BE49-F238E27FC236}">
                <a16:creationId xmlns:a16="http://schemas.microsoft.com/office/drawing/2014/main" id="{37C5ADF8-48CD-44D1-9876-48CFF8C6BBC4}"/>
              </a:ext>
            </a:extLst>
          </p:cNvPr>
          <p:cNvSpPr>
            <a:spLocks noGrp="1"/>
          </p:cNvSpPr>
          <p:nvPr/>
        </p:nvSpPr>
        <p:spPr>
          <a:xfrm>
            <a:off x="476250" y="3829050"/>
            <a:ext cx="952500" cy="171450"/>
          </a:xfrm>
          <a:prstGeom prst="rect">
            <a:avLst/>
          </a:prstGeom>
          <a:noFill/>
          <a:ln w="0">
            <a:noFill/>
            <a:prstDash val="solid"/>
          </a:ln>
        </p:spPr>
        <p:txBody>
          <a:bodyPr/>
          <a:lstStyle/>
          <a:p>
            <a:pPr algn="r">
              <a:defRPr sz="1050" b="0" i="0">
                <a:solidFill>
                  <a:srgbClr val="68768E"/>
                </a:solidFill>
              </a:defRPr>
            </a:pPr>
            <a:r>
              <a:rPr sz="1050" b="0" i="0">
                <a:solidFill>
                  <a:srgbClr val="68768E"/>
                </a:solidFill>
              </a:rPr>
              <a:t>model</a:t>
            </a:r>
          </a:p>
        </p:txBody>
      </p:sp>
      <p:sp>
        <p:nvSpPr>
          <p:cNvPr id="26" name="Bar">
            <a:extLst>
              <a:ext uri="{FF2B5EF4-FFF2-40B4-BE49-F238E27FC236}">
                <a16:creationId xmlns:a16="http://schemas.microsoft.com/office/drawing/2014/main" id="{F11E5198-B092-4BFA-AEF5-5ABBADE2717C}"/>
              </a:ext>
            </a:extLst>
          </p:cNvPr>
          <p:cNvSpPr>
            <a:spLocks noGrp="1"/>
          </p:cNvSpPr>
          <p:nvPr/>
        </p:nvSpPr>
        <p:spPr>
          <a:xfrm>
            <a:off x="1524000" y="3848100"/>
            <a:ext cx="1452563" cy="114300"/>
          </a:xfrm>
          <a:prstGeom prst="rect">
            <a:avLst/>
          </a:prstGeom>
          <a:solidFill>
            <a:srgbClr val="54D8C8"/>
          </a:solidFill>
          <a:ln w="9525">
            <a:noFill/>
            <a:prstDash val="solid"/>
          </a:ln>
        </p:spPr>
        <p:txBody>
          <a:bodyPr/>
          <a:lstStyle/>
          <a:p>
            <a:endParaRPr lang="de-DE"/>
          </a:p>
        </p:txBody>
      </p:sp>
      <p:sp>
        <p:nvSpPr>
          <p:cNvPr id="27" name="Text">
            <a:extLst>
              <a:ext uri="{FF2B5EF4-FFF2-40B4-BE49-F238E27FC236}">
                <a16:creationId xmlns:a16="http://schemas.microsoft.com/office/drawing/2014/main" id="{964FE693-9450-4817-B8C9-E8E0CF001185}"/>
              </a:ext>
            </a:extLst>
          </p:cNvPr>
          <p:cNvSpPr>
            <a:spLocks noGrp="1"/>
          </p:cNvSpPr>
          <p:nvPr/>
        </p:nvSpPr>
        <p:spPr>
          <a:xfrm>
            <a:off x="476250" y="4152900"/>
            <a:ext cx="952500" cy="171450"/>
          </a:xfrm>
          <a:prstGeom prst="rect">
            <a:avLst/>
          </a:prstGeom>
          <a:noFill/>
          <a:ln w="0">
            <a:noFill/>
            <a:prstDash val="solid"/>
          </a:ln>
        </p:spPr>
        <p:txBody>
          <a:bodyPr/>
          <a:lstStyle/>
          <a:p>
            <a:pPr algn="r">
              <a:defRPr sz="1050" b="0" i="0">
                <a:solidFill>
                  <a:srgbClr val="68768E"/>
                </a:solidFill>
              </a:defRPr>
            </a:pPr>
            <a:r>
              <a:rPr sz="1050" b="0" i="0">
                <a:solidFill>
                  <a:srgbClr val="68768E"/>
                </a:solidFill>
              </a:rPr>
              <a:t>condition</a:t>
            </a:r>
          </a:p>
        </p:txBody>
      </p:sp>
      <p:sp>
        <p:nvSpPr>
          <p:cNvPr id="28" name="Bar">
            <a:extLst>
              <a:ext uri="{FF2B5EF4-FFF2-40B4-BE49-F238E27FC236}">
                <a16:creationId xmlns:a16="http://schemas.microsoft.com/office/drawing/2014/main" id="{B947DDFE-6661-4AAB-963B-864524CD2E32}"/>
              </a:ext>
            </a:extLst>
          </p:cNvPr>
          <p:cNvSpPr>
            <a:spLocks noGrp="1"/>
          </p:cNvSpPr>
          <p:nvPr/>
        </p:nvSpPr>
        <p:spPr>
          <a:xfrm>
            <a:off x="1524000" y="4171950"/>
            <a:ext cx="595313" cy="114300"/>
          </a:xfrm>
          <a:prstGeom prst="rect">
            <a:avLst/>
          </a:prstGeom>
          <a:solidFill>
            <a:srgbClr val="54D8C8"/>
          </a:solidFill>
          <a:ln w="9525">
            <a:noFill/>
            <a:prstDash val="solid"/>
          </a:ln>
        </p:spPr>
        <p:txBody>
          <a:bodyPr/>
          <a:lstStyle/>
          <a:p>
            <a:endParaRPr lang="de-DE"/>
          </a:p>
        </p:txBody>
      </p:sp>
      <p:sp>
        <p:nvSpPr>
          <p:cNvPr id="29" name="Text">
            <a:extLst>
              <a:ext uri="{FF2B5EF4-FFF2-40B4-BE49-F238E27FC236}">
                <a16:creationId xmlns:a16="http://schemas.microsoft.com/office/drawing/2014/main" id="{B34E8598-39FB-4BE4-AE88-08F5462CFFDC}"/>
              </a:ext>
            </a:extLst>
          </p:cNvPr>
          <p:cNvSpPr>
            <a:spLocks noGrp="1"/>
          </p:cNvSpPr>
          <p:nvPr/>
        </p:nvSpPr>
        <p:spPr>
          <a:xfrm>
            <a:off x="4800600" y="2176795"/>
            <a:ext cx="3619500" cy="285750"/>
          </a:xfrm>
          <a:prstGeom prst="rect">
            <a:avLst/>
          </a:prstGeom>
          <a:noFill/>
          <a:ln w="0">
            <a:noFill/>
            <a:prstDash val="solid"/>
          </a:ln>
        </p:spPr>
        <p:txBody>
          <a:bodyPr/>
          <a:lstStyle/>
          <a:p>
            <a:pPr algn="l">
              <a:defRPr sz="1350" b="0" i="0">
                <a:solidFill>
                  <a:srgbClr val="142746"/>
                </a:solidFill>
              </a:defRPr>
            </a:pPr>
            <a:r>
              <a:rPr sz="1350" b="0" i="0">
                <a:solidFill>
                  <a:srgbClr val="142746"/>
                </a:solidFill>
              </a:rPr>
              <a:t>Fehler </a:t>
            </a:r>
            <a:r>
              <a:rPr lang="de-DE" sz="1350" b="0" i="0" err="1">
                <a:solidFill>
                  <a:srgbClr val="142746"/>
                </a:solidFill>
              </a:rPr>
              <a:t>nach</a:t>
            </a:r>
            <a:r>
              <a:rPr sz="1350" b="0" i="0">
                <a:solidFill>
                  <a:srgbClr val="142746"/>
                </a:solidFill>
              </a:rPr>
              <a:t> </a:t>
            </a:r>
            <a:r>
              <a:rPr lang="de-DE" sz="1350" b="0" i="0" err="1">
                <a:solidFill>
                  <a:srgbClr val="142746"/>
                </a:solidFill>
              </a:rPr>
              <a:t>Preissegment</a:t>
            </a:r>
            <a:endParaRPr sz="1350" b="0" i="0">
              <a:solidFill>
                <a:srgbClr val="142746"/>
              </a:solidFill>
            </a:endParaRPr>
          </a:p>
        </p:txBody>
      </p:sp>
      <p:graphicFrame>
        <p:nvGraphicFramePr>
          <p:cNvPr id="62" name="Tabelle 61"/>
          <p:cNvGraphicFramePr/>
          <p:nvPr/>
        </p:nvGraphicFramePr>
        <p:xfrm>
          <a:off x="4895850" y="2514600"/>
          <a:ext cx="3924301" cy="2038350"/>
        </p:xfrm>
        <a:graphic>
          <a:graphicData uri="http://schemas.openxmlformats.org/drawingml/2006/table">
            <a:tbl>
              <a:tblPr/>
              <a:tblGrid>
                <a:gridCol w="1392494">
                  <a:extLst>
                    <a:ext uri="{9D8B030D-6E8A-4147-A177-3AD203B41FA5}">
                      <a16:colId xmlns:a16="http://schemas.microsoft.com/office/drawing/2014/main" val="20000"/>
                    </a:ext>
                  </a:extLst>
                </a:gridCol>
                <a:gridCol w="1519084">
                  <a:extLst>
                    <a:ext uri="{9D8B030D-6E8A-4147-A177-3AD203B41FA5}">
                      <a16:colId xmlns:a16="http://schemas.microsoft.com/office/drawing/2014/main" val="20001"/>
                    </a:ext>
                  </a:extLst>
                </a:gridCol>
                <a:gridCol w="1012723">
                  <a:extLst>
                    <a:ext uri="{9D8B030D-6E8A-4147-A177-3AD203B41FA5}">
                      <a16:colId xmlns:a16="http://schemas.microsoft.com/office/drawing/2014/main" val="20002"/>
                    </a:ext>
                  </a:extLst>
                </a:gridCol>
              </a:tblGrid>
              <a:tr h="339725">
                <a:tc>
                  <a:txBody>
                    <a:bodyPr/>
                    <a:lstStyle/>
                    <a:p>
                      <a:r>
                        <a:rPr sz="975" b="1">
                          <a:solidFill>
                            <a:srgbClr val="FFFFFF"/>
                          </a:solidFill>
                        </a:rPr>
                        <a:t>Segment</a:t>
                      </a:r>
                    </a:p>
                  </a:txBody>
                  <a:tcPr>
                    <a:solidFill>
                      <a:srgbClr val="112744"/>
                    </a:solidFill>
                  </a:tcPr>
                </a:tc>
                <a:tc>
                  <a:txBody>
                    <a:bodyPr/>
                    <a:lstStyle/>
                    <a:p>
                      <a:r>
                        <a:rPr sz="975" b="1">
                          <a:solidFill>
                            <a:srgbClr val="FFFFFF"/>
                          </a:solidFill>
                        </a:rPr>
                        <a:t>Preisbereich</a:t>
                      </a:r>
                    </a:p>
                  </a:txBody>
                  <a:tcPr>
                    <a:solidFill>
                      <a:srgbClr val="112744"/>
                    </a:solidFill>
                  </a:tcPr>
                </a:tc>
                <a:tc>
                  <a:txBody>
                    <a:bodyPr/>
                    <a:lstStyle/>
                    <a:p>
                      <a:r>
                        <a:rPr sz="975" b="1">
                          <a:solidFill>
                            <a:srgbClr val="FFFFFF"/>
                          </a:solidFill>
                        </a:rPr>
                        <a:t>MAPE</a:t>
                      </a:r>
                    </a:p>
                  </a:txBody>
                  <a:tcPr>
                    <a:solidFill>
                      <a:srgbClr val="112744"/>
                    </a:solidFill>
                  </a:tcPr>
                </a:tc>
                <a:extLst>
                  <a:ext uri="{0D108BD9-81ED-4DB2-BD59-A6C34878D82A}">
                    <a16:rowId xmlns:a16="http://schemas.microsoft.com/office/drawing/2014/main" val="10000"/>
                  </a:ext>
                </a:extLst>
              </a:tr>
              <a:tr h="339725">
                <a:tc>
                  <a:txBody>
                    <a:bodyPr/>
                    <a:lstStyle/>
                    <a:p>
                      <a:r>
                        <a:rPr sz="900">
                          <a:solidFill>
                            <a:srgbClr val="142746"/>
                          </a:solidFill>
                        </a:rPr>
                        <a:t>Budget</a:t>
                      </a:r>
                    </a:p>
                  </a:txBody>
                  <a:tcPr>
                    <a:solidFill>
                      <a:srgbClr val="FFFFFF"/>
                    </a:solidFill>
                  </a:tcPr>
                </a:tc>
                <a:tc>
                  <a:txBody>
                    <a:bodyPr/>
                    <a:lstStyle/>
                    <a:p>
                      <a:r>
                        <a:rPr sz="900">
                          <a:solidFill>
                            <a:srgbClr val="142746"/>
                          </a:solidFill>
                        </a:rPr>
                        <a:t>&lt; $5k</a:t>
                      </a:r>
                    </a:p>
                  </a:txBody>
                  <a:tcPr>
                    <a:solidFill>
                      <a:srgbClr val="FFFFFF"/>
                    </a:solidFill>
                  </a:tcPr>
                </a:tc>
                <a:tc>
                  <a:txBody>
                    <a:bodyPr/>
                    <a:lstStyle/>
                    <a:p>
                      <a:r>
                        <a:rPr sz="900">
                          <a:solidFill>
                            <a:srgbClr val="142746"/>
                          </a:solidFill>
                        </a:rPr>
                        <a:t>35,0 %</a:t>
                      </a:r>
                    </a:p>
                  </a:txBody>
                  <a:tcPr>
                    <a:solidFill>
                      <a:srgbClr val="FFFFFF"/>
                    </a:solidFill>
                  </a:tcPr>
                </a:tc>
                <a:extLst>
                  <a:ext uri="{0D108BD9-81ED-4DB2-BD59-A6C34878D82A}">
                    <a16:rowId xmlns:a16="http://schemas.microsoft.com/office/drawing/2014/main" val="10001"/>
                  </a:ext>
                </a:extLst>
              </a:tr>
              <a:tr h="339725">
                <a:tc>
                  <a:txBody>
                    <a:bodyPr/>
                    <a:lstStyle/>
                    <a:p>
                      <a:r>
                        <a:rPr sz="900">
                          <a:solidFill>
                            <a:srgbClr val="142746"/>
                          </a:solidFill>
                        </a:rPr>
                        <a:t>Economy</a:t>
                      </a:r>
                    </a:p>
                  </a:txBody>
                  <a:tcPr>
                    <a:solidFill>
                      <a:srgbClr val="F8FBFF"/>
                    </a:solidFill>
                  </a:tcPr>
                </a:tc>
                <a:tc>
                  <a:txBody>
                    <a:bodyPr/>
                    <a:lstStyle/>
                    <a:p>
                      <a:r>
                        <a:rPr sz="900">
                          <a:solidFill>
                            <a:srgbClr val="142746"/>
                          </a:solidFill>
                        </a:rPr>
                        <a:t>$5k–$10k</a:t>
                      </a:r>
                    </a:p>
                  </a:txBody>
                  <a:tcPr>
                    <a:solidFill>
                      <a:srgbClr val="F8FBFF"/>
                    </a:solidFill>
                  </a:tcPr>
                </a:tc>
                <a:tc>
                  <a:txBody>
                    <a:bodyPr/>
                    <a:lstStyle/>
                    <a:p>
                      <a:r>
                        <a:rPr sz="900">
                          <a:solidFill>
                            <a:srgbClr val="142746"/>
                          </a:solidFill>
                        </a:rPr>
                        <a:t>15,8 %</a:t>
                      </a:r>
                    </a:p>
                  </a:txBody>
                  <a:tcPr>
                    <a:solidFill>
                      <a:srgbClr val="F8FBFF"/>
                    </a:solidFill>
                  </a:tcPr>
                </a:tc>
                <a:extLst>
                  <a:ext uri="{0D108BD9-81ED-4DB2-BD59-A6C34878D82A}">
                    <a16:rowId xmlns:a16="http://schemas.microsoft.com/office/drawing/2014/main" val="10002"/>
                  </a:ext>
                </a:extLst>
              </a:tr>
              <a:tr h="339725">
                <a:tc>
                  <a:txBody>
                    <a:bodyPr/>
                    <a:lstStyle/>
                    <a:p>
                      <a:r>
                        <a:rPr sz="900">
                          <a:solidFill>
                            <a:srgbClr val="142746"/>
                          </a:solidFill>
                        </a:rPr>
                        <a:t>Mid-Range ★</a:t>
                      </a:r>
                    </a:p>
                  </a:txBody>
                  <a:tcPr>
                    <a:solidFill>
                      <a:srgbClr val="E8FBF7"/>
                    </a:solidFill>
                  </a:tcPr>
                </a:tc>
                <a:tc>
                  <a:txBody>
                    <a:bodyPr/>
                    <a:lstStyle/>
                    <a:p>
                      <a:r>
                        <a:rPr sz="900">
                          <a:solidFill>
                            <a:srgbClr val="142746"/>
                          </a:solidFill>
                        </a:rPr>
                        <a:t>$10k–$20k</a:t>
                      </a:r>
                    </a:p>
                  </a:txBody>
                  <a:tcPr>
                    <a:solidFill>
                      <a:srgbClr val="E8FBF7"/>
                    </a:solidFill>
                  </a:tcPr>
                </a:tc>
                <a:tc>
                  <a:txBody>
                    <a:bodyPr/>
                    <a:lstStyle/>
                    <a:p>
                      <a:r>
                        <a:rPr sz="900">
                          <a:solidFill>
                            <a:srgbClr val="142746"/>
                          </a:solidFill>
                        </a:rPr>
                        <a:t>10,8 %</a:t>
                      </a:r>
                    </a:p>
                  </a:txBody>
                  <a:tcPr>
                    <a:solidFill>
                      <a:srgbClr val="E8FBF7"/>
                    </a:solidFill>
                  </a:tcPr>
                </a:tc>
                <a:extLst>
                  <a:ext uri="{0D108BD9-81ED-4DB2-BD59-A6C34878D82A}">
                    <a16:rowId xmlns:a16="http://schemas.microsoft.com/office/drawing/2014/main" val="10003"/>
                  </a:ext>
                </a:extLst>
              </a:tr>
              <a:tr h="339725">
                <a:tc>
                  <a:txBody>
                    <a:bodyPr/>
                    <a:lstStyle/>
                    <a:p>
                      <a:r>
                        <a:rPr sz="900">
                          <a:solidFill>
                            <a:srgbClr val="142746"/>
                          </a:solidFill>
                        </a:rPr>
                        <a:t>Premium</a:t>
                      </a:r>
                    </a:p>
                  </a:txBody>
                  <a:tcPr>
                    <a:solidFill>
                      <a:srgbClr val="F8FBFF"/>
                    </a:solidFill>
                  </a:tcPr>
                </a:tc>
                <a:tc>
                  <a:txBody>
                    <a:bodyPr/>
                    <a:lstStyle/>
                    <a:p>
                      <a:r>
                        <a:rPr sz="900">
                          <a:solidFill>
                            <a:srgbClr val="142746"/>
                          </a:solidFill>
                        </a:rPr>
                        <a:t>$20k–$40k</a:t>
                      </a:r>
                    </a:p>
                  </a:txBody>
                  <a:tcPr>
                    <a:solidFill>
                      <a:srgbClr val="F8FBFF"/>
                    </a:solidFill>
                  </a:tcPr>
                </a:tc>
                <a:tc>
                  <a:txBody>
                    <a:bodyPr/>
                    <a:lstStyle/>
                    <a:p>
                      <a:r>
                        <a:rPr sz="900">
                          <a:solidFill>
                            <a:srgbClr val="142746"/>
                          </a:solidFill>
                        </a:rPr>
                        <a:t>11,8 %</a:t>
                      </a:r>
                    </a:p>
                  </a:txBody>
                  <a:tcPr>
                    <a:solidFill>
                      <a:srgbClr val="F8FBFF"/>
                    </a:solidFill>
                  </a:tcPr>
                </a:tc>
                <a:extLst>
                  <a:ext uri="{0D108BD9-81ED-4DB2-BD59-A6C34878D82A}">
                    <a16:rowId xmlns:a16="http://schemas.microsoft.com/office/drawing/2014/main" val="10004"/>
                  </a:ext>
                </a:extLst>
              </a:tr>
              <a:tr h="339725">
                <a:tc>
                  <a:txBody>
                    <a:bodyPr/>
                    <a:lstStyle/>
                    <a:p>
                      <a:r>
                        <a:rPr sz="900">
                          <a:solidFill>
                            <a:srgbClr val="142746"/>
                          </a:solidFill>
                        </a:rPr>
                        <a:t>Luxury</a:t>
                      </a:r>
                    </a:p>
                  </a:txBody>
                  <a:tcPr>
                    <a:solidFill>
                      <a:srgbClr val="FFFFFF"/>
                    </a:solidFill>
                  </a:tcPr>
                </a:tc>
                <a:tc>
                  <a:txBody>
                    <a:bodyPr/>
                    <a:lstStyle/>
                    <a:p>
                      <a:r>
                        <a:rPr sz="900">
                          <a:solidFill>
                            <a:srgbClr val="142746"/>
                          </a:solidFill>
                        </a:rPr>
                        <a:t>&gt; $40k</a:t>
                      </a:r>
                    </a:p>
                  </a:txBody>
                  <a:tcPr>
                    <a:solidFill>
                      <a:srgbClr val="FFFFFF"/>
                    </a:solidFill>
                  </a:tcPr>
                </a:tc>
                <a:tc>
                  <a:txBody>
                    <a:bodyPr/>
                    <a:lstStyle/>
                    <a:p>
                      <a:r>
                        <a:rPr sz="900">
                          <a:solidFill>
                            <a:srgbClr val="142746"/>
                          </a:solidFill>
                        </a:rPr>
                        <a:t>20,9 %</a:t>
                      </a:r>
                    </a:p>
                  </a:txBody>
                  <a:tcPr>
                    <a:solidFill>
                      <a:srgbClr val="FFFFFF"/>
                    </a:solidFill>
                  </a:tcPr>
                </a:tc>
                <a:extLst>
                  <a:ext uri="{0D108BD9-81ED-4DB2-BD59-A6C34878D82A}">
                    <a16:rowId xmlns:a16="http://schemas.microsoft.com/office/drawing/2014/main" val="10005"/>
                  </a:ext>
                </a:extLst>
              </a:tr>
            </a:tbl>
          </a:graphicData>
        </a:graphic>
      </p:graphicFrame>
      <p:sp>
        <p:nvSpPr>
          <p:cNvPr id="31" name="Callout">
            <a:extLst>
              <a:ext uri="{FF2B5EF4-FFF2-40B4-BE49-F238E27FC236}">
                <a16:creationId xmlns:a16="http://schemas.microsoft.com/office/drawing/2014/main" id="{5B6D01AE-104D-4146-BCAA-1FF9DA663D43}"/>
              </a:ext>
            </a:extLst>
          </p:cNvPr>
          <p:cNvSpPr>
            <a:spLocks noGrp="1"/>
          </p:cNvSpPr>
          <p:nvPr/>
        </p:nvSpPr>
        <p:spPr>
          <a:xfrm>
            <a:off x="361950" y="4629150"/>
            <a:ext cx="8420100" cy="342900"/>
          </a:xfrm>
          <a:prstGeom prst="rect">
            <a:avLst/>
          </a:prstGeom>
          <a:solidFill>
            <a:srgbClr val="FFF7ED"/>
          </a:solidFill>
          <a:ln w="9525">
            <a:solidFill>
              <a:srgbClr val="F59E0B"/>
            </a:solidFill>
            <a:prstDash val="solid"/>
          </a:ln>
        </p:spPr>
        <p:txBody>
          <a:bodyPr/>
          <a:lstStyle/>
          <a:p>
            <a:endParaRPr lang="de-DE"/>
          </a:p>
        </p:txBody>
      </p:sp>
      <p:sp>
        <p:nvSpPr>
          <p:cNvPr id="32" name="CalloutText">
            <a:extLst>
              <a:ext uri="{FF2B5EF4-FFF2-40B4-BE49-F238E27FC236}">
                <a16:creationId xmlns:a16="http://schemas.microsoft.com/office/drawing/2014/main" id="{0C8EE8A3-7F89-42AD-8DEA-BE476949A596}"/>
              </a:ext>
            </a:extLst>
          </p:cNvPr>
          <p:cNvSpPr>
            <a:spLocks noGrp="1"/>
          </p:cNvSpPr>
          <p:nvPr/>
        </p:nvSpPr>
        <p:spPr>
          <a:xfrm>
            <a:off x="438150" y="4676775"/>
            <a:ext cx="8077200" cy="171450"/>
          </a:xfrm>
          <a:prstGeom prst="rect">
            <a:avLst/>
          </a:prstGeom>
          <a:noFill/>
          <a:ln w="0">
            <a:noFill/>
            <a:prstDash val="solid"/>
          </a:ln>
        </p:spPr>
        <p:txBody>
          <a:bodyPr/>
          <a:lstStyle/>
          <a:p>
            <a:pPr algn="l">
              <a:defRPr sz="1125" b="0" i="0">
                <a:solidFill>
                  <a:srgbClr val="92400E"/>
                </a:solidFill>
              </a:defRPr>
            </a:pPr>
            <a:r>
              <a:rPr sz="1125" b="0" i="0">
                <a:solidFill>
                  <a:srgbClr val="92400E"/>
                </a:solidFill>
              </a:rPr>
              <a:t>Stage 1 </a:t>
            </a:r>
            <a:r>
              <a:rPr lang="de-DE" sz="1125" b="0" i="0" err="1">
                <a:solidFill>
                  <a:srgbClr val="92400E"/>
                </a:solidFill>
              </a:rPr>
              <a:t>ist</a:t>
            </a:r>
            <a:r>
              <a:rPr sz="1125" b="0" i="0">
                <a:solidFill>
                  <a:srgbClr val="92400E"/>
                </a:solidFill>
              </a:rPr>
              <a:t> </a:t>
            </a:r>
            <a:r>
              <a:rPr lang="de-DE" sz="1125" b="0" i="0" err="1">
                <a:solidFill>
                  <a:srgbClr val="92400E"/>
                </a:solidFill>
              </a:rPr>
              <a:t>bewusst</a:t>
            </a:r>
            <a:r>
              <a:rPr sz="1125" b="0" i="0">
                <a:solidFill>
                  <a:srgbClr val="92400E"/>
                </a:solidFill>
              </a:rPr>
              <a:t> </a:t>
            </a:r>
            <a:r>
              <a:rPr lang="de-DE" sz="1125" b="0" i="0" err="1">
                <a:solidFill>
                  <a:srgbClr val="92400E"/>
                </a:solidFill>
              </a:rPr>
              <a:t>nur</a:t>
            </a:r>
            <a:r>
              <a:rPr sz="1125" b="0" i="0">
                <a:solidFill>
                  <a:srgbClr val="92400E"/>
                </a:solidFill>
              </a:rPr>
              <a:t> der </a:t>
            </a:r>
            <a:r>
              <a:rPr lang="de-DE" sz="1125" b="0" i="0" err="1">
                <a:solidFill>
                  <a:srgbClr val="92400E"/>
                </a:solidFill>
              </a:rPr>
              <a:t>Basispreis</a:t>
            </a:r>
            <a:r>
              <a:rPr sz="1125" b="0" i="0">
                <a:solidFill>
                  <a:srgbClr val="92400E"/>
                </a:solidFill>
              </a:rPr>
              <a:t>: Markt- und </a:t>
            </a:r>
            <a:r>
              <a:rPr lang="de-DE" sz="1125" b="0" i="0" err="1">
                <a:solidFill>
                  <a:srgbClr val="92400E"/>
                </a:solidFill>
              </a:rPr>
              <a:t>Saisoneffekte</a:t>
            </a:r>
            <a:r>
              <a:rPr sz="1125" b="0" i="0">
                <a:solidFill>
                  <a:srgbClr val="92400E"/>
                </a:solidFill>
              </a:rPr>
              <a:t> </a:t>
            </a:r>
            <a:r>
              <a:rPr lang="de-DE" sz="1125" b="0" i="0" err="1">
                <a:solidFill>
                  <a:srgbClr val="92400E"/>
                </a:solidFill>
              </a:rPr>
              <a:t>werden</a:t>
            </a:r>
            <a:r>
              <a:rPr sz="1125" b="0" i="0">
                <a:solidFill>
                  <a:srgbClr val="92400E"/>
                </a:solidFill>
              </a:rPr>
              <a:t> </a:t>
            </a:r>
            <a:r>
              <a:rPr lang="de-DE" sz="1125" b="0" i="0" err="1">
                <a:solidFill>
                  <a:srgbClr val="92400E"/>
                </a:solidFill>
              </a:rPr>
              <a:t>danach</a:t>
            </a:r>
            <a:r>
              <a:rPr sz="1125" b="0" i="0">
                <a:solidFill>
                  <a:srgbClr val="92400E"/>
                </a:solidFill>
              </a:rPr>
              <a:t> </a:t>
            </a:r>
            <a:r>
              <a:rPr lang="de-DE" sz="1125" b="0" i="0" err="1">
                <a:solidFill>
                  <a:srgbClr val="92400E"/>
                </a:solidFill>
              </a:rPr>
              <a:t>separat</a:t>
            </a:r>
            <a:r>
              <a:rPr sz="1125" b="0" i="0">
                <a:solidFill>
                  <a:srgbClr val="92400E"/>
                </a:solidFill>
              </a:rPr>
              <a:t> </a:t>
            </a:r>
            <a:r>
              <a:rPr lang="de-DE" sz="1125" b="0" i="0" err="1">
                <a:solidFill>
                  <a:srgbClr val="92400E"/>
                </a:solidFill>
              </a:rPr>
              <a:t>ergänzt</a:t>
            </a:r>
            <a:r>
              <a:rPr sz="1125" b="0" i="0">
                <a:solidFill>
                  <a:srgbClr val="92400E"/>
                </a:solidFill>
              </a:rPr>
              <a:t>.</a:t>
            </a:r>
          </a:p>
        </p:txBody>
      </p:sp>
    </p:spTree>
    <p:extLst>
      <p:ext uri="{BB962C8B-B14F-4D97-AF65-F5344CB8AC3E}">
        <p14:creationId xmlns:p14="http://schemas.microsoft.com/office/powerpoint/2010/main" val="14674023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12744"/>
        </a:solidFill>
        <a:effectLst/>
      </p:bgPr>
    </p:bg>
    <p:spTree>
      <p:nvGrpSpPr>
        <p:cNvPr id="1" name=""/>
        <p:cNvGrpSpPr/>
        <p:nvPr/>
      </p:nvGrpSpPr>
      <p:grpSpPr>
        <a:xfrm>
          <a:off x="0" y="0"/>
          <a:ext cx="0" cy="0"/>
          <a:chOff x="0" y="0"/>
          <a:chExt cx="0" cy="0"/>
        </a:xfrm>
      </p:grpSpPr>
      <p:sp>
        <p:nvSpPr>
          <p:cNvPr id="17" name="TopBar">
            <a:extLst>
              <a:ext uri="{FF2B5EF4-FFF2-40B4-BE49-F238E27FC236}">
                <a16:creationId xmlns:a16="http://schemas.microsoft.com/office/drawing/2014/main" id="{4B39E4D6-177A-445C-BA04-42505A347EA3}"/>
              </a:ext>
            </a:extLst>
          </p:cNvPr>
          <p:cNvSpPr>
            <a:spLocks noGrp="1"/>
          </p:cNvSpPr>
          <p:nvPr/>
        </p:nvSpPr>
        <p:spPr>
          <a:xfrm>
            <a:off x="0" y="0"/>
            <a:ext cx="9144000" cy="63818"/>
          </a:xfrm>
          <a:prstGeom prst="rect">
            <a:avLst/>
          </a:prstGeom>
          <a:solidFill>
            <a:srgbClr val="009681"/>
          </a:solidFill>
          <a:ln w="0">
            <a:solidFill>
              <a:srgbClr val="009681"/>
            </a:solidFill>
          </a:ln>
        </p:spPr>
        <p:txBody>
          <a:bodyPr/>
          <a:lstStyle/>
          <a:p>
            <a:endParaRPr lang="de-DE"/>
          </a:p>
        </p:txBody>
      </p:sp>
      <p:sp>
        <p:nvSpPr>
          <p:cNvPr id="2" name="Title">
            <a:extLst>
              <a:ext uri="{FF2B5EF4-FFF2-40B4-BE49-F238E27FC236}">
                <a16:creationId xmlns:a16="http://schemas.microsoft.com/office/drawing/2014/main" id="{96021BAE-0789-4C1D-AA64-3F5B8E00E7CC}"/>
              </a:ext>
            </a:extLst>
          </p:cNvPr>
          <p:cNvSpPr>
            <a:spLocks noGrp="1"/>
          </p:cNvSpPr>
          <p:nvPr/>
        </p:nvSpPr>
        <p:spPr>
          <a:xfrm>
            <a:off x="457200" y="266700"/>
            <a:ext cx="7810500" cy="495300"/>
          </a:xfrm>
          <a:prstGeom prst="rect">
            <a:avLst/>
          </a:prstGeom>
          <a:noFill/>
          <a:ln w="0">
            <a:noFill/>
            <a:prstDash val="solid"/>
          </a:ln>
        </p:spPr>
        <p:txBody>
          <a:bodyPr/>
          <a:lstStyle/>
          <a:p>
            <a:pPr algn="l">
              <a:defRPr sz="2700" b="0" i="0">
                <a:solidFill>
                  <a:srgbClr val="FFFFFF"/>
                </a:solidFill>
              </a:defRPr>
            </a:pPr>
            <a:r>
              <a:rPr sz="2700" b="0" i="0">
                <a:solidFill>
                  <a:srgbClr val="FFFFFF"/>
                </a:solidFill>
              </a:rPr>
              <a:t>Stage 2: Marktpreis per CPI-Anpassung</a:t>
            </a:r>
          </a:p>
        </p:txBody>
      </p:sp>
      <p:sp>
        <p:nvSpPr>
          <p:cNvPr id="3" name="Subtitle">
            <a:extLst>
              <a:ext uri="{FF2B5EF4-FFF2-40B4-BE49-F238E27FC236}">
                <a16:creationId xmlns:a16="http://schemas.microsoft.com/office/drawing/2014/main" id="{ED4E8933-EE2B-49EA-A5AE-6F42D95E7C58}"/>
              </a:ext>
            </a:extLst>
          </p:cNvPr>
          <p:cNvSpPr>
            <a:spLocks noGrp="1"/>
          </p:cNvSpPr>
          <p:nvPr/>
        </p:nvSpPr>
        <p:spPr>
          <a:xfrm>
            <a:off x="457200" y="781050"/>
            <a:ext cx="7810500" cy="266700"/>
          </a:xfrm>
          <a:prstGeom prst="rect">
            <a:avLst/>
          </a:prstGeom>
          <a:noFill/>
          <a:ln w="0">
            <a:noFill/>
            <a:prstDash val="solid"/>
          </a:ln>
        </p:spPr>
        <p:txBody>
          <a:bodyPr/>
          <a:lstStyle/>
          <a:p>
            <a:pPr algn="l">
              <a:defRPr sz="1125" b="0" i="1">
                <a:solidFill>
                  <a:srgbClr val="AAB7CC"/>
                </a:solidFill>
              </a:defRPr>
            </a:pPr>
            <a:r>
              <a:rPr sz="1125" b="0" i="1">
                <a:solidFill>
                  <a:srgbClr val="AAB7CC"/>
                </a:solidFill>
              </a:rPr>
              <a:t>Historischer ML-Basispreis wird auf das gewählte Bewertungsdatum gebracht</a:t>
            </a:r>
          </a:p>
        </p:txBody>
      </p:sp>
      <p:sp>
        <p:nvSpPr>
          <p:cNvPr id="4" name="CPIBox">
            <a:extLst>
              <a:ext uri="{FF2B5EF4-FFF2-40B4-BE49-F238E27FC236}">
                <a16:creationId xmlns:a16="http://schemas.microsoft.com/office/drawing/2014/main" id="{FF9EF1D5-883D-457B-A4A6-663D423D6527}"/>
              </a:ext>
            </a:extLst>
          </p:cNvPr>
          <p:cNvSpPr>
            <a:spLocks noGrp="1"/>
          </p:cNvSpPr>
          <p:nvPr/>
        </p:nvSpPr>
        <p:spPr>
          <a:xfrm>
            <a:off x="514350" y="1238250"/>
            <a:ext cx="3429000" cy="1866900"/>
          </a:xfrm>
          <a:prstGeom prst="rect">
            <a:avLst/>
          </a:prstGeom>
          <a:solidFill>
            <a:srgbClr val="0C2038"/>
          </a:solidFill>
          <a:ln w="9525">
            <a:solidFill>
              <a:srgbClr val="0C2038"/>
            </a:solidFill>
            <a:prstDash val="solid"/>
          </a:ln>
        </p:spPr>
        <p:txBody>
          <a:bodyPr/>
          <a:lstStyle/>
          <a:p>
            <a:endParaRPr lang="de-DE"/>
          </a:p>
        </p:txBody>
      </p:sp>
      <p:sp>
        <p:nvSpPr>
          <p:cNvPr id="5" name="Text">
            <a:extLst>
              <a:ext uri="{FF2B5EF4-FFF2-40B4-BE49-F238E27FC236}">
                <a16:creationId xmlns:a16="http://schemas.microsoft.com/office/drawing/2014/main" id="{CCA03DF8-7991-499C-BBB4-47A08F6FACFA}"/>
              </a:ext>
            </a:extLst>
          </p:cNvPr>
          <p:cNvSpPr>
            <a:spLocks noGrp="1"/>
          </p:cNvSpPr>
          <p:nvPr/>
        </p:nvSpPr>
        <p:spPr>
          <a:xfrm>
            <a:off x="800100" y="1562100"/>
            <a:ext cx="2857500" cy="704850"/>
          </a:xfrm>
          <a:prstGeom prst="rect">
            <a:avLst/>
          </a:prstGeom>
          <a:noFill/>
          <a:ln w="0">
            <a:noFill/>
            <a:prstDash val="solid"/>
          </a:ln>
        </p:spPr>
        <p:txBody>
          <a:bodyPr/>
          <a:lstStyle/>
          <a:p>
            <a:pPr algn="ctr">
              <a:defRPr sz="3600" b="0" i="0">
                <a:solidFill>
                  <a:srgbClr val="009681"/>
                </a:solidFill>
              </a:defRPr>
            </a:pPr>
            <a:r>
              <a:rPr sz="3600" b="0" i="0">
                <a:solidFill>
                  <a:srgbClr val="009681"/>
                </a:solidFill>
              </a:rPr>
              <a:t>1,2177</a:t>
            </a:r>
          </a:p>
        </p:txBody>
      </p:sp>
      <p:sp>
        <p:nvSpPr>
          <p:cNvPr id="6" name="Text">
            <a:extLst>
              <a:ext uri="{FF2B5EF4-FFF2-40B4-BE49-F238E27FC236}">
                <a16:creationId xmlns:a16="http://schemas.microsoft.com/office/drawing/2014/main" id="{B9211ADA-05CD-4CB4-AAA8-0F01748F27CD}"/>
              </a:ext>
            </a:extLst>
          </p:cNvPr>
          <p:cNvSpPr>
            <a:spLocks noGrp="1"/>
          </p:cNvSpPr>
          <p:nvPr/>
        </p:nvSpPr>
        <p:spPr>
          <a:xfrm>
            <a:off x="800100" y="2324100"/>
            <a:ext cx="2857500" cy="247650"/>
          </a:xfrm>
          <a:prstGeom prst="rect">
            <a:avLst/>
          </a:prstGeom>
          <a:noFill/>
          <a:ln w="0">
            <a:noFill/>
            <a:prstDash val="solid"/>
          </a:ln>
        </p:spPr>
        <p:txBody>
          <a:bodyPr/>
          <a:lstStyle/>
          <a:p>
            <a:pPr algn="ctr">
              <a:defRPr sz="1200" b="0" i="0">
                <a:solidFill>
                  <a:srgbClr val="FFFFFF"/>
                </a:solidFill>
              </a:defRPr>
            </a:pPr>
            <a:r>
              <a:rPr sz="1200" b="0" i="0">
                <a:solidFill>
                  <a:srgbClr val="FFFFFF"/>
                </a:solidFill>
              </a:rPr>
              <a:t>CPI-Multiplikator Juni 2026</a:t>
            </a:r>
          </a:p>
        </p:txBody>
      </p:sp>
      <p:sp>
        <p:nvSpPr>
          <p:cNvPr id="7" name="Text">
            <a:extLst>
              <a:ext uri="{FF2B5EF4-FFF2-40B4-BE49-F238E27FC236}">
                <a16:creationId xmlns:a16="http://schemas.microsoft.com/office/drawing/2014/main" id="{11474ECA-2395-4064-891A-D48BEC49EB0D}"/>
              </a:ext>
            </a:extLst>
          </p:cNvPr>
          <p:cNvSpPr>
            <a:spLocks noGrp="1"/>
          </p:cNvSpPr>
          <p:nvPr/>
        </p:nvSpPr>
        <p:spPr>
          <a:xfrm>
            <a:off x="800100" y="2590800"/>
            <a:ext cx="2857500" cy="228600"/>
          </a:xfrm>
          <a:prstGeom prst="rect">
            <a:avLst/>
          </a:prstGeom>
          <a:noFill/>
          <a:ln w="0">
            <a:noFill/>
            <a:prstDash val="solid"/>
          </a:ln>
        </p:spPr>
        <p:txBody>
          <a:bodyPr/>
          <a:lstStyle/>
          <a:p>
            <a:pPr algn="ctr">
              <a:defRPr sz="1125" b="0" i="0">
                <a:solidFill>
                  <a:srgbClr val="C8D4E4"/>
                </a:solidFill>
              </a:defRPr>
            </a:pPr>
            <a:r>
              <a:rPr sz="1125" b="0" i="0">
                <a:solidFill>
                  <a:srgbClr val="C8D4E4"/>
                </a:solidFill>
              </a:rPr>
              <a:t>+21,8 % vs. 2015</a:t>
            </a:r>
          </a:p>
        </p:txBody>
      </p:sp>
      <p:sp>
        <p:nvSpPr>
          <p:cNvPr id="8" name="Text">
            <a:extLst>
              <a:ext uri="{FF2B5EF4-FFF2-40B4-BE49-F238E27FC236}">
                <a16:creationId xmlns:a16="http://schemas.microsoft.com/office/drawing/2014/main" id="{8508EC87-CCBE-45CA-9C86-6A870332ACD6}"/>
              </a:ext>
            </a:extLst>
          </p:cNvPr>
          <p:cNvSpPr>
            <a:spLocks noGrp="1"/>
          </p:cNvSpPr>
          <p:nvPr/>
        </p:nvSpPr>
        <p:spPr>
          <a:xfrm>
            <a:off x="4667250" y="1257300"/>
            <a:ext cx="3048000" cy="266700"/>
          </a:xfrm>
          <a:prstGeom prst="rect">
            <a:avLst/>
          </a:prstGeom>
          <a:noFill/>
          <a:ln w="0">
            <a:noFill/>
            <a:prstDash val="solid"/>
          </a:ln>
        </p:spPr>
        <p:txBody>
          <a:bodyPr/>
          <a:lstStyle/>
          <a:p>
            <a:pPr algn="l">
              <a:defRPr sz="1500" b="1" i="0">
                <a:solidFill>
                  <a:srgbClr val="FFFFFF"/>
                </a:solidFill>
              </a:defRPr>
            </a:pPr>
            <a:r>
              <a:rPr sz="1500" b="1" i="0">
                <a:solidFill>
                  <a:srgbClr val="FFFFFF"/>
                </a:solidFill>
              </a:rPr>
              <a:t>Formel</a:t>
            </a:r>
          </a:p>
        </p:txBody>
      </p:sp>
      <p:sp>
        <p:nvSpPr>
          <p:cNvPr id="9" name="FormulaBox">
            <a:extLst>
              <a:ext uri="{FF2B5EF4-FFF2-40B4-BE49-F238E27FC236}">
                <a16:creationId xmlns:a16="http://schemas.microsoft.com/office/drawing/2014/main" id="{10C066E4-0407-43A8-A9D5-AE597C0EFE80}"/>
              </a:ext>
            </a:extLst>
          </p:cNvPr>
          <p:cNvSpPr>
            <a:spLocks noGrp="1"/>
          </p:cNvSpPr>
          <p:nvPr/>
        </p:nvSpPr>
        <p:spPr>
          <a:xfrm>
            <a:off x="4667250" y="1638300"/>
            <a:ext cx="3714750" cy="685800"/>
          </a:xfrm>
          <a:prstGeom prst="rect">
            <a:avLst/>
          </a:prstGeom>
          <a:solidFill>
            <a:srgbClr val="183653"/>
          </a:solidFill>
          <a:ln w="9525">
            <a:solidFill>
              <a:srgbClr val="183653"/>
            </a:solidFill>
            <a:prstDash val="solid"/>
          </a:ln>
        </p:spPr>
        <p:txBody>
          <a:bodyPr/>
          <a:lstStyle/>
          <a:p>
            <a:endParaRPr lang="de-DE"/>
          </a:p>
        </p:txBody>
      </p:sp>
      <p:sp>
        <p:nvSpPr>
          <p:cNvPr id="10" name="Text">
            <a:extLst>
              <a:ext uri="{FF2B5EF4-FFF2-40B4-BE49-F238E27FC236}">
                <a16:creationId xmlns:a16="http://schemas.microsoft.com/office/drawing/2014/main" id="{A86C4899-8181-4C65-8FB9-A5EE123D8A77}"/>
              </a:ext>
            </a:extLst>
          </p:cNvPr>
          <p:cNvSpPr>
            <a:spLocks noGrp="1"/>
          </p:cNvSpPr>
          <p:nvPr/>
        </p:nvSpPr>
        <p:spPr>
          <a:xfrm>
            <a:off x="4876800" y="1857375"/>
            <a:ext cx="3314700" cy="304800"/>
          </a:xfrm>
          <a:prstGeom prst="rect">
            <a:avLst/>
          </a:prstGeom>
          <a:noFill/>
          <a:ln w="0">
            <a:noFill/>
            <a:prstDash val="solid"/>
          </a:ln>
        </p:spPr>
        <p:txBody>
          <a:bodyPr/>
          <a:lstStyle/>
          <a:p>
            <a:pPr algn="ctr">
              <a:defRPr sz="1275" b="0" i="0">
                <a:solidFill>
                  <a:srgbClr val="FFFFFF"/>
                </a:solidFill>
              </a:defRPr>
            </a:pPr>
            <a:r>
              <a:rPr sz="1275" b="0" i="0">
                <a:solidFill>
                  <a:srgbClr val="FFFFFF"/>
                </a:solidFill>
              </a:rPr>
              <a:t>CPI-Marktpreis = ML-Basispreis × CPI-Multiplikator</a:t>
            </a:r>
          </a:p>
        </p:txBody>
      </p:sp>
      <p:sp>
        <p:nvSpPr>
          <p:cNvPr id="11" name="Text">
            <a:extLst>
              <a:ext uri="{FF2B5EF4-FFF2-40B4-BE49-F238E27FC236}">
                <a16:creationId xmlns:a16="http://schemas.microsoft.com/office/drawing/2014/main" id="{948D9E03-1F8A-4884-A183-E0C361C1369F}"/>
              </a:ext>
            </a:extLst>
          </p:cNvPr>
          <p:cNvSpPr>
            <a:spLocks noGrp="1"/>
          </p:cNvSpPr>
          <p:nvPr/>
        </p:nvSpPr>
        <p:spPr>
          <a:xfrm>
            <a:off x="4686300" y="2647950"/>
            <a:ext cx="3619500" cy="323850"/>
          </a:xfrm>
          <a:prstGeom prst="rect">
            <a:avLst/>
          </a:prstGeom>
          <a:noFill/>
          <a:ln w="0">
            <a:noFill/>
            <a:prstDash val="solid"/>
          </a:ln>
        </p:spPr>
        <p:txBody>
          <a:bodyPr/>
          <a:lstStyle/>
          <a:p>
            <a:pPr algn="l">
              <a:defRPr sz="1200" b="0" i="0">
                <a:solidFill>
                  <a:srgbClr val="C8D4E4"/>
                </a:solidFill>
              </a:defRPr>
            </a:pPr>
            <a:r>
              <a:rPr sz="1200" b="0" i="0">
                <a:solidFill>
                  <a:srgbClr val="C8D4E4"/>
                </a:solidFill>
              </a:rPr>
              <a:t>• Quelle: FRED Used Cars &amp; Trucks CPI (CUSR0000SETA01)</a:t>
            </a:r>
          </a:p>
        </p:txBody>
      </p:sp>
      <p:sp>
        <p:nvSpPr>
          <p:cNvPr id="12" name="Text">
            <a:extLst>
              <a:ext uri="{FF2B5EF4-FFF2-40B4-BE49-F238E27FC236}">
                <a16:creationId xmlns:a16="http://schemas.microsoft.com/office/drawing/2014/main" id="{EE9E0A61-0819-4839-90F3-FC4842A23DC3}"/>
              </a:ext>
            </a:extLst>
          </p:cNvPr>
          <p:cNvSpPr>
            <a:spLocks noGrp="1"/>
          </p:cNvSpPr>
          <p:nvPr/>
        </p:nvSpPr>
        <p:spPr>
          <a:xfrm>
            <a:off x="4686300" y="3009900"/>
            <a:ext cx="3619500" cy="323850"/>
          </a:xfrm>
          <a:prstGeom prst="rect">
            <a:avLst/>
          </a:prstGeom>
          <a:noFill/>
          <a:ln w="0">
            <a:noFill/>
            <a:prstDash val="solid"/>
          </a:ln>
        </p:spPr>
        <p:txBody>
          <a:bodyPr/>
          <a:lstStyle/>
          <a:p>
            <a:pPr algn="l">
              <a:defRPr sz="1200" b="0" i="0">
                <a:solidFill>
                  <a:srgbClr val="C8D4E4"/>
                </a:solidFill>
              </a:defRPr>
            </a:pPr>
            <a:r>
              <a:rPr sz="1200" b="0" i="0">
                <a:solidFill>
                  <a:srgbClr val="C8D4E4"/>
                </a:solidFill>
              </a:rPr>
              <a:t>• Basisjahr 2015 = 1,0, passend zur Trainingsperiode</a:t>
            </a:r>
          </a:p>
        </p:txBody>
      </p:sp>
      <p:sp>
        <p:nvSpPr>
          <p:cNvPr id="13" name="Text">
            <a:extLst>
              <a:ext uri="{FF2B5EF4-FFF2-40B4-BE49-F238E27FC236}">
                <a16:creationId xmlns:a16="http://schemas.microsoft.com/office/drawing/2014/main" id="{2EA4E68A-0591-46FB-BEF2-A4662F25F93E}"/>
              </a:ext>
            </a:extLst>
          </p:cNvPr>
          <p:cNvSpPr>
            <a:spLocks noGrp="1"/>
          </p:cNvSpPr>
          <p:nvPr/>
        </p:nvSpPr>
        <p:spPr>
          <a:xfrm>
            <a:off x="4686300" y="3371850"/>
            <a:ext cx="3619500" cy="323850"/>
          </a:xfrm>
          <a:prstGeom prst="rect">
            <a:avLst/>
          </a:prstGeom>
          <a:noFill/>
          <a:ln w="0">
            <a:noFill/>
            <a:prstDash val="solid"/>
          </a:ln>
        </p:spPr>
        <p:txBody>
          <a:bodyPr/>
          <a:lstStyle/>
          <a:p>
            <a:pPr algn="l">
              <a:defRPr sz="1200" b="0" i="0">
                <a:solidFill>
                  <a:srgbClr val="C8D4E4"/>
                </a:solidFill>
              </a:defRPr>
            </a:pPr>
            <a:r>
              <a:rPr sz="1200" b="0" i="0">
                <a:solidFill>
                  <a:srgbClr val="C8D4E4"/>
                </a:solidFill>
              </a:rPr>
              <a:t>• Backtest: MAE 1.890,21 $ → 1.889,19 $</a:t>
            </a:r>
          </a:p>
        </p:txBody>
      </p:sp>
      <p:sp>
        <p:nvSpPr>
          <p:cNvPr id="14" name="Text">
            <a:extLst>
              <a:ext uri="{FF2B5EF4-FFF2-40B4-BE49-F238E27FC236}">
                <a16:creationId xmlns:a16="http://schemas.microsoft.com/office/drawing/2014/main" id="{C727A54C-36FC-44F1-B060-C6BEAC23A2CB}"/>
              </a:ext>
            </a:extLst>
          </p:cNvPr>
          <p:cNvSpPr>
            <a:spLocks noGrp="1"/>
          </p:cNvSpPr>
          <p:nvPr/>
        </p:nvSpPr>
        <p:spPr>
          <a:xfrm>
            <a:off x="4686300" y="3733800"/>
            <a:ext cx="3619500" cy="323850"/>
          </a:xfrm>
          <a:prstGeom prst="rect">
            <a:avLst/>
          </a:prstGeom>
          <a:noFill/>
          <a:ln w="0">
            <a:noFill/>
            <a:prstDash val="solid"/>
          </a:ln>
        </p:spPr>
        <p:txBody>
          <a:bodyPr/>
          <a:lstStyle/>
          <a:p>
            <a:pPr algn="l">
              <a:defRPr sz="1200" b="0" i="0">
                <a:solidFill>
                  <a:srgbClr val="C8D4E4"/>
                </a:solidFill>
              </a:defRPr>
            </a:pPr>
            <a:r>
              <a:rPr sz="1200" b="0" i="0">
                <a:solidFill>
                  <a:srgbClr val="C8D4E4"/>
                </a:solidFill>
              </a:rPr>
              <a:t>• Nutzen sichtbar ab 2021: COVID-/Angebotsengpass bis ca. +22 %</a:t>
            </a:r>
          </a:p>
        </p:txBody>
      </p:sp>
      <p:sp>
        <p:nvSpPr>
          <p:cNvPr id="15" name="Callout">
            <a:extLst>
              <a:ext uri="{FF2B5EF4-FFF2-40B4-BE49-F238E27FC236}">
                <a16:creationId xmlns:a16="http://schemas.microsoft.com/office/drawing/2014/main" id="{58731803-AC9B-4F26-BDFE-95C691BF73F9}"/>
              </a:ext>
            </a:extLst>
          </p:cNvPr>
          <p:cNvSpPr>
            <a:spLocks noGrp="1"/>
          </p:cNvSpPr>
          <p:nvPr/>
        </p:nvSpPr>
        <p:spPr>
          <a:xfrm>
            <a:off x="514350" y="4476750"/>
            <a:ext cx="8096250" cy="400050"/>
          </a:xfrm>
          <a:prstGeom prst="rect">
            <a:avLst/>
          </a:prstGeom>
          <a:solidFill>
            <a:srgbClr val="102B49"/>
          </a:solidFill>
          <a:ln w="9525">
            <a:solidFill>
              <a:srgbClr val="54D8C8"/>
            </a:solidFill>
            <a:prstDash val="solid"/>
          </a:ln>
        </p:spPr>
        <p:txBody>
          <a:bodyPr/>
          <a:lstStyle/>
          <a:p>
            <a:endParaRPr lang="de-DE"/>
          </a:p>
        </p:txBody>
      </p:sp>
      <p:sp>
        <p:nvSpPr>
          <p:cNvPr id="16" name="CalloutText">
            <a:extLst>
              <a:ext uri="{FF2B5EF4-FFF2-40B4-BE49-F238E27FC236}">
                <a16:creationId xmlns:a16="http://schemas.microsoft.com/office/drawing/2014/main" id="{E85DF18F-5842-4306-AEED-962795B65B13}"/>
              </a:ext>
            </a:extLst>
          </p:cNvPr>
          <p:cNvSpPr>
            <a:spLocks noGrp="1"/>
          </p:cNvSpPr>
          <p:nvPr/>
        </p:nvSpPr>
        <p:spPr>
          <a:xfrm>
            <a:off x="685800" y="4600575"/>
            <a:ext cx="7753350" cy="228600"/>
          </a:xfrm>
          <a:prstGeom prst="rect">
            <a:avLst/>
          </a:prstGeom>
          <a:noFill/>
          <a:ln w="0">
            <a:noFill/>
            <a:prstDash val="solid"/>
          </a:ln>
        </p:spPr>
        <p:txBody>
          <a:bodyPr/>
          <a:lstStyle/>
          <a:p>
            <a:pPr algn="l">
              <a:defRPr sz="1125" b="0" i="0">
                <a:solidFill>
                  <a:srgbClr val="FFFFFF"/>
                </a:solidFill>
              </a:defRPr>
            </a:pPr>
            <a:r>
              <a:rPr sz="1125" b="0" i="0">
                <a:solidFill>
                  <a:srgbClr val="FFFFFF"/>
                </a:solidFill>
              </a:rPr>
              <a:t>Stage 2 ersetzt das Modell nicht – sie aktualisiert den historischen Basispreis auf das Marktpreisniveau.</a:t>
            </a:r>
          </a:p>
        </p:txBody>
      </p:sp>
    </p:spTree>
    <p:extLst>
      <p:ext uri="{BB962C8B-B14F-4D97-AF65-F5344CB8AC3E}">
        <p14:creationId xmlns:p14="http://schemas.microsoft.com/office/powerpoint/2010/main" val="4684748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EF4FA"/>
        </a:solidFill>
        <a:effectLst/>
      </p:bgPr>
    </p:bg>
    <p:spTree>
      <p:nvGrpSpPr>
        <p:cNvPr id="1" name=""/>
        <p:cNvGrpSpPr/>
        <p:nvPr/>
      </p:nvGrpSpPr>
      <p:grpSpPr>
        <a:xfrm>
          <a:off x="0" y="0"/>
          <a:ext cx="0" cy="0"/>
          <a:chOff x="0" y="0"/>
          <a:chExt cx="0" cy="0"/>
        </a:xfrm>
      </p:grpSpPr>
      <p:sp>
        <p:nvSpPr>
          <p:cNvPr id="24" name="TopBar">
            <a:extLst>
              <a:ext uri="{FF2B5EF4-FFF2-40B4-BE49-F238E27FC236}">
                <a16:creationId xmlns:a16="http://schemas.microsoft.com/office/drawing/2014/main" id="{03C67F2C-507B-4EA6-A4EF-321BCF916FBC}"/>
              </a:ext>
            </a:extLst>
          </p:cNvPr>
          <p:cNvSpPr>
            <a:spLocks noGrp="1"/>
          </p:cNvSpPr>
          <p:nvPr/>
        </p:nvSpPr>
        <p:spPr>
          <a:xfrm>
            <a:off x="0" y="0"/>
            <a:ext cx="9144000" cy="63818"/>
          </a:xfrm>
          <a:prstGeom prst="rect">
            <a:avLst/>
          </a:prstGeom>
          <a:solidFill>
            <a:srgbClr val="7C3AED"/>
          </a:solidFill>
          <a:ln w="0">
            <a:solidFill>
              <a:srgbClr val="7C3AED"/>
            </a:solidFill>
          </a:ln>
        </p:spPr>
        <p:txBody>
          <a:bodyPr/>
          <a:lstStyle/>
          <a:p>
            <a:endParaRPr lang="de-DE"/>
          </a:p>
        </p:txBody>
      </p:sp>
      <p:sp>
        <p:nvSpPr>
          <p:cNvPr id="2" name="Title">
            <a:extLst>
              <a:ext uri="{FF2B5EF4-FFF2-40B4-BE49-F238E27FC236}">
                <a16:creationId xmlns:a16="http://schemas.microsoft.com/office/drawing/2014/main" id="{7D7EFCF1-9761-41D1-91FA-EACB80B766AA}"/>
              </a:ext>
            </a:extLst>
          </p:cNvPr>
          <p:cNvSpPr>
            <a:spLocks noGrp="1"/>
          </p:cNvSpPr>
          <p:nvPr/>
        </p:nvSpPr>
        <p:spPr>
          <a:xfrm>
            <a:off x="457200" y="266700"/>
            <a:ext cx="7810500" cy="495300"/>
          </a:xfrm>
          <a:prstGeom prst="rect">
            <a:avLst/>
          </a:prstGeom>
          <a:noFill/>
          <a:ln w="0">
            <a:noFill/>
            <a:prstDash val="solid"/>
          </a:ln>
        </p:spPr>
        <p:txBody>
          <a:bodyPr/>
          <a:lstStyle/>
          <a:p>
            <a:pPr algn="l">
              <a:defRPr sz="2700" b="0" i="0">
                <a:solidFill>
                  <a:srgbClr val="142746"/>
                </a:solidFill>
              </a:defRPr>
            </a:pPr>
            <a:r>
              <a:rPr lang="de-DE" sz="2700" b="1" i="0">
                <a:solidFill>
                  <a:srgbClr val="142746"/>
                </a:solidFill>
              </a:rPr>
              <a:t>Stage 3: </a:t>
            </a:r>
            <a:r>
              <a:rPr lang="de-DE" sz="2700" b="1" i="0" err="1">
                <a:solidFill>
                  <a:srgbClr val="142746"/>
                </a:solidFill>
              </a:rPr>
              <a:t>Saisonale</a:t>
            </a:r>
            <a:r>
              <a:rPr lang="de-DE" sz="2700" b="1" i="0">
                <a:solidFill>
                  <a:srgbClr val="142746"/>
                </a:solidFill>
              </a:rPr>
              <a:t> </a:t>
            </a:r>
            <a:r>
              <a:rPr lang="de-DE" sz="2700" b="1" i="0" err="1">
                <a:solidFill>
                  <a:srgbClr val="142746"/>
                </a:solidFill>
              </a:rPr>
              <a:t>Anpassung</a:t>
            </a:r>
            <a:endParaRPr lang="de-DE" sz="2700" b="1" i="0">
              <a:solidFill>
                <a:srgbClr val="142746"/>
              </a:solidFill>
            </a:endParaRPr>
          </a:p>
        </p:txBody>
      </p:sp>
      <p:sp>
        <p:nvSpPr>
          <p:cNvPr id="3" name="Subtitle">
            <a:extLst>
              <a:ext uri="{FF2B5EF4-FFF2-40B4-BE49-F238E27FC236}">
                <a16:creationId xmlns:a16="http://schemas.microsoft.com/office/drawing/2014/main" id="{2D8ACE21-5C63-4A1A-81B5-B4CD57179AF1}"/>
              </a:ext>
            </a:extLst>
          </p:cNvPr>
          <p:cNvSpPr>
            <a:spLocks noGrp="1"/>
          </p:cNvSpPr>
          <p:nvPr/>
        </p:nvSpPr>
        <p:spPr>
          <a:xfrm>
            <a:off x="457200" y="781050"/>
            <a:ext cx="7810500" cy="266700"/>
          </a:xfrm>
          <a:prstGeom prst="rect">
            <a:avLst/>
          </a:prstGeom>
          <a:noFill/>
          <a:ln w="0">
            <a:noFill/>
            <a:prstDash val="solid"/>
          </a:ln>
        </p:spPr>
        <p:txBody>
          <a:bodyPr/>
          <a:lstStyle/>
          <a:p>
            <a:pPr algn="l">
              <a:defRPr sz="1125" b="0" i="1">
                <a:solidFill>
                  <a:srgbClr val="68768E"/>
                </a:solidFill>
              </a:defRPr>
            </a:pPr>
            <a:r>
              <a:rPr sz="1125" b="0" i="1">
                <a:solidFill>
                  <a:srgbClr val="68768E"/>
                </a:solidFill>
              </a:rPr>
              <a:t>Saisonfaktor nach Karosserieform und Monat – vorsichtig geglättet</a:t>
            </a:r>
          </a:p>
        </p:txBody>
      </p:sp>
      <p:sp>
        <p:nvSpPr>
          <p:cNvPr id="4" name="MethodBox">
            <a:extLst>
              <a:ext uri="{FF2B5EF4-FFF2-40B4-BE49-F238E27FC236}">
                <a16:creationId xmlns:a16="http://schemas.microsoft.com/office/drawing/2014/main" id="{C9A4B6CF-C5A9-44EA-82C3-FC48232E6D6F}"/>
              </a:ext>
            </a:extLst>
          </p:cNvPr>
          <p:cNvSpPr>
            <a:spLocks noGrp="1"/>
          </p:cNvSpPr>
          <p:nvPr/>
        </p:nvSpPr>
        <p:spPr>
          <a:xfrm>
            <a:off x="361950" y="1066800"/>
            <a:ext cx="3886200" cy="2857500"/>
          </a:xfrm>
          <a:prstGeom prst="rect">
            <a:avLst/>
          </a:prstGeom>
          <a:solidFill>
            <a:srgbClr val="FFFFFF"/>
          </a:solidFill>
          <a:ln w="9525">
            <a:solidFill>
              <a:srgbClr val="DCE4EE"/>
            </a:solidFill>
            <a:prstDash val="solid"/>
          </a:ln>
        </p:spPr>
        <p:txBody>
          <a:bodyPr/>
          <a:lstStyle/>
          <a:p>
            <a:endParaRPr lang="de-DE"/>
          </a:p>
        </p:txBody>
      </p:sp>
      <p:sp>
        <p:nvSpPr>
          <p:cNvPr id="5" name="Accent">
            <a:extLst>
              <a:ext uri="{FF2B5EF4-FFF2-40B4-BE49-F238E27FC236}">
                <a16:creationId xmlns:a16="http://schemas.microsoft.com/office/drawing/2014/main" id="{A4157FC5-F47C-4C62-893D-B05056324B32}"/>
              </a:ext>
            </a:extLst>
          </p:cNvPr>
          <p:cNvSpPr>
            <a:spLocks noGrp="1"/>
          </p:cNvSpPr>
          <p:nvPr/>
        </p:nvSpPr>
        <p:spPr>
          <a:xfrm>
            <a:off x="361950" y="1066800"/>
            <a:ext cx="3886200" cy="66675"/>
          </a:xfrm>
          <a:prstGeom prst="rect">
            <a:avLst/>
          </a:prstGeom>
          <a:solidFill>
            <a:srgbClr val="7C3AED"/>
          </a:solidFill>
          <a:ln w="9525">
            <a:solidFill>
              <a:srgbClr val="7C3AED"/>
            </a:solidFill>
            <a:prstDash val="solid"/>
          </a:ln>
        </p:spPr>
        <p:txBody>
          <a:bodyPr/>
          <a:lstStyle/>
          <a:p>
            <a:endParaRPr lang="de-DE"/>
          </a:p>
        </p:txBody>
      </p:sp>
      <p:sp>
        <p:nvSpPr>
          <p:cNvPr id="6" name="Text">
            <a:extLst>
              <a:ext uri="{FF2B5EF4-FFF2-40B4-BE49-F238E27FC236}">
                <a16:creationId xmlns:a16="http://schemas.microsoft.com/office/drawing/2014/main" id="{C4E2C17A-92CA-4603-8788-80317BED5F0A}"/>
              </a:ext>
            </a:extLst>
          </p:cNvPr>
          <p:cNvSpPr>
            <a:spLocks noGrp="1"/>
          </p:cNvSpPr>
          <p:nvPr/>
        </p:nvSpPr>
        <p:spPr>
          <a:xfrm>
            <a:off x="590550" y="1352550"/>
            <a:ext cx="3238500" cy="266700"/>
          </a:xfrm>
          <a:prstGeom prst="rect">
            <a:avLst/>
          </a:prstGeom>
          <a:noFill/>
          <a:ln w="0">
            <a:noFill/>
            <a:prstDash val="solid"/>
          </a:ln>
        </p:spPr>
        <p:txBody>
          <a:bodyPr/>
          <a:lstStyle/>
          <a:p>
            <a:pPr algn="l">
              <a:defRPr sz="1500" b="1" i="0">
                <a:solidFill>
                  <a:srgbClr val="142746"/>
                </a:solidFill>
              </a:defRPr>
            </a:pPr>
            <a:r>
              <a:rPr sz="1500" b="1" i="0">
                <a:solidFill>
                  <a:srgbClr val="142746"/>
                </a:solidFill>
              </a:rPr>
              <a:t>Methodik</a:t>
            </a:r>
          </a:p>
        </p:txBody>
      </p:sp>
      <p:sp>
        <p:nvSpPr>
          <p:cNvPr id="7" name="Text">
            <a:extLst>
              <a:ext uri="{FF2B5EF4-FFF2-40B4-BE49-F238E27FC236}">
                <a16:creationId xmlns:a16="http://schemas.microsoft.com/office/drawing/2014/main" id="{3AD1EAC3-84D1-4284-87D6-5CDB615AAA7E}"/>
              </a:ext>
            </a:extLst>
          </p:cNvPr>
          <p:cNvSpPr>
            <a:spLocks noGrp="1"/>
          </p:cNvSpPr>
          <p:nvPr/>
        </p:nvSpPr>
        <p:spPr>
          <a:xfrm>
            <a:off x="590550" y="1790700"/>
            <a:ext cx="3143250" cy="400050"/>
          </a:xfrm>
          <a:prstGeom prst="rect">
            <a:avLst/>
          </a:prstGeom>
          <a:noFill/>
          <a:ln w="0">
            <a:noFill/>
            <a:prstDash val="solid"/>
          </a:ln>
        </p:spPr>
        <p:txBody>
          <a:bodyPr/>
          <a:lstStyle/>
          <a:p>
            <a:pPr algn="l">
              <a:defRPr sz="1125" b="0" i="0">
                <a:solidFill>
                  <a:srgbClr val="142746"/>
                </a:solidFill>
              </a:defRPr>
            </a:pPr>
            <a:r>
              <a:rPr sz="1125" b="0" i="0">
                <a:solidFill>
                  <a:srgbClr val="142746"/>
                </a:solidFill>
              </a:rPr>
              <a:t>• CPI-normalisierte Preise statt roher Monatspreise</a:t>
            </a:r>
          </a:p>
        </p:txBody>
      </p:sp>
      <p:sp>
        <p:nvSpPr>
          <p:cNvPr id="8" name="Text">
            <a:extLst>
              <a:ext uri="{FF2B5EF4-FFF2-40B4-BE49-F238E27FC236}">
                <a16:creationId xmlns:a16="http://schemas.microsoft.com/office/drawing/2014/main" id="{84763788-508E-4B68-868D-006394A9370B}"/>
              </a:ext>
            </a:extLst>
          </p:cNvPr>
          <p:cNvSpPr>
            <a:spLocks noGrp="1"/>
          </p:cNvSpPr>
          <p:nvPr/>
        </p:nvSpPr>
        <p:spPr>
          <a:xfrm>
            <a:off x="590550" y="2266950"/>
            <a:ext cx="3143250" cy="514350"/>
          </a:xfrm>
          <a:prstGeom prst="rect">
            <a:avLst/>
          </a:prstGeom>
          <a:noFill/>
          <a:ln w="0">
            <a:noFill/>
            <a:prstDash val="solid"/>
          </a:ln>
        </p:spPr>
        <p:txBody>
          <a:bodyPr/>
          <a:lstStyle/>
          <a:p>
            <a:pPr algn="l">
              <a:defRPr sz="1125" b="0" i="0">
                <a:solidFill>
                  <a:srgbClr val="142746"/>
                </a:solidFill>
              </a:defRPr>
            </a:pPr>
            <a:r>
              <a:rPr sz="1125" b="0" i="0">
                <a:solidFill>
                  <a:srgbClr val="142746"/>
                </a:solidFill>
              </a:rPr>
              <a:t>• Vergleich mit Stage-1-Schätzung: Fahrzeugmix wird reduziert</a:t>
            </a:r>
          </a:p>
        </p:txBody>
      </p:sp>
      <p:sp>
        <p:nvSpPr>
          <p:cNvPr id="9" name="Text">
            <a:extLst>
              <a:ext uri="{FF2B5EF4-FFF2-40B4-BE49-F238E27FC236}">
                <a16:creationId xmlns:a16="http://schemas.microsoft.com/office/drawing/2014/main" id="{872A590F-C1B9-42EC-970E-6F5597CB5F2B}"/>
              </a:ext>
            </a:extLst>
          </p:cNvPr>
          <p:cNvSpPr>
            <a:spLocks noGrp="1"/>
          </p:cNvSpPr>
          <p:nvPr/>
        </p:nvSpPr>
        <p:spPr>
          <a:xfrm>
            <a:off x="590550" y="2857500"/>
            <a:ext cx="3143250" cy="323850"/>
          </a:xfrm>
          <a:prstGeom prst="rect">
            <a:avLst/>
          </a:prstGeom>
          <a:noFill/>
          <a:ln w="0">
            <a:noFill/>
            <a:prstDash val="solid"/>
          </a:ln>
        </p:spPr>
        <p:txBody>
          <a:bodyPr/>
          <a:lstStyle/>
          <a:p>
            <a:pPr algn="l">
              <a:defRPr sz="1125" b="0" i="0">
                <a:solidFill>
                  <a:srgbClr val="142746"/>
                </a:solidFill>
              </a:defRPr>
            </a:pPr>
            <a:r>
              <a:rPr sz="1125" b="0" i="0">
                <a:solidFill>
                  <a:srgbClr val="142746"/>
                </a:solidFill>
              </a:rPr>
              <a:t>• Faktoren werden Richtung 1,0 geglättet</a:t>
            </a:r>
          </a:p>
        </p:txBody>
      </p:sp>
      <p:sp>
        <p:nvSpPr>
          <p:cNvPr id="10" name="Text">
            <a:extLst>
              <a:ext uri="{FF2B5EF4-FFF2-40B4-BE49-F238E27FC236}">
                <a16:creationId xmlns:a16="http://schemas.microsoft.com/office/drawing/2014/main" id="{45FC16D3-1EF6-43B5-9036-0CB18A967D74}"/>
              </a:ext>
            </a:extLst>
          </p:cNvPr>
          <p:cNvSpPr>
            <a:spLocks noGrp="1"/>
          </p:cNvSpPr>
          <p:nvPr/>
        </p:nvSpPr>
        <p:spPr>
          <a:xfrm>
            <a:off x="590550" y="3276600"/>
            <a:ext cx="3143250" cy="323850"/>
          </a:xfrm>
          <a:prstGeom prst="rect">
            <a:avLst/>
          </a:prstGeom>
          <a:noFill/>
          <a:ln w="0">
            <a:noFill/>
            <a:prstDash val="solid"/>
          </a:ln>
        </p:spPr>
        <p:txBody>
          <a:bodyPr/>
          <a:lstStyle/>
          <a:p>
            <a:pPr algn="l">
              <a:defRPr sz="1125" b="0" i="0">
                <a:solidFill>
                  <a:srgbClr val="142746"/>
                </a:solidFill>
              </a:defRPr>
            </a:pPr>
            <a:r>
              <a:rPr sz="1125" b="0" i="0">
                <a:solidFill>
                  <a:srgbClr val="142746"/>
                </a:solidFill>
              </a:rPr>
              <a:t>• Kein Datenmonat → neutraler Faktor 1,0</a:t>
            </a:r>
          </a:p>
        </p:txBody>
      </p:sp>
      <p:sp>
        <p:nvSpPr>
          <p:cNvPr id="11" name="ResultBox">
            <a:extLst>
              <a:ext uri="{FF2B5EF4-FFF2-40B4-BE49-F238E27FC236}">
                <a16:creationId xmlns:a16="http://schemas.microsoft.com/office/drawing/2014/main" id="{263390C0-7B62-4618-986A-6C5C4595FC04}"/>
              </a:ext>
            </a:extLst>
          </p:cNvPr>
          <p:cNvSpPr>
            <a:spLocks noGrp="1"/>
          </p:cNvSpPr>
          <p:nvPr/>
        </p:nvSpPr>
        <p:spPr>
          <a:xfrm>
            <a:off x="4762500" y="1066800"/>
            <a:ext cx="4019550" cy="2857500"/>
          </a:xfrm>
          <a:prstGeom prst="rect">
            <a:avLst/>
          </a:prstGeom>
          <a:solidFill>
            <a:srgbClr val="FFFFFF"/>
          </a:solidFill>
          <a:ln w="9525">
            <a:solidFill>
              <a:srgbClr val="DCE4EE"/>
            </a:solidFill>
            <a:prstDash val="solid"/>
          </a:ln>
        </p:spPr>
        <p:txBody>
          <a:bodyPr/>
          <a:lstStyle/>
          <a:p>
            <a:endParaRPr lang="de-DE"/>
          </a:p>
        </p:txBody>
      </p:sp>
      <p:sp>
        <p:nvSpPr>
          <p:cNvPr id="12" name="Accent">
            <a:extLst>
              <a:ext uri="{FF2B5EF4-FFF2-40B4-BE49-F238E27FC236}">
                <a16:creationId xmlns:a16="http://schemas.microsoft.com/office/drawing/2014/main" id="{E74BF94A-973F-4AF0-BBAA-A5687D30AD43}"/>
              </a:ext>
            </a:extLst>
          </p:cNvPr>
          <p:cNvSpPr>
            <a:spLocks noGrp="1"/>
          </p:cNvSpPr>
          <p:nvPr/>
        </p:nvSpPr>
        <p:spPr>
          <a:xfrm>
            <a:off x="4762500" y="1066800"/>
            <a:ext cx="4019550" cy="66675"/>
          </a:xfrm>
          <a:prstGeom prst="rect">
            <a:avLst/>
          </a:prstGeom>
          <a:solidFill>
            <a:srgbClr val="009681"/>
          </a:solidFill>
          <a:ln w="9525">
            <a:solidFill>
              <a:srgbClr val="009681"/>
            </a:solidFill>
            <a:prstDash val="solid"/>
          </a:ln>
        </p:spPr>
        <p:txBody>
          <a:bodyPr/>
          <a:lstStyle/>
          <a:p>
            <a:endParaRPr lang="de-DE"/>
          </a:p>
        </p:txBody>
      </p:sp>
      <p:sp>
        <p:nvSpPr>
          <p:cNvPr id="13" name="Text">
            <a:extLst>
              <a:ext uri="{FF2B5EF4-FFF2-40B4-BE49-F238E27FC236}">
                <a16:creationId xmlns:a16="http://schemas.microsoft.com/office/drawing/2014/main" id="{BEABD94F-7F71-48A8-B53D-3D5B726F225B}"/>
              </a:ext>
            </a:extLst>
          </p:cNvPr>
          <p:cNvSpPr>
            <a:spLocks noGrp="1"/>
          </p:cNvSpPr>
          <p:nvPr/>
        </p:nvSpPr>
        <p:spPr>
          <a:xfrm>
            <a:off x="4991100" y="1352550"/>
            <a:ext cx="3238500" cy="266700"/>
          </a:xfrm>
          <a:prstGeom prst="rect">
            <a:avLst/>
          </a:prstGeom>
          <a:noFill/>
          <a:ln w="0">
            <a:noFill/>
            <a:prstDash val="solid"/>
          </a:ln>
        </p:spPr>
        <p:txBody>
          <a:bodyPr/>
          <a:lstStyle/>
          <a:p>
            <a:pPr algn="l">
              <a:defRPr sz="1500" b="1" i="0">
                <a:solidFill>
                  <a:srgbClr val="142746"/>
                </a:solidFill>
              </a:defRPr>
            </a:pPr>
            <a:r>
              <a:rPr sz="1500" b="1" i="0">
                <a:solidFill>
                  <a:srgbClr val="142746"/>
                </a:solidFill>
              </a:rPr>
              <a:t>Ergebnis</a:t>
            </a:r>
          </a:p>
        </p:txBody>
      </p:sp>
      <p:sp>
        <p:nvSpPr>
          <p:cNvPr id="14" name="MetricBox">
            <a:extLst>
              <a:ext uri="{FF2B5EF4-FFF2-40B4-BE49-F238E27FC236}">
                <a16:creationId xmlns:a16="http://schemas.microsoft.com/office/drawing/2014/main" id="{22F84713-656A-4D38-9F0B-47DF61542138}"/>
              </a:ext>
            </a:extLst>
          </p:cNvPr>
          <p:cNvSpPr>
            <a:spLocks noGrp="1"/>
          </p:cNvSpPr>
          <p:nvPr/>
        </p:nvSpPr>
        <p:spPr>
          <a:xfrm>
            <a:off x="5010150" y="1771650"/>
            <a:ext cx="1619250" cy="819150"/>
          </a:xfrm>
          <a:prstGeom prst="rect">
            <a:avLst/>
          </a:prstGeom>
          <a:solidFill>
            <a:srgbClr val="FFFFFF"/>
          </a:solidFill>
          <a:ln w="9525">
            <a:solidFill>
              <a:srgbClr val="DCE4EE"/>
            </a:solidFill>
            <a:prstDash val="solid"/>
          </a:ln>
        </p:spPr>
        <p:txBody>
          <a:bodyPr/>
          <a:lstStyle/>
          <a:p>
            <a:endParaRPr lang="de-DE"/>
          </a:p>
        </p:txBody>
      </p:sp>
      <p:sp>
        <p:nvSpPr>
          <p:cNvPr id="15" name="Text">
            <a:extLst>
              <a:ext uri="{FF2B5EF4-FFF2-40B4-BE49-F238E27FC236}">
                <a16:creationId xmlns:a16="http://schemas.microsoft.com/office/drawing/2014/main" id="{FBC3DD85-D2EF-436B-8374-CA686C695339}"/>
              </a:ext>
            </a:extLst>
          </p:cNvPr>
          <p:cNvSpPr>
            <a:spLocks noGrp="1"/>
          </p:cNvSpPr>
          <p:nvPr/>
        </p:nvSpPr>
        <p:spPr>
          <a:xfrm>
            <a:off x="5124450" y="1914525"/>
            <a:ext cx="1390650" cy="342900"/>
          </a:xfrm>
          <a:prstGeom prst="rect">
            <a:avLst/>
          </a:prstGeom>
          <a:noFill/>
          <a:ln w="0">
            <a:noFill/>
            <a:prstDash val="solid"/>
          </a:ln>
        </p:spPr>
        <p:txBody>
          <a:bodyPr/>
          <a:lstStyle/>
          <a:p>
            <a:pPr algn="ctr">
              <a:defRPr sz="2100" b="0" i="0">
                <a:solidFill>
                  <a:srgbClr val="68768E"/>
                </a:solidFill>
              </a:defRPr>
            </a:pPr>
            <a:r>
              <a:rPr sz="2100" b="0" i="0">
                <a:solidFill>
                  <a:srgbClr val="68768E"/>
                </a:solidFill>
              </a:rPr>
              <a:t>$1.895</a:t>
            </a:r>
          </a:p>
        </p:txBody>
      </p:sp>
      <p:sp>
        <p:nvSpPr>
          <p:cNvPr id="16" name="Text">
            <a:extLst>
              <a:ext uri="{FF2B5EF4-FFF2-40B4-BE49-F238E27FC236}">
                <a16:creationId xmlns:a16="http://schemas.microsoft.com/office/drawing/2014/main" id="{9B70DA62-A6C2-45B3-A793-3F7D4131384C}"/>
              </a:ext>
            </a:extLst>
          </p:cNvPr>
          <p:cNvSpPr>
            <a:spLocks noGrp="1"/>
          </p:cNvSpPr>
          <p:nvPr/>
        </p:nvSpPr>
        <p:spPr>
          <a:xfrm>
            <a:off x="5124450" y="2305050"/>
            <a:ext cx="1390650" cy="228600"/>
          </a:xfrm>
          <a:prstGeom prst="rect">
            <a:avLst/>
          </a:prstGeom>
          <a:noFill/>
          <a:ln w="0">
            <a:noFill/>
            <a:prstDash val="solid"/>
          </a:ln>
        </p:spPr>
        <p:txBody>
          <a:bodyPr/>
          <a:lstStyle/>
          <a:p>
            <a:pPr algn="ctr">
              <a:defRPr sz="900" b="0" i="0">
                <a:solidFill>
                  <a:srgbClr val="142746"/>
                </a:solidFill>
              </a:defRPr>
            </a:pPr>
            <a:r>
              <a:rPr sz="900" b="0" i="0">
                <a:solidFill>
                  <a:srgbClr val="142746"/>
                </a:solidFill>
              </a:rPr>
              <a:t>MAE ohne Saison</a:t>
            </a:r>
          </a:p>
        </p:txBody>
      </p:sp>
      <p:sp>
        <p:nvSpPr>
          <p:cNvPr id="17" name="MetricBox">
            <a:extLst>
              <a:ext uri="{FF2B5EF4-FFF2-40B4-BE49-F238E27FC236}">
                <a16:creationId xmlns:a16="http://schemas.microsoft.com/office/drawing/2014/main" id="{5D6F1522-B71C-48F6-9EE2-BBB9A54EB389}"/>
              </a:ext>
            </a:extLst>
          </p:cNvPr>
          <p:cNvSpPr>
            <a:spLocks noGrp="1"/>
          </p:cNvSpPr>
          <p:nvPr/>
        </p:nvSpPr>
        <p:spPr>
          <a:xfrm>
            <a:off x="6934200" y="1771650"/>
            <a:ext cx="1619250" cy="819150"/>
          </a:xfrm>
          <a:prstGeom prst="rect">
            <a:avLst/>
          </a:prstGeom>
          <a:solidFill>
            <a:srgbClr val="FFFFFF"/>
          </a:solidFill>
          <a:ln w="9525">
            <a:solidFill>
              <a:srgbClr val="DCE4EE"/>
            </a:solidFill>
            <a:prstDash val="solid"/>
          </a:ln>
        </p:spPr>
        <p:txBody>
          <a:bodyPr/>
          <a:lstStyle/>
          <a:p>
            <a:endParaRPr lang="de-DE"/>
          </a:p>
        </p:txBody>
      </p:sp>
      <p:sp>
        <p:nvSpPr>
          <p:cNvPr id="18" name="Text">
            <a:extLst>
              <a:ext uri="{FF2B5EF4-FFF2-40B4-BE49-F238E27FC236}">
                <a16:creationId xmlns:a16="http://schemas.microsoft.com/office/drawing/2014/main" id="{E107207A-B65C-49A4-89BC-2CC9616DE0A3}"/>
              </a:ext>
            </a:extLst>
          </p:cNvPr>
          <p:cNvSpPr>
            <a:spLocks noGrp="1"/>
          </p:cNvSpPr>
          <p:nvPr/>
        </p:nvSpPr>
        <p:spPr>
          <a:xfrm>
            <a:off x="7048500" y="1914525"/>
            <a:ext cx="1390650" cy="342900"/>
          </a:xfrm>
          <a:prstGeom prst="rect">
            <a:avLst/>
          </a:prstGeom>
          <a:noFill/>
          <a:ln w="0">
            <a:noFill/>
            <a:prstDash val="solid"/>
          </a:ln>
        </p:spPr>
        <p:txBody>
          <a:bodyPr/>
          <a:lstStyle/>
          <a:p>
            <a:pPr algn="ctr">
              <a:defRPr sz="2100" b="0" i="0">
                <a:solidFill>
                  <a:srgbClr val="009681"/>
                </a:solidFill>
              </a:defRPr>
            </a:pPr>
            <a:r>
              <a:rPr sz="2100" b="0" i="0">
                <a:solidFill>
                  <a:srgbClr val="009681"/>
                </a:solidFill>
              </a:rPr>
              <a:t>$1.870</a:t>
            </a:r>
          </a:p>
        </p:txBody>
      </p:sp>
      <p:sp>
        <p:nvSpPr>
          <p:cNvPr id="19" name="Text">
            <a:extLst>
              <a:ext uri="{FF2B5EF4-FFF2-40B4-BE49-F238E27FC236}">
                <a16:creationId xmlns:a16="http://schemas.microsoft.com/office/drawing/2014/main" id="{50114BE9-C968-4C05-8138-9196F40CE4C7}"/>
              </a:ext>
            </a:extLst>
          </p:cNvPr>
          <p:cNvSpPr>
            <a:spLocks noGrp="1"/>
          </p:cNvSpPr>
          <p:nvPr/>
        </p:nvSpPr>
        <p:spPr>
          <a:xfrm>
            <a:off x="7048500" y="2305050"/>
            <a:ext cx="1390650" cy="228600"/>
          </a:xfrm>
          <a:prstGeom prst="rect">
            <a:avLst/>
          </a:prstGeom>
          <a:noFill/>
          <a:ln w="0">
            <a:noFill/>
            <a:prstDash val="solid"/>
          </a:ln>
        </p:spPr>
        <p:txBody>
          <a:bodyPr/>
          <a:lstStyle/>
          <a:p>
            <a:pPr algn="ctr">
              <a:defRPr sz="900" b="0" i="0">
                <a:solidFill>
                  <a:srgbClr val="142746"/>
                </a:solidFill>
              </a:defRPr>
            </a:pPr>
            <a:r>
              <a:rPr sz="900" b="0" i="0">
                <a:solidFill>
                  <a:srgbClr val="142746"/>
                </a:solidFill>
              </a:rPr>
              <a:t>MAE mit Saison</a:t>
            </a:r>
          </a:p>
        </p:txBody>
      </p:sp>
      <p:sp>
        <p:nvSpPr>
          <p:cNvPr id="20" name="Text">
            <a:extLst>
              <a:ext uri="{FF2B5EF4-FFF2-40B4-BE49-F238E27FC236}">
                <a16:creationId xmlns:a16="http://schemas.microsoft.com/office/drawing/2014/main" id="{5D3FD6A9-CEB4-4D9D-8CF7-D5180C8B55BF}"/>
              </a:ext>
            </a:extLst>
          </p:cNvPr>
          <p:cNvSpPr>
            <a:spLocks noGrp="1"/>
          </p:cNvSpPr>
          <p:nvPr/>
        </p:nvSpPr>
        <p:spPr>
          <a:xfrm>
            <a:off x="5219700" y="2819400"/>
            <a:ext cx="2952750" cy="323850"/>
          </a:xfrm>
          <a:prstGeom prst="rect">
            <a:avLst/>
          </a:prstGeom>
          <a:noFill/>
          <a:ln w="0">
            <a:noFill/>
            <a:prstDash val="solid"/>
          </a:ln>
        </p:spPr>
        <p:txBody>
          <a:bodyPr/>
          <a:lstStyle/>
          <a:p>
            <a:pPr algn="ctr">
              <a:defRPr sz="1650" b="1" i="0">
                <a:solidFill>
                  <a:srgbClr val="009681"/>
                </a:solidFill>
              </a:defRPr>
            </a:pPr>
            <a:r>
              <a:rPr sz="1650" b="1" i="0">
                <a:solidFill>
                  <a:srgbClr val="009681"/>
                </a:solidFill>
              </a:rPr>
              <a:t>Verbesserung: −1,31 %</a:t>
            </a:r>
          </a:p>
        </p:txBody>
      </p:sp>
      <p:sp>
        <p:nvSpPr>
          <p:cNvPr id="21" name="Text">
            <a:extLst>
              <a:ext uri="{FF2B5EF4-FFF2-40B4-BE49-F238E27FC236}">
                <a16:creationId xmlns:a16="http://schemas.microsoft.com/office/drawing/2014/main" id="{E9E35669-B69D-4371-808D-3FFE0AF7D608}"/>
              </a:ext>
            </a:extLst>
          </p:cNvPr>
          <p:cNvSpPr>
            <a:spLocks noGrp="1"/>
          </p:cNvSpPr>
          <p:nvPr/>
        </p:nvSpPr>
        <p:spPr>
          <a:xfrm>
            <a:off x="5010150" y="3333750"/>
            <a:ext cx="3429000" cy="438150"/>
          </a:xfrm>
          <a:prstGeom prst="rect">
            <a:avLst/>
          </a:prstGeom>
          <a:noFill/>
          <a:ln w="0">
            <a:noFill/>
            <a:prstDash val="solid"/>
          </a:ln>
        </p:spPr>
        <p:txBody>
          <a:bodyPr/>
          <a:lstStyle/>
          <a:p>
            <a:pPr algn="ctr">
              <a:defRPr sz="1125" b="0" i="0">
                <a:solidFill>
                  <a:srgbClr val="68768E"/>
                </a:solidFill>
              </a:defRPr>
            </a:pPr>
            <a:r>
              <a:rPr sz="1125" b="0" i="0">
                <a:solidFill>
                  <a:srgbClr val="68768E"/>
                </a:solidFill>
              </a:rPr>
              <a:t>Beispielmuster: Sedan/SUV/Convertible stärker im März, schwächer im Dezember.</a:t>
            </a:r>
          </a:p>
        </p:txBody>
      </p:sp>
      <p:sp>
        <p:nvSpPr>
          <p:cNvPr id="22" name="Callout">
            <a:extLst>
              <a:ext uri="{FF2B5EF4-FFF2-40B4-BE49-F238E27FC236}">
                <a16:creationId xmlns:a16="http://schemas.microsoft.com/office/drawing/2014/main" id="{31931092-24FD-4623-8694-7A87C6F8A10E}"/>
              </a:ext>
            </a:extLst>
          </p:cNvPr>
          <p:cNvSpPr>
            <a:spLocks noGrp="1"/>
          </p:cNvSpPr>
          <p:nvPr/>
        </p:nvSpPr>
        <p:spPr>
          <a:xfrm>
            <a:off x="361950" y="4476750"/>
            <a:ext cx="8420100" cy="400050"/>
          </a:xfrm>
          <a:prstGeom prst="rect">
            <a:avLst/>
          </a:prstGeom>
          <a:solidFill>
            <a:srgbClr val="E8FBF7"/>
          </a:solidFill>
          <a:ln w="9525">
            <a:solidFill>
              <a:srgbClr val="54D8C8"/>
            </a:solidFill>
            <a:prstDash val="solid"/>
          </a:ln>
        </p:spPr>
        <p:txBody>
          <a:bodyPr/>
          <a:lstStyle/>
          <a:p>
            <a:endParaRPr lang="de-DE"/>
          </a:p>
        </p:txBody>
      </p:sp>
      <p:sp>
        <p:nvSpPr>
          <p:cNvPr id="23" name="CalloutText">
            <a:extLst>
              <a:ext uri="{FF2B5EF4-FFF2-40B4-BE49-F238E27FC236}">
                <a16:creationId xmlns:a16="http://schemas.microsoft.com/office/drawing/2014/main" id="{1B5F8C30-854D-4907-8314-520312358587}"/>
              </a:ext>
            </a:extLst>
          </p:cNvPr>
          <p:cNvSpPr>
            <a:spLocks noGrp="1"/>
          </p:cNvSpPr>
          <p:nvPr/>
        </p:nvSpPr>
        <p:spPr>
          <a:xfrm>
            <a:off x="533400" y="4600575"/>
            <a:ext cx="8077200" cy="228600"/>
          </a:xfrm>
          <a:prstGeom prst="rect">
            <a:avLst/>
          </a:prstGeom>
          <a:noFill/>
          <a:ln w="0">
            <a:noFill/>
            <a:prstDash val="solid"/>
          </a:ln>
        </p:spPr>
        <p:txBody>
          <a:bodyPr/>
          <a:lstStyle/>
          <a:p>
            <a:pPr algn="l">
              <a:defRPr sz="1125" b="0" i="0">
                <a:solidFill>
                  <a:srgbClr val="142746"/>
                </a:solidFill>
              </a:defRPr>
            </a:pPr>
            <a:r>
              <a:rPr sz="1125" b="0" i="0">
                <a:solidFill>
                  <a:srgbClr val="142746"/>
                </a:solidFill>
              </a:rPr>
              <a:t>Saison ist bewusst eine kleine Korrektur – nicht der Haupttreiber der Preisprognose.</a:t>
            </a:r>
          </a:p>
        </p:txBody>
      </p:sp>
    </p:spTree>
    <p:extLst>
      <p:ext uri="{BB962C8B-B14F-4D97-AF65-F5344CB8AC3E}">
        <p14:creationId xmlns:p14="http://schemas.microsoft.com/office/powerpoint/2010/main" val="12119749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bg>
      <p:bgPr>
        <a:solidFill>
          <a:srgbClr val="EEF4FA"/>
        </a:solidFill>
        <a:effectLst/>
      </p:bgPr>
    </p:bg>
    <p:spTree>
      <p:nvGrpSpPr>
        <p:cNvPr id="1" name=""/>
        <p:cNvGrpSpPr/>
        <p:nvPr/>
      </p:nvGrpSpPr>
      <p:grpSpPr>
        <a:xfrm>
          <a:off x="0" y="0"/>
          <a:ext cx="0" cy="0"/>
          <a:chOff x="0" y="0"/>
          <a:chExt cx="0" cy="0"/>
        </a:xfrm>
      </p:grpSpPr>
      <p:sp>
        <p:nvSpPr>
          <p:cNvPr id="27" name="TopBar">
            <a:extLst>
              <a:ext uri="{FF2B5EF4-FFF2-40B4-BE49-F238E27FC236}">
                <a16:creationId xmlns:a16="http://schemas.microsoft.com/office/drawing/2014/main" id="{D3A921AC-F8F2-46B7-A28D-32B1476A2544}"/>
              </a:ext>
            </a:extLst>
          </p:cNvPr>
          <p:cNvSpPr>
            <a:spLocks noGrp="1"/>
          </p:cNvSpPr>
          <p:nvPr/>
        </p:nvSpPr>
        <p:spPr>
          <a:xfrm>
            <a:off x="0" y="0"/>
            <a:ext cx="9144000" cy="63818"/>
          </a:xfrm>
          <a:prstGeom prst="rect">
            <a:avLst/>
          </a:prstGeom>
          <a:solidFill>
            <a:srgbClr val="009681"/>
          </a:solidFill>
          <a:ln w="0">
            <a:solidFill>
              <a:srgbClr val="009681"/>
            </a:solidFill>
          </a:ln>
        </p:spPr>
        <p:txBody>
          <a:bodyPr/>
          <a:lstStyle/>
          <a:p>
            <a:endParaRPr lang="de-DE"/>
          </a:p>
        </p:txBody>
      </p:sp>
      <p:sp>
        <p:nvSpPr>
          <p:cNvPr id="2" name="Title">
            <a:extLst>
              <a:ext uri="{FF2B5EF4-FFF2-40B4-BE49-F238E27FC236}">
                <a16:creationId xmlns:a16="http://schemas.microsoft.com/office/drawing/2014/main" id="{D47ACF0F-4880-4A60-9C6C-6092A45851DF}"/>
              </a:ext>
            </a:extLst>
          </p:cNvPr>
          <p:cNvSpPr>
            <a:spLocks noGrp="1"/>
          </p:cNvSpPr>
          <p:nvPr/>
        </p:nvSpPr>
        <p:spPr>
          <a:xfrm>
            <a:off x="457200" y="266700"/>
            <a:ext cx="7810500" cy="495300"/>
          </a:xfrm>
          <a:prstGeom prst="rect">
            <a:avLst/>
          </a:prstGeom>
          <a:noFill/>
          <a:ln w="0">
            <a:noFill/>
            <a:prstDash val="solid"/>
          </a:ln>
        </p:spPr>
        <p:txBody>
          <a:bodyPr/>
          <a:lstStyle/>
          <a:p>
            <a:pPr algn="l">
              <a:defRPr sz="2700" b="0" i="0">
                <a:solidFill>
                  <a:srgbClr val="142746"/>
                </a:solidFill>
              </a:defRPr>
            </a:pPr>
            <a:r>
              <a:rPr sz="2700" b="0" i="0">
                <a:solidFill>
                  <a:srgbClr val="142746"/>
                </a:solidFill>
              </a:rPr>
              <a:t>Finale Pipeline in der Streamlit-Demo</a:t>
            </a:r>
          </a:p>
        </p:txBody>
      </p:sp>
      <p:sp>
        <p:nvSpPr>
          <p:cNvPr id="3" name="Subtitle">
            <a:extLst>
              <a:ext uri="{FF2B5EF4-FFF2-40B4-BE49-F238E27FC236}">
                <a16:creationId xmlns:a16="http://schemas.microsoft.com/office/drawing/2014/main" id="{F3E8A50A-2635-4158-92DE-A9809F5D8059}"/>
              </a:ext>
            </a:extLst>
          </p:cNvPr>
          <p:cNvSpPr>
            <a:spLocks noGrp="1"/>
          </p:cNvSpPr>
          <p:nvPr/>
        </p:nvSpPr>
        <p:spPr>
          <a:xfrm>
            <a:off x="457200" y="781050"/>
            <a:ext cx="7810500" cy="266700"/>
          </a:xfrm>
          <a:prstGeom prst="rect">
            <a:avLst/>
          </a:prstGeom>
          <a:noFill/>
          <a:ln w="0">
            <a:noFill/>
            <a:prstDash val="solid"/>
          </a:ln>
        </p:spPr>
        <p:txBody>
          <a:bodyPr/>
          <a:lstStyle/>
          <a:p>
            <a:pPr algn="l">
              <a:defRPr sz="1125" b="0" i="1">
                <a:solidFill>
                  <a:srgbClr val="68768E"/>
                </a:solidFill>
              </a:defRPr>
            </a:pPr>
            <a:r>
              <a:rPr sz="1125" b="0" i="1">
                <a:solidFill>
                  <a:srgbClr val="68768E"/>
                </a:solidFill>
              </a:rPr>
              <a:t>Ein Modell, zwei Korrekturschichten – keine konkurrierenden Modellversionen</a:t>
            </a:r>
          </a:p>
        </p:txBody>
      </p:sp>
      <p:sp>
        <p:nvSpPr>
          <p:cNvPr id="4" name="PipelineStep">
            <a:extLst>
              <a:ext uri="{FF2B5EF4-FFF2-40B4-BE49-F238E27FC236}">
                <a16:creationId xmlns:a16="http://schemas.microsoft.com/office/drawing/2014/main" id="{56417142-BEAF-4A41-AC43-B850CAF7FF46}"/>
              </a:ext>
            </a:extLst>
          </p:cNvPr>
          <p:cNvSpPr>
            <a:spLocks noGrp="1"/>
          </p:cNvSpPr>
          <p:nvPr/>
        </p:nvSpPr>
        <p:spPr>
          <a:xfrm>
            <a:off x="514350" y="1619250"/>
            <a:ext cx="1619250" cy="1428750"/>
          </a:xfrm>
          <a:prstGeom prst="rect">
            <a:avLst/>
          </a:prstGeom>
          <a:solidFill>
            <a:srgbClr val="FFFFFF"/>
          </a:solidFill>
          <a:ln w="9525">
            <a:solidFill>
              <a:srgbClr val="DCE4EE"/>
            </a:solidFill>
            <a:prstDash val="solid"/>
          </a:ln>
        </p:spPr>
        <p:txBody>
          <a:bodyPr/>
          <a:lstStyle/>
          <a:p>
            <a:endParaRPr lang="de-DE"/>
          </a:p>
        </p:txBody>
      </p:sp>
      <p:sp>
        <p:nvSpPr>
          <p:cNvPr id="5" name="Accent">
            <a:extLst>
              <a:ext uri="{FF2B5EF4-FFF2-40B4-BE49-F238E27FC236}">
                <a16:creationId xmlns:a16="http://schemas.microsoft.com/office/drawing/2014/main" id="{8908D76C-6840-493B-9642-DAE7886A103B}"/>
              </a:ext>
            </a:extLst>
          </p:cNvPr>
          <p:cNvSpPr>
            <a:spLocks noGrp="1"/>
          </p:cNvSpPr>
          <p:nvPr/>
        </p:nvSpPr>
        <p:spPr>
          <a:xfrm>
            <a:off x="514350" y="1619250"/>
            <a:ext cx="1619250" cy="66675"/>
          </a:xfrm>
          <a:prstGeom prst="rect">
            <a:avLst/>
          </a:prstGeom>
          <a:solidFill>
            <a:srgbClr val="7C3AED"/>
          </a:solidFill>
          <a:ln w="9525">
            <a:noFill/>
            <a:prstDash val="solid"/>
          </a:ln>
        </p:spPr>
        <p:txBody>
          <a:bodyPr/>
          <a:lstStyle/>
          <a:p>
            <a:endParaRPr lang="de-DE"/>
          </a:p>
        </p:txBody>
      </p:sp>
      <p:sp>
        <p:nvSpPr>
          <p:cNvPr id="6" name="Text">
            <a:extLst>
              <a:ext uri="{FF2B5EF4-FFF2-40B4-BE49-F238E27FC236}">
                <a16:creationId xmlns:a16="http://schemas.microsoft.com/office/drawing/2014/main" id="{3F9CD258-0495-4C52-9ADE-42CDF5FA2E15}"/>
              </a:ext>
            </a:extLst>
          </p:cNvPr>
          <p:cNvSpPr>
            <a:spLocks noGrp="1"/>
          </p:cNvSpPr>
          <p:nvPr/>
        </p:nvSpPr>
        <p:spPr>
          <a:xfrm>
            <a:off x="647700" y="1847850"/>
            <a:ext cx="1352550" cy="266700"/>
          </a:xfrm>
          <a:prstGeom prst="rect">
            <a:avLst/>
          </a:prstGeom>
          <a:noFill/>
          <a:ln w="0">
            <a:noFill/>
            <a:prstDash val="solid"/>
          </a:ln>
        </p:spPr>
        <p:txBody>
          <a:bodyPr/>
          <a:lstStyle/>
          <a:p>
            <a:pPr algn="ctr">
              <a:defRPr sz="1350" b="1" i="0">
                <a:solidFill>
                  <a:srgbClr val="142746"/>
                </a:solidFill>
              </a:defRPr>
            </a:pPr>
            <a:r>
              <a:rPr sz="1350" b="1" i="0">
                <a:solidFill>
                  <a:srgbClr val="142746"/>
                </a:solidFill>
              </a:rPr>
              <a:t>Input</a:t>
            </a:r>
          </a:p>
        </p:txBody>
      </p:sp>
      <p:sp>
        <p:nvSpPr>
          <p:cNvPr id="7" name="Text">
            <a:extLst>
              <a:ext uri="{FF2B5EF4-FFF2-40B4-BE49-F238E27FC236}">
                <a16:creationId xmlns:a16="http://schemas.microsoft.com/office/drawing/2014/main" id="{860997FF-D08F-4E75-8433-07D6E325EE1B}"/>
              </a:ext>
            </a:extLst>
          </p:cNvPr>
          <p:cNvSpPr>
            <a:spLocks noGrp="1"/>
          </p:cNvSpPr>
          <p:nvPr/>
        </p:nvSpPr>
        <p:spPr>
          <a:xfrm>
            <a:off x="647700" y="2266950"/>
            <a:ext cx="1352550" cy="590550"/>
          </a:xfrm>
          <a:prstGeom prst="rect">
            <a:avLst/>
          </a:prstGeom>
          <a:noFill/>
          <a:ln w="0">
            <a:noFill/>
            <a:prstDash val="solid"/>
          </a:ln>
        </p:spPr>
        <p:txBody>
          <a:bodyPr/>
          <a:lstStyle/>
          <a:p>
            <a:pPr algn="ctr">
              <a:defRPr sz="938" b="0" i="0">
                <a:solidFill>
                  <a:srgbClr val="68768E"/>
                </a:solidFill>
              </a:defRPr>
            </a:pPr>
            <a:r>
              <a:rPr sz="938" b="0" i="0">
                <a:solidFill>
                  <a:srgbClr val="68768E"/>
                </a:solidFill>
              </a:rPr>
              <a:t>Marke, Modell, Baujahr, Mileage, Zustand, Karosserie</a:t>
            </a:r>
          </a:p>
        </p:txBody>
      </p:sp>
      <p:sp>
        <p:nvSpPr>
          <p:cNvPr id="8" name="Text">
            <a:extLst>
              <a:ext uri="{FF2B5EF4-FFF2-40B4-BE49-F238E27FC236}">
                <a16:creationId xmlns:a16="http://schemas.microsoft.com/office/drawing/2014/main" id="{A8033A29-5194-4DA5-888B-27F2B2C43B54}"/>
              </a:ext>
            </a:extLst>
          </p:cNvPr>
          <p:cNvSpPr>
            <a:spLocks noGrp="1"/>
          </p:cNvSpPr>
          <p:nvPr/>
        </p:nvSpPr>
        <p:spPr>
          <a:xfrm>
            <a:off x="2266950" y="2076450"/>
            <a:ext cx="342900" cy="457200"/>
          </a:xfrm>
          <a:prstGeom prst="rect">
            <a:avLst/>
          </a:prstGeom>
          <a:noFill/>
          <a:ln w="0">
            <a:noFill/>
            <a:prstDash val="solid"/>
          </a:ln>
        </p:spPr>
        <p:txBody>
          <a:bodyPr/>
          <a:lstStyle/>
          <a:p>
            <a:pPr algn="ctr">
              <a:defRPr sz="2550" b="0" i="0">
                <a:solidFill>
                  <a:srgbClr val="009681"/>
                </a:solidFill>
              </a:defRPr>
            </a:pPr>
            <a:r>
              <a:rPr sz="2550" b="0" i="0">
                <a:solidFill>
                  <a:srgbClr val="009681"/>
                </a:solidFill>
              </a:rPr>
              <a:t>→</a:t>
            </a:r>
          </a:p>
        </p:txBody>
      </p:sp>
      <p:sp>
        <p:nvSpPr>
          <p:cNvPr id="9" name="PipelineStep">
            <a:extLst>
              <a:ext uri="{FF2B5EF4-FFF2-40B4-BE49-F238E27FC236}">
                <a16:creationId xmlns:a16="http://schemas.microsoft.com/office/drawing/2014/main" id="{DD76BD2D-8F74-414D-94F3-5133AB8B21A1}"/>
              </a:ext>
            </a:extLst>
          </p:cNvPr>
          <p:cNvSpPr>
            <a:spLocks noGrp="1"/>
          </p:cNvSpPr>
          <p:nvPr/>
        </p:nvSpPr>
        <p:spPr>
          <a:xfrm>
            <a:off x="2705100" y="1619250"/>
            <a:ext cx="1619250" cy="1428750"/>
          </a:xfrm>
          <a:prstGeom prst="rect">
            <a:avLst/>
          </a:prstGeom>
          <a:solidFill>
            <a:srgbClr val="FFFFFF"/>
          </a:solidFill>
          <a:ln w="9525">
            <a:solidFill>
              <a:srgbClr val="DCE4EE"/>
            </a:solidFill>
            <a:prstDash val="solid"/>
          </a:ln>
        </p:spPr>
        <p:txBody>
          <a:bodyPr/>
          <a:lstStyle/>
          <a:p>
            <a:endParaRPr lang="de-DE"/>
          </a:p>
        </p:txBody>
      </p:sp>
      <p:sp>
        <p:nvSpPr>
          <p:cNvPr id="10" name="Accent">
            <a:extLst>
              <a:ext uri="{FF2B5EF4-FFF2-40B4-BE49-F238E27FC236}">
                <a16:creationId xmlns:a16="http://schemas.microsoft.com/office/drawing/2014/main" id="{676544F0-A876-40D4-933D-1C1AF784E312}"/>
              </a:ext>
            </a:extLst>
          </p:cNvPr>
          <p:cNvSpPr>
            <a:spLocks noGrp="1"/>
          </p:cNvSpPr>
          <p:nvPr/>
        </p:nvSpPr>
        <p:spPr>
          <a:xfrm>
            <a:off x="2705100" y="1619250"/>
            <a:ext cx="1619250" cy="66675"/>
          </a:xfrm>
          <a:prstGeom prst="rect">
            <a:avLst/>
          </a:prstGeom>
          <a:solidFill>
            <a:srgbClr val="7C3AED"/>
          </a:solidFill>
          <a:ln w="9525">
            <a:noFill/>
            <a:prstDash val="solid"/>
          </a:ln>
        </p:spPr>
        <p:txBody>
          <a:bodyPr/>
          <a:lstStyle/>
          <a:p>
            <a:endParaRPr lang="de-DE"/>
          </a:p>
        </p:txBody>
      </p:sp>
      <p:sp>
        <p:nvSpPr>
          <p:cNvPr id="11" name="Text">
            <a:extLst>
              <a:ext uri="{FF2B5EF4-FFF2-40B4-BE49-F238E27FC236}">
                <a16:creationId xmlns:a16="http://schemas.microsoft.com/office/drawing/2014/main" id="{4DE353C5-93D8-4F05-B1AD-36B14B3E9E4A}"/>
              </a:ext>
            </a:extLst>
          </p:cNvPr>
          <p:cNvSpPr>
            <a:spLocks noGrp="1"/>
          </p:cNvSpPr>
          <p:nvPr/>
        </p:nvSpPr>
        <p:spPr>
          <a:xfrm>
            <a:off x="2838450" y="1847850"/>
            <a:ext cx="1352550" cy="266700"/>
          </a:xfrm>
          <a:prstGeom prst="rect">
            <a:avLst/>
          </a:prstGeom>
          <a:noFill/>
          <a:ln w="0">
            <a:noFill/>
            <a:prstDash val="solid"/>
          </a:ln>
        </p:spPr>
        <p:txBody>
          <a:bodyPr/>
          <a:lstStyle/>
          <a:p>
            <a:pPr algn="ctr">
              <a:defRPr sz="1350" b="1" i="0">
                <a:solidFill>
                  <a:srgbClr val="142746"/>
                </a:solidFill>
              </a:defRPr>
            </a:pPr>
            <a:r>
              <a:rPr sz="1350" b="1" i="0">
                <a:solidFill>
                  <a:srgbClr val="142746"/>
                </a:solidFill>
              </a:rPr>
              <a:t>ML-Basispreis</a:t>
            </a:r>
          </a:p>
        </p:txBody>
      </p:sp>
      <p:sp>
        <p:nvSpPr>
          <p:cNvPr id="12" name="Text">
            <a:extLst>
              <a:ext uri="{FF2B5EF4-FFF2-40B4-BE49-F238E27FC236}">
                <a16:creationId xmlns:a16="http://schemas.microsoft.com/office/drawing/2014/main" id="{77A0581E-6FF1-4E99-9EAB-EC18C1C54077}"/>
              </a:ext>
            </a:extLst>
          </p:cNvPr>
          <p:cNvSpPr>
            <a:spLocks noGrp="1"/>
          </p:cNvSpPr>
          <p:nvPr/>
        </p:nvSpPr>
        <p:spPr>
          <a:xfrm>
            <a:off x="2838450" y="2266950"/>
            <a:ext cx="1352550" cy="590550"/>
          </a:xfrm>
          <a:prstGeom prst="rect">
            <a:avLst/>
          </a:prstGeom>
          <a:noFill/>
          <a:ln w="0">
            <a:noFill/>
            <a:prstDash val="solid"/>
          </a:ln>
        </p:spPr>
        <p:txBody>
          <a:bodyPr/>
          <a:lstStyle/>
          <a:p>
            <a:pPr algn="ctr">
              <a:defRPr sz="938" b="0" i="0">
                <a:solidFill>
                  <a:srgbClr val="68768E"/>
                </a:solidFill>
              </a:defRPr>
            </a:pPr>
            <a:r>
              <a:rPr sz="938" b="0" i="0">
                <a:solidFill>
                  <a:srgbClr val="68768E"/>
                </a:solidFill>
              </a:rPr>
              <a:t>HistGradientBoosting</a:t>
            </a:r>
          </a:p>
          <a:p>
            <a:pPr algn="ctr">
              <a:defRPr sz="938" b="0" i="0">
                <a:solidFill>
                  <a:srgbClr val="68768E"/>
                </a:solidFill>
              </a:defRPr>
            </a:pPr>
            <a:r>
              <a:rPr sz="938" b="0" i="0">
                <a:solidFill>
                  <a:srgbClr val="68768E"/>
                </a:solidFill>
              </a:rPr>
              <a:t>2015er Referenzniveau</a:t>
            </a:r>
          </a:p>
        </p:txBody>
      </p:sp>
      <p:sp>
        <p:nvSpPr>
          <p:cNvPr id="13" name="Text">
            <a:extLst>
              <a:ext uri="{FF2B5EF4-FFF2-40B4-BE49-F238E27FC236}">
                <a16:creationId xmlns:a16="http://schemas.microsoft.com/office/drawing/2014/main" id="{05C4681F-5C02-4BB2-88A5-DCA2BA17CC0E}"/>
              </a:ext>
            </a:extLst>
          </p:cNvPr>
          <p:cNvSpPr>
            <a:spLocks noGrp="1"/>
          </p:cNvSpPr>
          <p:nvPr/>
        </p:nvSpPr>
        <p:spPr>
          <a:xfrm>
            <a:off x="4457700" y="2076450"/>
            <a:ext cx="342900" cy="457200"/>
          </a:xfrm>
          <a:prstGeom prst="rect">
            <a:avLst/>
          </a:prstGeom>
          <a:noFill/>
          <a:ln w="0">
            <a:noFill/>
            <a:prstDash val="solid"/>
          </a:ln>
        </p:spPr>
        <p:txBody>
          <a:bodyPr/>
          <a:lstStyle/>
          <a:p>
            <a:pPr algn="ctr">
              <a:defRPr sz="2550" b="0" i="0">
                <a:solidFill>
                  <a:srgbClr val="009681"/>
                </a:solidFill>
              </a:defRPr>
            </a:pPr>
            <a:r>
              <a:rPr sz="2550" b="0" i="0">
                <a:solidFill>
                  <a:srgbClr val="009681"/>
                </a:solidFill>
              </a:rPr>
              <a:t>→</a:t>
            </a:r>
          </a:p>
        </p:txBody>
      </p:sp>
      <p:sp>
        <p:nvSpPr>
          <p:cNvPr id="14" name="PipelineStep">
            <a:extLst>
              <a:ext uri="{FF2B5EF4-FFF2-40B4-BE49-F238E27FC236}">
                <a16:creationId xmlns:a16="http://schemas.microsoft.com/office/drawing/2014/main" id="{D4E7771A-FD3F-4428-AC98-2C09D621545E}"/>
              </a:ext>
            </a:extLst>
          </p:cNvPr>
          <p:cNvSpPr>
            <a:spLocks noGrp="1"/>
          </p:cNvSpPr>
          <p:nvPr/>
        </p:nvSpPr>
        <p:spPr>
          <a:xfrm>
            <a:off x="4895850" y="1619250"/>
            <a:ext cx="1619250" cy="1428750"/>
          </a:xfrm>
          <a:prstGeom prst="rect">
            <a:avLst/>
          </a:prstGeom>
          <a:solidFill>
            <a:srgbClr val="FFFFFF"/>
          </a:solidFill>
          <a:ln w="9525">
            <a:solidFill>
              <a:srgbClr val="DCE4EE"/>
            </a:solidFill>
            <a:prstDash val="solid"/>
          </a:ln>
        </p:spPr>
        <p:txBody>
          <a:bodyPr/>
          <a:lstStyle/>
          <a:p>
            <a:endParaRPr lang="de-DE"/>
          </a:p>
        </p:txBody>
      </p:sp>
      <p:sp>
        <p:nvSpPr>
          <p:cNvPr id="15" name="Accent">
            <a:extLst>
              <a:ext uri="{FF2B5EF4-FFF2-40B4-BE49-F238E27FC236}">
                <a16:creationId xmlns:a16="http://schemas.microsoft.com/office/drawing/2014/main" id="{C798B92E-DA44-415F-9AB9-541E71FAD357}"/>
              </a:ext>
            </a:extLst>
          </p:cNvPr>
          <p:cNvSpPr>
            <a:spLocks noGrp="1"/>
          </p:cNvSpPr>
          <p:nvPr/>
        </p:nvSpPr>
        <p:spPr>
          <a:xfrm>
            <a:off x="4895850" y="1619250"/>
            <a:ext cx="1619250" cy="66675"/>
          </a:xfrm>
          <a:prstGeom prst="rect">
            <a:avLst/>
          </a:prstGeom>
          <a:solidFill>
            <a:srgbClr val="2563EB"/>
          </a:solidFill>
          <a:ln w="9525">
            <a:noFill/>
            <a:prstDash val="solid"/>
          </a:ln>
        </p:spPr>
        <p:txBody>
          <a:bodyPr/>
          <a:lstStyle/>
          <a:p>
            <a:endParaRPr lang="de-DE"/>
          </a:p>
        </p:txBody>
      </p:sp>
      <p:sp>
        <p:nvSpPr>
          <p:cNvPr id="16" name="Text">
            <a:extLst>
              <a:ext uri="{FF2B5EF4-FFF2-40B4-BE49-F238E27FC236}">
                <a16:creationId xmlns:a16="http://schemas.microsoft.com/office/drawing/2014/main" id="{41640E1A-129E-4486-9D10-FD2E0BD07A5B}"/>
              </a:ext>
            </a:extLst>
          </p:cNvPr>
          <p:cNvSpPr>
            <a:spLocks noGrp="1"/>
          </p:cNvSpPr>
          <p:nvPr/>
        </p:nvSpPr>
        <p:spPr>
          <a:xfrm>
            <a:off x="5029200" y="1847850"/>
            <a:ext cx="1352550" cy="266700"/>
          </a:xfrm>
          <a:prstGeom prst="rect">
            <a:avLst/>
          </a:prstGeom>
          <a:noFill/>
          <a:ln w="0">
            <a:noFill/>
            <a:prstDash val="solid"/>
          </a:ln>
        </p:spPr>
        <p:txBody>
          <a:bodyPr/>
          <a:lstStyle/>
          <a:p>
            <a:pPr algn="ctr">
              <a:defRPr sz="1350" b="1" i="0">
                <a:solidFill>
                  <a:srgbClr val="142746"/>
                </a:solidFill>
              </a:defRPr>
            </a:pPr>
            <a:r>
              <a:rPr sz="1350" b="1" i="0">
                <a:solidFill>
                  <a:srgbClr val="142746"/>
                </a:solidFill>
              </a:rPr>
              <a:t>CPI-Marktpreis</a:t>
            </a:r>
          </a:p>
        </p:txBody>
      </p:sp>
      <p:sp>
        <p:nvSpPr>
          <p:cNvPr id="17" name="Text">
            <a:extLst>
              <a:ext uri="{FF2B5EF4-FFF2-40B4-BE49-F238E27FC236}">
                <a16:creationId xmlns:a16="http://schemas.microsoft.com/office/drawing/2014/main" id="{D3372567-EB23-4A8C-AB70-17FF49BE4B1D}"/>
              </a:ext>
            </a:extLst>
          </p:cNvPr>
          <p:cNvSpPr>
            <a:spLocks noGrp="1"/>
          </p:cNvSpPr>
          <p:nvPr/>
        </p:nvSpPr>
        <p:spPr>
          <a:xfrm>
            <a:off x="5029200" y="2266950"/>
            <a:ext cx="1352550" cy="590550"/>
          </a:xfrm>
          <a:prstGeom prst="rect">
            <a:avLst/>
          </a:prstGeom>
          <a:noFill/>
          <a:ln w="0">
            <a:noFill/>
            <a:prstDash val="solid"/>
          </a:ln>
        </p:spPr>
        <p:txBody>
          <a:bodyPr/>
          <a:lstStyle/>
          <a:p>
            <a:pPr algn="ctr">
              <a:defRPr sz="938" b="0" i="0">
                <a:solidFill>
                  <a:srgbClr val="68768E"/>
                </a:solidFill>
              </a:defRPr>
            </a:pPr>
            <a:r>
              <a:rPr sz="938" b="0" i="0">
                <a:solidFill>
                  <a:srgbClr val="68768E"/>
                </a:solidFill>
              </a:rPr>
              <a:t>FRED-Multiplikator</a:t>
            </a:r>
          </a:p>
          <a:p>
            <a:pPr algn="ctr">
              <a:defRPr sz="938" b="0" i="0">
                <a:solidFill>
                  <a:srgbClr val="68768E"/>
                </a:solidFill>
              </a:defRPr>
            </a:pPr>
            <a:r>
              <a:rPr sz="938" b="0" i="0">
                <a:solidFill>
                  <a:srgbClr val="68768E"/>
                </a:solidFill>
              </a:rPr>
              <a:t>Zieldatum 1996–2026</a:t>
            </a:r>
          </a:p>
        </p:txBody>
      </p:sp>
      <p:sp>
        <p:nvSpPr>
          <p:cNvPr id="18" name="Text">
            <a:extLst>
              <a:ext uri="{FF2B5EF4-FFF2-40B4-BE49-F238E27FC236}">
                <a16:creationId xmlns:a16="http://schemas.microsoft.com/office/drawing/2014/main" id="{66DF1669-2F88-4B10-92CB-4D25467E9B88}"/>
              </a:ext>
            </a:extLst>
          </p:cNvPr>
          <p:cNvSpPr>
            <a:spLocks noGrp="1"/>
          </p:cNvSpPr>
          <p:nvPr/>
        </p:nvSpPr>
        <p:spPr>
          <a:xfrm>
            <a:off x="6648450" y="2076450"/>
            <a:ext cx="342900" cy="457200"/>
          </a:xfrm>
          <a:prstGeom prst="rect">
            <a:avLst/>
          </a:prstGeom>
          <a:noFill/>
          <a:ln w="0">
            <a:noFill/>
            <a:prstDash val="solid"/>
          </a:ln>
        </p:spPr>
        <p:txBody>
          <a:bodyPr/>
          <a:lstStyle/>
          <a:p>
            <a:pPr algn="ctr">
              <a:defRPr sz="2550" b="0" i="0">
                <a:solidFill>
                  <a:srgbClr val="009681"/>
                </a:solidFill>
              </a:defRPr>
            </a:pPr>
            <a:r>
              <a:rPr sz="2550" b="0" i="0">
                <a:solidFill>
                  <a:srgbClr val="009681"/>
                </a:solidFill>
              </a:rPr>
              <a:t>→</a:t>
            </a:r>
          </a:p>
        </p:txBody>
      </p:sp>
      <p:sp>
        <p:nvSpPr>
          <p:cNvPr id="19" name="PipelineStep">
            <a:extLst>
              <a:ext uri="{FF2B5EF4-FFF2-40B4-BE49-F238E27FC236}">
                <a16:creationId xmlns:a16="http://schemas.microsoft.com/office/drawing/2014/main" id="{008A725A-0730-409E-B783-C4F98EF7879A}"/>
              </a:ext>
            </a:extLst>
          </p:cNvPr>
          <p:cNvSpPr>
            <a:spLocks noGrp="1"/>
          </p:cNvSpPr>
          <p:nvPr/>
        </p:nvSpPr>
        <p:spPr>
          <a:xfrm>
            <a:off x="7086600" y="1619250"/>
            <a:ext cx="1619250" cy="1428750"/>
          </a:xfrm>
          <a:prstGeom prst="rect">
            <a:avLst/>
          </a:prstGeom>
          <a:solidFill>
            <a:srgbClr val="FFFFFF"/>
          </a:solidFill>
          <a:ln w="9525">
            <a:solidFill>
              <a:srgbClr val="DCE4EE"/>
            </a:solidFill>
            <a:prstDash val="solid"/>
          </a:ln>
        </p:spPr>
        <p:txBody>
          <a:bodyPr/>
          <a:lstStyle/>
          <a:p>
            <a:endParaRPr lang="de-DE"/>
          </a:p>
        </p:txBody>
      </p:sp>
      <p:sp>
        <p:nvSpPr>
          <p:cNvPr id="20" name="Accent">
            <a:extLst>
              <a:ext uri="{FF2B5EF4-FFF2-40B4-BE49-F238E27FC236}">
                <a16:creationId xmlns:a16="http://schemas.microsoft.com/office/drawing/2014/main" id="{B3119250-C7D6-46FA-84A8-B08187CA8F2D}"/>
              </a:ext>
            </a:extLst>
          </p:cNvPr>
          <p:cNvSpPr>
            <a:spLocks noGrp="1"/>
          </p:cNvSpPr>
          <p:nvPr/>
        </p:nvSpPr>
        <p:spPr>
          <a:xfrm>
            <a:off x="7086600" y="1619250"/>
            <a:ext cx="1619250" cy="66675"/>
          </a:xfrm>
          <a:prstGeom prst="rect">
            <a:avLst/>
          </a:prstGeom>
          <a:solidFill>
            <a:srgbClr val="009681"/>
          </a:solidFill>
          <a:ln w="9525">
            <a:noFill/>
            <a:prstDash val="solid"/>
          </a:ln>
        </p:spPr>
        <p:txBody>
          <a:bodyPr/>
          <a:lstStyle/>
          <a:p>
            <a:endParaRPr lang="de-DE"/>
          </a:p>
        </p:txBody>
      </p:sp>
      <p:sp>
        <p:nvSpPr>
          <p:cNvPr id="21" name="Text">
            <a:extLst>
              <a:ext uri="{FF2B5EF4-FFF2-40B4-BE49-F238E27FC236}">
                <a16:creationId xmlns:a16="http://schemas.microsoft.com/office/drawing/2014/main" id="{97003B87-8880-4A84-815A-9C1AFE79555B}"/>
              </a:ext>
            </a:extLst>
          </p:cNvPr>
          <p:cNvSpPr>
            <a:spLocks noGrp="1"/>
          </p:cNvSpPr>
          <p:nvPr/>
        </p:nvSpPr>
        <p:spPr>
          <a:xfrm>
            <a:off x="7219950" y="1847850"/>
            <a:ext cx="1352550" cy="266700"/>
          </a:xfrm>
          <a:prstGeom prst="rect">
            <a:avLst/>
          </a:prstGeom>
          <a:noFill/>
          <a:ln w="0">
            <a:noFill/>
            <a:prstDash val="solid"/>
          </a:ln>
        </p:spPr>
        <p:txBody>
          <a:bodyPr/>
          <a:lstStyle/>
          <a:p>
            <a:pPr algn="ctr">
              <a:defRPr sz="1350" b="1" i="0">
                <a:solidFill>
                  <a:srgbClr val="142746"/>
                </a:solidFill>
              </a:defRPr>
            </a:pPr>
            <a:r>
              <a:rPr sz="1350" b="1" i="0">
                <a:solidFill>
                  <a:srgbClr val="142746"/>
                </a:solidFill>
              </a:rPr>
              <a:t>Finaler Preis</a:t>
            </a:r>
          </a:p>
        </p:txBody>
      </p:sp>
      <p:sp>
        <p:nvSpPr>
          <p:cNvPr id="22" name="Text">
            <a:extLst>
              <a:ext uri="{FF2B5EF4-FFF2-40B4-BE49-F238E27FC236}">
                <a16:creationId xmlns:a16="http://schemas.microsoft.com/office/drawing/2014/main" id="{E2275FF8-CD10-41CC-88BB-87F02AAAA7C6}"/>
              </a:ext>
            </a:extLst>
          </p:cNvPr>
          <p:cNvSpPr>
            <a:spLocks noGrp="1"/>
          </p:cNvSpPr>
          <p:nvPr/>
        </p:nvSpPr>
        <p:spPr>
          <a:xfrm>
            <a:off x="7219950" y="2266950"/>
            <a:ext cx="1352550" cy="590550"/>
          </a:xfrm>
          <a:prstGeom prst="rect">
            <a:avLst/>
          </a:prstGeom>
          <a:noFill/>
          <a:ln w="0">
            <a:noFill/>
            <a:prstDash val="solid"/>
          </a:ln>
        </p:spPr>
        <p:txBody>
          <a:bodyPr/>
          <a:lstStyle/>
          <a:p>
            <a:pPr algn="ctr">
              <a:defRPr sz="938" b="0" i="0">
                <a:solidFill>
                  <a:srgbClr val="68768E"/>
                </a:solidFill>
              </a:defRPr>
            </a:pPr>
            <a:r>
              <a:rPr sz="938" b="0" i="0">
                <a:solidFill>
                  <a:srgbClr val="68768E"/>
                </a:solidFill>
              </a:rPr>
              <a:t>CPI-Marktpreis × Saisonfaktor</a:t>
            </a:r>
          </a:p>
          <a:p>
            <a:pPr algn="ctr">
              <a:defRPr sz="938" b="0" i="0">
                <a:solidFill>
                  <a:srgbClr val="68768E"/>
                </a:solidFill>
              </a:defRPr>
            </a:pPr>
            <a:r>
              <a:rPr sz="938" b="0" i="0">
                <a:solidFill>
                  <a:srgbClr val="68768E"/>
                </a:solidFill>
              </a:rPr>
              <a:t>Best-Time-To-Sell Hinweis</a:t>
            </a:r>
          </a:p>
        </p:txBody>
      </p:sp>
      <p:sp>
        <p:nvSpPr>
          <p:cNvPr id="23" name="Formula">
            <a:extLst>
              <a:ext uri="{FF2B5EF4-FFF2-40B4-BE49-F238E27FC236}">
                <a16:creationId xmlns:a16="http://schemas.microsoft.com/office/drawing/2014/main" id="{9368C090-AE21-4CEF-9115-769B3D8A559B}"/>
              </a:ext>
            </a:extLst>
          </p:cNvPr>
          <p:cNvSpPr>
            <a:spLocks noGrp="1"/>
          </p:cNvSpPr>
          <p:nvPr/>
        </p:nvSpPr>
        <p:spPr>
          <a:xfrm>
            <a:off x="1314450" y="3448050"/>
            <a:ext cx="6496050" cy="514350"/>
          </a:xfrm>
          <a:prstGeom prst="rect">
            <a:avLst/>
          </a:prstGeom>
          <a:solidFill>
            <a:srgbClr val="112744"/>
          </a:solidFill>
          <a:ln w="9525">
            <a:solidFill>
              <a:srgbClr val="112744"/>
            </a:solidFill>
            <a:prstDash val="solid"/>
          </a:ln>
        </p:spPr>
        <p:txBody>
          <a:bodyPr/>
          <a:lstStyle/>
          <a:p>
            <a:endParaRPr lang="de-DE"/>
          </a:p>
        </p:txBody>
      </p:sp>
      <p:sp>
        <p:nvSpPr>
          <p:cNvPr id="24" name="Text">
            <a:extLst>
              <a:ext uri="{FF2B5EF4-FFF2-40B4-BE49-F238E27FC236}">
                <a16:creationId xmlns:a16="http://schemas.microsoft.com/office/drawing/2014/main" id="{771D6586-9F3E-4A7F-8221-560752CEB948}"/>
              </a:ext>
            </a:extLst>
          </p:cNvPr>
          <p:cNvSpPr>
            <a:spLocks noGrp="1"/>
          </p:cNvSpPr>
          <p:nvPr/>
        </p:nvSpPr>
        <p:spPr>
          <a:xfrm>
            <a:off x="1562100" y="3609975"/>
            <a:ext cx="6000750" cy="266700"/>
          </a:xfrm>
          <a:prstGeom prst="rect">
            <a:avLst/>
          </a:prstGeom>
          <a:noFill/>
          <a:ln w="0">
            <a:noFill/>
            <a:prstDash val="solid"/>
          </a:ln>
        </p:spPr>
        <p:txBody>
          <a:bodyPr/>
          <a:lstStyle/>
          <a:p>
            <a:pPr algn="ctr">
              <a:defRPr sz="1425" b="1" i="0">
                <a:solidFill>
                  <a:srgbClr val="FFFFFF"/>
                </a:solidFill>
              </a:defRPr>
            </a:pPr>
            <a:r>
              <a:rPr sz="1425" b="1" i="0">
                <a:solidFill>
                  <a:srgbClr val="FFFFFF"/>
                </a:solidFill>
              </a:rPr>
              <a:t>Finaler Preis = HistGB-Basispreis × CPI-Multiplikator × Saisonfaktor</a:t>
            </a:r>
          </a:p>
        </p:txBody>
      </p:sp>
      <p:sp>
        <p:nvSpPr>
          <p:cNvPr id="25" name="Callout">
            <a:extLst>
              <a:ext uri="{FF2B5EF4-FFF2-40B4-BE49-F238E27FC236}">
                <a16:creationId xmlns:a16="http://schemas.microsoft.com/office/drawing/2014/main" id="{A1DD3DBB-9C32-47F8-BC48-9E6A124B1DE8}"/>
              </a:ext>
            </a:extLst>
          </p:cNvPr>
          <p:cNvSpPr>
            <a:spLocks noGrp="1"/>
          </p:cNvSpPr>
          <p:nvPr/>
        </p:nvSpPr>
        <p:spPr>
          <a:xfrm>
            <a:off x="361950" y="4476750"/>
            <a:ext cx="8420100" cy="400050"/>
          </a:xfrm>
          <a:prstGeom prst="rect">
            <a:avLst/>
          </a:prstGeom>
          <a:solidFill>
            <a:srgbClr val="E8FBF7"/>
          </a:solidFill>
          <a:ln w="9525">
            <a:solidFill>
              <a:srgbClr val="54D8C8"/>
            </a:solidFill>
            <a:prstDash val="solid"/>
          </a:ln>
        </p:spPr>
        <p:txBody>
          <a:bodyPr/>
          <a:lstStyle/>
          <a:p>
            <a:endParaRPr lang="de-DE"/>
          </a:p>
        </p:txBody>
      </p:sp>
      <p:sp>
        <p:nvSpPr>
          <p:cNvPr id="26" name="CalloutText">
            <a:extLst>
              <a:ext uri="{FF2B5EF4-FFF2-40B4-BE49-F238E27FC236}">
                <a16:creationId xmlns:a16="http://schemas.microsoft.com/office/drawing/2014/main" id="{4AE0A28F-2DE3-451A-AF4F-8FA7B8290603}"/>
              </a:ext>
            </a:extLst>
          </p:cNvPr>
          <p:cNvSpPr>
            <a:spLocks noGrp="1"/>
          </p:cNvSpPr>
          <p:nvPr/>
        </p:nvSpPr>
        <p:spPr>
          <a:xfrm>
            <a:off x="533400" y="4600575"/>
            <a:ext cx="8077200" cy="228600"/>
          </a:xfrm>
          <a:prstGeom prst="rect">
            <a:avLst/>
          </a:prstGeom>
          <a:noFill/>
          <a:ln w="0">
            <a:noFill/>
            <a:prstDash val="solid"/>
          </a:ln>
        </p:spPr>
        <p:txBody>
          <a:bodyPr/>
          <a:lstStyle/>
          <a:p>
            <a:pPr algn="l">
              <a:defRPr sz="1125" b="0" i="0">
                <a:solidFill>
                  <a:srgbClr val="142746"/>
                </a:solidFill>
              </a:defRPr>
            </a:pPr>
            <a:r>
              <a:rPr sz="1125" b="0" i="0">
                <a:solidFill>
                  <a:srgbClr val="142746"/>
                </a:solidFill>
              </a:rPr>
              <a:t>Die App zeigt die Preislogik direkt: Basispreis, Marktanpassung, Saisonfaktor und finalen Preis.</a:t>
            </a:r>
          </a:p>
        </p:txBody>
      </p:sp>
    </p:spTree>
    <p:extLst>
      <p:ext uri="{BB962C8B-B14F-4D97-AF65-F5344CB8AC3E}">
        <p14:creationId xmlns:p14="http://schemas.microsoft.com/office/powerpoint/2010/main" val="19393959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bg>
      <p:bgPr>
        <a:solidFill>
          <a:srgbClr val="112744"/>
        </a:solidFill>
        <a:effectLst/>
      </p:bgPr>
    </p:bg>
    <p:spTree>
      <p:nvGrpSpPr>
        <p:cNvPr id="1" name=""/>
        <p:cNvGrpSpPr/>
        <p:nvPr/>
      </p:nvGrpSpPr>
      <p:grpSpPr>
        <a:xfrm>
          <a:off x="0" y="0"/>
          <a:ext cx="0" cy="0"/>
          <a:chOff x="0" y="0"/>
          <a:chExt cx="0" cy="0"/>
        </a:xfrm>
      </p:grpSpPr>
      <p:sp>
        <p:nvSpPr>
          <p:cNvPr id="21" name="TopBar">
            <a:extLst>
              <a:ext uri="{FF2B5EF4-FFF2-40B4-BE49-F238E27FC236}">
                <a16:creationId xmlns:a16="http://schemas.microsoft.com/office/drawing/2014/main" id="{0D67CA15-A933-4AB6-897F-EA36802775CF}"/>
              </a:ext>
            </a:extLst>
          </p:cNvPr>
          <p:cNvSpPr>
            <a:spLocks noGrp="1"/>
          </p:cNvSpPr>
          <p:nvPr/>
        </p:nvSpPr>
        <p:spPr>
          <a:xfrm>
            <a:off x="0" y="0"/>
            <a:ext cx="9144000" cy="63818"/>
          </a:xfrm>
          <a:prstGeom prst="rect">
            <a:avLst/>
          </a:prstGeom>
          <a:solidFill>
            <a:srgbClr val="009681"/>
          </a:solidFill>
          <a:ln w="0">
            <a:solidFill>
              <a:srgbClr val="009681"/>
            </a:solidFill>
          </a:ln>
        </p:spPr>
        <p:txBody>
          <a:bodyPr/>
          <a:lstStyle/>
          <a:p>
            <a:endParaRPr lang="de-DE"/>
          </a:p>
        </p:txBody>
      </p:sp>
      <p:sp>
        <p:nvSpPr>
          <p:cNvPr id="2" name="Title">
            <a:extLst>
              <a:ext uri="{FF2B5EF4-FFF2-40B4-BE49-F238E27FC236}">
                <a16:creationId xmlns:a16="http://schemas.microsoft.com/office/drawing/2014/main" id="{C9652E01-826A-48C2-A93E-0858838166EC}"/>
              </a:ext>
            </a:extLst>
          </p:cNvPr>
          <p:cNvSpPr>
            <a:spLocks noGrp="1"/>
          </p:cNvSpPr>
          <p:nvPr/>
        </p:nvSpPr>
        <p:spPr>
          <a:xfrm>
            <a:off x="457200" y="266700"/>
            <a:ext cx="7810500" cy="495300"/>
          </a:xfrm>
          <a:prstGeom prst="rect">
            <a:avLst/>
          </a:prstGeom>
          <a:noFill/>
          <a:ln w="0">
            <a:noFill/>
            <a:prstDash val="solid"/>
          </a:ln>
        </p:spPr>
        <p:txBody>
          <a:bodyPr/>
          <a:lstStyle/>
          <a:p>
            <a:pPr algn="l">
              <a:defRPr sz="2700" b="0" i="0">
                <a:solidFill>
                  <a:srgbClr val="FFFFFF"/>
                </a:solidFill>
              </a:defRPr>
            </a:pPr>
            <a:r>
              <a:rPr sz="2700" b="0" i="0">
                <a:solidFill>
                  <a:srgbClr val="FFFFFF"/>
                </a:solidFill>
              </a:rPr>
              <a:t>Aktueller Stand &amp; nächste Schritte</a:t>
            </a:r>
          </a:p>
        </p:txBody>
      </p:sp>
      <p:sp>
        <p:nvSpPr>
          <p:cNvPr id="3" name="DoneBox">
            <a:extLst>
              <a:ext uri="{FF2B5EF4-FFF2-40B4-BE49-F238E27FC236}">
                <a16:creationId xmlns:a16="http://schemas.microsoft.com/office/drawing/2014/main" id="{75D9AEC2-451F-45A0-97F6-D8EB461B1E84}"/>
              </a:ext>
            </a:extLst>
          </p:cNvPr>
          <p:cNvSpPr>
            <a:spLocks noGrp="1"/>
          </p:cNvSpPr>
          <p:nvPr/>
        </p:nvSpPr>
        <p:spPr>
          <a:xfrm>
            <a:off x="342900" y="876300"/>
            <a:ext cx="4038600" cy="3714750"/>
          </a:xfrm>
          <a:prstGeom prst="rect">
            <a:avLst/>
          </a:prstGeom>
          <a:solidFill>
            <a:srgbClr val="183653"/>
          </a:solidFill>
          <a:ln w="9525">
            <a:solidFill>
              <a:srgbClr val="183653"/>
            </a:solidFill>
            <a:prstDash val="solid"/>
          </a:ln>
        </p:spPr>
        <p:txBody>
          <a:bodyPr/>
          <a:lstStyle/>
          <a:p>
            <a:endParaRPr lang="de-DE"/>
          </a:p>
        </p:txBody>
      </p:sp>
      <p:sp>
        <p:nvSpPr>
          <p:cNvPr id="4" name="Accent">
            <a:extLst>
              <a:ext uri="{FF2B5EF4-FFF2-40B4-BE49-F238E27FC236}">
                <a16:creationId xmlns:a16="http://schemas.microsoft.com/office/drawing/2014/main" id="{3F731B45-DD91-48CA-92E9-04D06FAC0C5B}"/>
              </a:ext>
            </a:extLst>
          </p:cNvPr>
          <p:cNvSpPr>
            <a:spLocks noGrp="1"/>
          </p:cNvSpPr>
          <p:nvPr/>
        </p:nvSpPr>
        <p:spPr>
          <a:xfrm>
            <a:off x="342900" y="876300"/>
            <a:ext cx="4038600" cy="66675"/>
          </a:xfrm>
          <a:prstGeom prst="rect">
            <a:avLst/>
          </a:prstGeom>
          <a:solidFill>
            <a:srgbClr val="009681"/>
          </a:solidFill>
          <a:ln w="9525">
            <a:solidFill>
              <a:srgbClr val="009681"/>
            </a:solidFill>
            <a:prstDash val="solid"/>
          </a:ln>
        </p:spPr>
        <p:txBody>
          <a:bodyPr/>
          <a:lstStyle/>
          <a:p>
            <a:endParaRPr lang="de-DE"/>
          </a:p>
        </p:txBody>
      </p:sp>
      <p:sp>
        <p:nvSpPr>
          <p:cNvPr id="5" name="Text">
            <a:extLst>
              <a:ext uri="{FF2B5EF4-FFF2-40B4-BE49-F238E27FC236}">
                <a16:creationId xmlns:a16="http://schemas.microsoft.com/office/drawing/2014/main" id="{5DCABA68-75F3-43CD-8F42-5C68231A837F}"/>
              </a:ext>
            </a:extLst>
          </p:cNvPr>
          <p:cNvSpPr>
            <a:spLocks noGrp="1"/>
          </p:cNvSpPr>
          <p:nvPr/>
        </p:nvSpPr>
        <p:spPr>
          <a:xfrm>
            <a:off x="571500" y="1143000"/>
            <a:ext cx="3333750" cy="266700"/>
          </a:xfrm>
          <a:prstGeom prst="rect">
            <a:avLst/>
          </a:prstGeom>
          <a:noFill/>
          <a:ln w="0">
            <a:noFill/>
            <a:prstDash val="solid"/>
          </a:ln>
        </p:spPr>
        <p:txBody>
          <a:bodyPr/>
          <a:lstStyle/>
          <a:p>
            <a:pPr algn="l">
              <a:defRPr sz="1650" b="1" i="0">
                <a:solidFill>
                  <a:srgbClr val="009681"/>
                </a:solidFill>
              </a:defRPr>
            </a:pPr>
            <a:r>
              <a:rPr sz="1650" b="1" i="0">
                <a:solidFill>
                  <a:srgbClr val="009681"/>
                </a:solidFill>
              </a:rPr>
              <a:t>Erreicht</a:t>
            </a:r>
          </a:p>
        </p:txBody>
      </p:sp>
      <p:sp>
        <p:nvSpPr>
          <p:cNvPr id="6" name="Text">
            <a:extLst>
              <a:ext uri="{FF2B5EF4-FFF2-40B4-BE49-F238E27FC236}">
                <a16:creationId xmlns:a16="http://schemas.microsoft.com/office/drawing/2014/main" id="{17A1F54D-513F-4650-AAF3-5BB2F7CE4D02}"/>
              </a:ext>
            </a:extLst>
          </p:cNvPr>
          <p:cNvSpPr>
            <a:spLocks noGrp="1"/>
          </p:cNvSpPr>
          <p:nvPr/>
        </p:nvSpPr>
        <p:spPr>
          <a:xfrm>
            <a:off x="571500" y="1619250"/>
            <a:ext cx="3333750" cy="323850"/>
          </a:xfrm>
          <a:prstGeom prst="rect">
            <a:avLst/>
          </a:prstGeom>
          <a:noFill/>
          <a:ln w="0">
            <a:noFill/>
            <a:prstDash val="solid"/>
          </a:ln>
        </p:spPr>
        <p:txBody>
          <a:bodyPr/>
          <a:lstStyle/>
          <a:p>
            <a:pPr algn="l">
              <a:defRPr sz="1200" b="0" i="0">
                <a:solidFill>
                  <a:srgbClr val="D7E1EF"/>
                </a:solidFill>
              </a:defRPr>
            </a:pPr>
            <a:r>
              <a:rPr sz="1200" b="0" i="0">
                <a:solidFill>
                  <a:srgbClr val="D7E1EF"/>
                </a:solidFill>
              </a:rPr>
              <a:t>• Bereinigte Daten + Feature-Datensatz</a:t>
            </a:r>
          </a:p>
        </p:txBody>
      </p:sp>
      <p:sp>
        <p:nvSpPr>
          <p:cNvPr id="7" name="Text">
            <a:extLst>
              <a:ext uri="{FF2B5EF4-FFF2-40B4-BE49-F238E27FC236}">
                <a16:creationId xmlns:a16="http://schemas.microsoft.com/office/drawing/2014/main" id="{866C77D6-C6C3-4134-95DE-B77109C7BE16}"/>
              </a:ext>
            </a:extLst>
          </p:cNvPr>
          <p:cNvSpPr>
            <a:spLocks noGrp="1"/>
          </p:cNvSpPr>
          <p:nvPr/>
        </p:nvSpPr>
        <p:spPr>
          <a:xfrm>
            <a:off x="571500" y="2019300"/>
            <a:ext cx="3333750" cy="323850"/>
          </a:xfrm>
          <a:prstGeom prst="rect">
            <a:avLst/>
          </a:prstGeom>
          <a:noFill/>
          <a:ln w="0">
            <a:noFill/>
            <a:prstDash val="solid"/>
          </a:ln>
        </p:spPr>
        <p:txBody>
          <a:bodyPr/>
          <a:lstStyle/>
          <a:p>
            <a:pPr algn="l">
              <a:defRPr sz="1200" b="0" i="0">
                <a:solidFill>
                  <a:srgbClr val="D7E1EF"/>
                </a:solidFill>
              </a:defRPr>
            </a:pPr>
            <a:r>
              <a:rPr sz="1200" b="0" i="0">
                <a:solidFill>
                  <a:srgbClr val="D7E1EF"/>
                </a:solidFill>
              </a:rPr>
              <a:t>• Modellvergleich unter gleichen Bedingungen</a:t>
            </a:r>
          </a:p>
        </p:txBody>
      </p:sp>
      <p:sp>
        <p:nvSpPr>
          <p:cNvPr id="8" name="Text">
            <a:extLst>
              <a:ext uri="{FF2B5EF4-FFF2-40B4-BE49-F238E27FC236}">
                <a16:creationId xmlns:a16="http://schemas.microsoft.com/office/drawing/2014/main" id="{6CC803F7-B0E7-4FCF-9497-BA15FB524974}"/>
              </a:ext>
            </a:extLst>
          </p:cNvPr>
          <p:cNvSpPr>
            <a:spLocks noGrp="1"/>
          </p:cNvSpPr>
          <p:nvPr/>
        </p:nvSpPr>
        <p:spPr>
          <a:xfrm>
            <a:off x="571500" y="2419350"/>
            <a:ext cx="3333750" cy="323850"/>
          </a:xfrm>
          <a:prstGeom prst="rect">
            <a:avLst/>
          </a:prstGeom>
          <a:noFill/>
          <a:ln w="0">
            <a:noFill/>
            <a:prstDash val="solid"/>
          </a:ln>
        </p:spPr>
        <p:txBody>
          <a:bodyPr/>
          <a:lstStyle/>
          <a:p>
            <a:pPr algn="l">
              <a:defRPr sz="1200" b="0" i="0">
                <a:solidFill>
                  <a:srgbClr val="D7E1EF"/>
                </a:solidFill>
              </a:defRPr>
            </a:pPr>
            <a:r>
              <a:rPr sz="1200" b="0" i="0">
                <a:solidFill>
                  <a:srgbClr val="D7E1EF"/>
                </a:solidFill>
              </a:rPr>
              <a:t>• HistGradientBoosting als gewähltes Stage-1-Modell</a:t>
            </a:r>
          </a:p>
        </p:txBody>
      </p:sp>
      <p:sp>
        <p:nvSpPr>
          <p:cNvPr id="9" name="Text">
            <a:extLst>
              <a:ext uri="{FF2B5EF4-FFF2-40B4-BE49-F238E27FC236}">
                <a16:creationId xmlns:a16="http://schemas.microsoft.com/office/drawing/2014/main" id="{1D9B2238-4684-4610-8574-53F676EBAEF0}"/>
              </a:ext>
            </a:extLst>
          </p:cNvPr>
          <p:cNvSpPr>
            <a:spLocks noGrp="1"/>
          </p:cNvSpPr>
          <p:nvPr/>
        </p:nvSpPr>
        <p:spPr>
          <a:xfrm>
            <a:off x="571500" y="2819400"/>
            <a:ext cx="3333750" cy="323850"/>
          </a:xfrm>
          <a:prstGeom prst="rect">
            <a:avLst/>
          </a:prstGeom>
          <a:noFill/>
          <a:ln w="0">
            <a:noFill/>
            <a:prstDash val="solid"/>
          </a:ln>
        </p:spPr>
        <p:txBody>
          <a:bodyPr/>
          <a:lstStyle/>
          <a:p>
            <a:pPr algn="l">
              <a:defRPr sz="1200" b="0" i="0">
                <a:solidFill>
                  <a:srgbClr val="D7E1EF"/>
                </a:solidFill>
              </a:defRPr>
            </a:pPr>
            <a:r>
              <a:rPr sz="1200" b="0" i="0">
                <a:solidFill>
                  <a:srgbClr val="D7E1EF"/>
                </a:solidFill>
              </a:rPr>
              <a:t>• CPI-Marktpreisanpassung umgesetzt</a:t>
            </a:r>
          </a:p>
        </p:txBody>
      </p:sp>
      <p:sp>
        <p:nvSpPr>
          <p:cNvPr id="10" name="Text">
            <a:extLst>
              <a:ext uri="{FF2B5EF4-FFF2-40B4-BE49-F238E27FC236}">
                <a16:creationId xmlns:a16="http://schemas.microsoft.com/office/drawing/2014/main" id="{028CD197-2BAB-4A92-ADC8-13F1CB39528A}"/>
              </a:ext>
            </a:extLst>
          </p:cNvPr>
          <p:cNvSpPr>
            <a:spLocks noGrp="1"/>
          </p:cNvSpPr>
          <p:nvPr/>
        </p:nvSpPr>
        <p:spPr>
          <a:xfrm>
            <a:off x="571500" y="3219450"/>
            <a:ext cx="3333750" cy="323850"/>
          </a:xfrm>
          <a:prstGeom prst="rect">
            <a:avLst/>
          </a:prstGeom>
          <a:noFill/>
          <a:ln w="0">
            <a:noFill/>
            <a:prstDash val="solid"/>
          </a:ln>
        </p:spPr>
        <p:txBody>
          <a:bodyPr/>
          <a:lstStyle/>
          <a:p>
            <a:pPr algn="l">
              <a:defRPr sz="1200" b="0" i="0">
                <a:solidFill>
                  <a:srgbClr val="D7E1EF"/>
                </a:solidFill>
              </a:defRPr>
            </a:pPr>
            <a:r>
              <a:rPr sz="1200" b="0" i="0">
                <a:solidFill>
                  <a:srgbClr val="D7E1EF"/>
                </a:solidFill>
              </a:rPr>
              <a:t>• Saisonfaktor in Streamlit-Demo integriert</a:t>
            </a:r>
          </a:p>
        </p:txBody>
      </p:sp>
      <p:sp>
        <p:nvSpPr>
          <p:cNvPr id="11" name="NextBox">
            <a:extLst>
              <a:ext uri="{FF2B5EF4-FFF2-40B4-BE49-F238E27FC236}">
                <a16:creationId xmlns:a16="http://schemas.microsoft.com/office/drawing/2014/main" id="{53DF5F9E-FDEC-4CBB-AA5B-DD12CE2EAD80}"/>
              </a:ext>
            </a:extLst>
          </p:cNvPr>
          <p:cNvSpPr>
            <a:spLocks noGrp="1"/>
          </p:cNvSpPr>
          <p:nvPr/>
        </p:nvSpPr>
        <p:spPr>
          <a:xfrm>
            <a:off x="4762500" y="876300"/>
            <a:ext cx="4038600" cy="3714750"/>
          </a:xfrm>
          <a:prstGeom prst="rect">
            <a:avLst/>
          </a:prstGeom>
          <a:solidFill>
            <a:srgbClr val="183653"/>
          </a:solidFill>
          <a:ln w="9525">
            <a:solidFill>
              <a:srgbClr val="183653"/>
            </a:solidFill>
            <a:prstDash val="solid"/>
          </a:ln>
        </p:spPr>
        <p:txBody>
          <a:bodyPr/>
          <a:lstStyle/>
          <a:p>
            <a:endParaRPr lang="de-DE"/>
          </a:p>
        </p:txBody>
      </p:sp>
      <p:sp>
        <p:nvSpPr>
          <p:cNvPr id="12" name="Accent">
            <a:extLst>
              <a:ext uri="{FF2B5EF4-FFF2-40B4-BE49-F238E27FC236}">
                <a16:creationId xmlns:a16="http://schemas.microsoft.com/office/drawing/2014/main" id="{88609991-3401-4437-9411-DD7BAA2D8338}"/>
              </a:ext>
            </a:extLst>
          </p:cNvPr>
          <p:cNvSpPr>
            <a:spLocks noGrp="1"/>
          </p:cNvSpPr>
          <p:nvPr/>
        </p:nvSpPr>
        <p:spPr>
          <a:xfrm>
            <a:off x="4762500" y="876300"/>
            <a:ext cx="4038600" cy="66675"/>
          </a:xfrm>
          <a:prstGeom prst="rect">
            <a:avLst/>
          </a:prstGeom>
          <a:solidFill>
            <a:srgbClr val="F59E0B"/>
          </a:solidFill>
          <a:ln w="9525">
            <a:solidFill>
              <a:srgbClr val="F59E0B"/>
            </a:solidFill>
            <a:prstDash val="solid"/>
          </a:ln>
        </p:spPr>
        <p:txBody>
          <a:bodyPr/>
          <a:lstStyle/>
          <a:p>
            <a:endParaRPr lang="de-DE"/>
          </a:p>
        </p:txBody>
      </p:sp>
      <p:sp>
        <p:nvSpPr>
          <p:cNvPr id="13" name="Text">
            <a:extLst>
              <a:ext uri="{FF2B5EF4-FFF2-40B4-BE49-F238E27FC236}">
                <a16:creationId xmlns:a16="http://schemas.microsoft.com/office/drawing/2014/main" id="{946637CC-74EF-4926-8D43-0B4EC823082B}"/>
              </a:ext>
            </a:extLst>
          </p:cNvPr>
          <p:cNvSpPr>
            <a:spLocks noGrp="1"/>
          </p:cNvSpPr>
          <p:nvPr/>
        </p:nvSpPr>
        <p:spPr>
          <a:xfrm>
            <a:off x="4991100" y="1143000"/>
            <a:ext cx="3333750" cy="266700"/>
          </a:xfrm>
          <a:prstGeom prst="rect">
            <a:avLst/>
          </a:prstGeom>
          <a:noFill/>
          <a:ln w="0">
            <a:noFill/>
            <a:prstDash val="solid"/>
          </a:ln>
        </p:spPr>
        <p:txBody>
          <a:bodyPr/>
          <a:lstStyle/>
          <a:p>
            <a:pPr algn="l">
              <a:defRPr sz="1650" b="1" i="0">
                <a:solidFill>
                  <a:srgbClr val="F59E0B"/>
                </a:solidFill>
              </a:defRPr>
            </a:pPr>
            <a:r>
              <a:rPr sz="1650" b="1" i="0">
                <a:solidFill>
                  <a:srgbClr val="F59E0B"/>
                </a:solidFill>
              </a:rPr>
              <a:t>Nächste Schritte</a:t>
            </a:r>
          </a:p>
        </p:txBody>
      </p:sp>
      <p:sp>
        <p:nvSpPr>
          <p:cNvPr id="14" name="Text">
            <a:extLst>
              <a:ext uri="{FF2B5EF4-FFF2-40B4-BE49-F238E27FC236}">
                <a16:creationId xmlns:a16="http://schemas.microsoft.com/office/drawing/2014/main" id="{BEF12BCD-1347-49E2-9660-CE8F2898B0B8}"/>
              </a:ext>
            </a:extLst>
          </p:cNvPr>
          <p:cNvSpPr>
            <a:spLocks noGrp="1"/>
          </p:cNvSpPr>
          <p:nvPr/>
        </p:nvSpPr>
        <p:spPr>
          <a:xfrm>
            <a:off x="4991100" y="1619250"/>
            <a:ext cx="3333750" cy="323850"/>
          </a:xfrm>
          <a:prstGeom prst="rect">
            <a:avLst/>
          </a:prstGeom>
          <a:noFill/>
          <a:ln w="0">
            <a:noFill/>
            <a:prstDash val="solid"/>
          </a:ln>
        </p:spPr>
        <p:txBody>
          <a:bodyPr/>
          <a:lstStyle/>
          <a:p>
            <a:pPr algn="l">
              <a:defRPr sz="1200" b="0" i="0">
                <a:solidFill>
                  <a:srgbClr val="D7E1EF"/>
                </a:solidFill>
              </a:defRPr>
            </a:pPr>
            <a:r>
              <a:rPr sz="1200" b="0" i="0">
                <a:solidFill>
                  <a:srgbClr val="D7E1EF"/>
                </a:solidFill>
              </a:rPr>
              <a:t>• Preisrange statt nur Punktprognose</a:t>
            </a:r>
          </a:p>
        </p:txBody>
      </p:sp>
      <p:sp>
        <p:nvSpPr>
          <p:cNvPr id="15" name="Text">
            <a:extLst>
              <a:ext uri="{FF2B5EF4-FFF2-40B4-BE49-F238E27FC236}">
                <a16:creationId xmlns:a16="http://schemas.microsoft.com/office/drawing/2014/main" id="{5F645099-94FB-4C8F-ADAF-4862A8EFF6F3}"/>
              </a:ext>
            </a:extLst>
          </p:cNvPr>
          <p:cNvSpPr>
            <a:spLocks noGrp="1"/>
          </p:cNvSpPr>
          <p:nvPr/>
        </p:nvSpPr>
        <p:spPr>
          <a:xfrm>
            <a:off x="4991100" y="2019300"/>
            <a:ext cx="3333750" cy="323850"/>
          </a:xfrm>
          <a:prstGeom prst="rect">
            <a:avLst/>
          </a:prstGeom>
          <a:noFill/>
          <a:ln w="0">
            <a:noFill/>
            <a:prstDash val="solid"/>
          </a:ln>
        </p:spPr>
        <p:txBody>
          <a:bodyPr/>
          <a:lstStyle/>
          <a:p>
            <a:pPr algn="l">
              <a:defRPr sz="1200" b="0" i="0">
                <a:solidFill>
                  <a:srgbClr val="D7E1EF"/>
                </a:solidFill>
              </a:defRPr>
            </a:pPr>
            <a:r>
              <a:rPr sz="1200" b="0" i="0">
                <a:solidFill>
                  <a:srgbClr val="D7E1EF"/>
                </a:solidFill>
              </a:rPr>
              <a:t>• LLM-Erklärung: warum dieser Preis?</a:t>
            </a:r>
          </a:p>
        </p:txBody>
      </p:sp>
      <p:sp>
        <p:nvSpPr>
          <p:cNvPr id="16" name="Text">
            <a:extLst>
              <a:ext uri="{FF2B5EF4-FFF2-40B4-BE49-F238E27FC236}">
                <a16:creationId xmlns:a16="http://schemas.microsoft.com/office/drawing/2014/main" id="{9B8571BB-7817-432E-8DAD-C909B017C762}"/>
              </a:ext>
            </a:extLst>
          </p:cNvPr>
          <p:cNvSpPr>
            <a:spLocks noGrp="1"/>
          </p:cNvSpPr>
          <p:nvPr/>
        </p:nvSpPr>
        <p:spPr>
          <a:xfrm>
            <a:off x="4991100" y="2419350"/>
            <a:ext cx="3333750" cy="323850"/>
          </a:xfrm>
          <a:prstGeom prst="rect">
            <a:avLst/>
          </a:prstGeom>
          <a:noFill/>
          <a:ln w="0">
            <a:noFill/>
            <a:prstDash val="solid"/>
          </a:ln>
        </p:spPr>
        <p:txBody>
          <a:bodyPr/>
          <a:lstStyle/>
          <a:p>
            <a:pPr algn="l">
              <a:defRPr sz="1200" b="0" i="0">
                <a:solidFill>
                  <a:srgbClr val="D7E1EF"/>
                </a:solidFill>
              </a:defRPr>
            </a:pPr>
            <a:r>
              <a:rPr sz="1200" b="0" i="0">
                <a:solidFill>
                  <a:srgbClr val="D7E1EF"/>
                </a:solidFill>
              </a:rPr>
              <a:t>• Paper-Struktur und Evaluation ausformulieren</a:t>
            </a:r>
          </a:p>
        </p:txBody>
      </p:sp>
      <p:sp>
        <p:nvSpPr>
          <p:cNvPr id="17" name="Text">
            <a:extLst>
              <a:ext uri="{FF2B5EF4-FFF2-40B4-BE49-F238E27FC236}">
                <a16:creationId xmlns:a16="http://schemas.microsoft.com/office/drawing/2014/main" id="{21189C99-72A1-430B-901B-02312CD0D1BD}"/>
              </a:ext>
            </a:extLst>
          </p:cNvPr>
          <p:cNvSpPr>
            <a:spLocks noGrp="1"/>
          </p:cNvSpPr>
          <p:nvPr/>
        </p:nvSpPr>
        <p:spPr>
          <a:xfrm>
            <a:off x="4991100" y="2819400"/>
            <a:ext cx="3333750" cy="323850"/>
          </a:xfrm>
          <a:prstGeom prst="rect">
            <a:avLst/>
          </a:prstGeom>
          <a:noFill/>
          <a:ln w="0">
            <a:noFill/>
            <a:prstDash val="solid"/>
          </a:ln>
        </p:spPr>
        <p:txBody>
          <a:bodyPr/>
          <a:lstStyle/>
          <a:p>
            <a:pPr algn="l">
              <a:defRPr sz="1200" b="0" i="0">
                <a:solidFill>
                  <a:srgbClr val="D7E1EF"/>
                </a:solidFill>
              </a:defRPr>
            </a:pPr>
            <a:r>
              <a:rPr sz="1200" b="0" i="0">
                <a:solidFill>
                  <a:srgbClr val="D7E1EF"/>
                </a:solidFill>
              </a:rPr>
              <a:t>• Streamlit-Demo stabilisieren und final deployen</a:t>
            </a:r>
          </a:p>
        </p:txBody>
      </p:sp>
      <p:sp>
        <p:nvSpPr>
          <p:cNvPr id="18" name="Text">
            <a:extLst>
              <a:ext uri="{FF2B5EF4-FFF2-40B4-BE49-F238E27FC236}">
                <a16:creationId xmlns:a16="http://schemas.microsoft.com/office/drawing/2014/main" id="{5B39D254-DF1B-4C3C-B198-ED067CCB2665}"/>
              </a:ext>
            </a:extLst>
          </p:cNvPr>
          <p:cNvSpPr>
            <a:spLocks noGrp="1"/>
          </p:cNvSpPr>
          <p:nvPr/>
        </p:nvSpPr>
        <p:spPr>
          <a:xfrm>
            <a:off x="4991100" y="3219450"/>
            <a:ext cx="3333750" cy="323850"/>
          </a:xfrm>
          <a:prstGeom prst="rect">
            <a:avLst/>
          </a:prstGeom>
          <a:noFill/>
          <a:ln w="0">
            <a:noFill/>
            <a:prstDash val="solid"/>
          </a:ln>
        </p:spPr>
        <p:txBody>
          <a:bodyPr/>
          <a:lstStyle/>
          <a:p>
            <a:pPr algn="l">
              <a:defRPr sz="1200" b="0" i="0">
                <a:solidFill>
                  <a:srgbClr val="D7E1EF"/>
                </a:solidFill>
              </a:defRPr>
            </a:pPr>
            <a:r>
              <a:rPr sz="1200" b="0" i="0">
                <a:solidFill>
                  <a:srgbClr val="D7E1EF"/>
                </a:solidFill>
              </a:rPr>
              <a:t>• Optional: volles Training auf 534k Zeilen</a:t>
            </a:r>
          </a:p>
        </p:txBody>
      </p:sp>
      <p:sp>
        <p:nvSpPr>
          <p:cNvPr id="19" name="Callout">
            <a:extLst>
              <a:ext uri="{FF2B5EF4-FFF2-40B4-BE49-F238E27FC236}">
                <a16:creationId xmlns:a16="http://schemas.microsoft.com/office/drawing/2014/main" id="{348D9725-D042-40AF-928C-D76E5CB371DF}"/>
              </a:ext>
            </a:extLst>
          </p:cNvPr>
          <p:cNvSpPr>
            <a:spLocks noGrp="1"/>
          </p:cNvSpPr>
          <p:nvPr/>
        </p:nvSpPr>
        <p:spPr>
          <a:xfrm>
            <a:off x="342900" y="4686300"/>
            <a:ext cx="8458200" cy="323850"/>
          </a:xfrm>
          <a:prstGeom prst="rect">
            <a:avLst/>
          </a:prstGeom>
          <a:solidFill>
            <a:srgbClr val="102B49"/>
          </a:solidFill>
          <a:ln w="9525">
            <a:solidFill>
              <a:srgbClr val="54D8C8"/>
            </a:solidFill>
            <a:prstDash val="solid"/>
          </a:ln>
        </p:spPr>
        <p:txBody>
          <a:bodyPr/>
          <a:lstStyle/>
          <a:p>
            <a:endParaRPr lang="de-DE"/>
          </a:p>
        </p:txBody>
      </p:sp>
      <p:sp>
        <p:nvSpPr>
          <p:cNvPr id="20" name="CalloutText">
            <a:extLst>
              <a:ext uri="{FF2B5EF4-FFF2-40B4-BE49-F238E27FC236}">
                <a16:creationId xmlns:a16="http://schemas.microsoft.com/office/drawing/2014/main" id="{00CC6881-7C66-416A-AE66-06F016E033B5}"/>
              </a:ext>
            </a:extLst>
          </p:cNvPr>
          <p:cNvSpPr>
            <a:spLocks noGrp="1"/>
          </p:cNvSpPr>
          <p:nvPr/>
        </p:nvSpPr>
        <p:spPr>
          <a:xfrm>
            <a:off x="514350" y="4810125"/>
            <a:ext cx="8115300" cy="152400"/>
          </a:xfrm>
          <a:prstGeom prst="rect">
            <a:avLst/>
          </a:prstGeom>
          <a:noFill/>
          <a:ln w="0">
            <a:noFill/>
            <a:prstDash val="solid"/>
          </a:ln>
        </p:spPr>
        <p:txBody>
          <a:bodyPr/>
          <a:lstStyle/>
          <a:p>
            <a:pPr algn="l">
              <a:defRPr sz="1125" b="0" i="0">
                <a:solidFill>
                  <a:srgbClr val="FFFFFF"/>
                </a:solidFill>
              </a:defRPr>
            </a:pPr>
            <a:r>
              <a:rPr sz="1125" b="0" i="0">
                <a:solidFill>
                  <a:srgbClr val="FFFFFF"/>
                </a:solidFill>
              </a:rPr>
              <a:t>Zwischenstand: funktionsfähige End-to-End-Demo von Fahrzeugdaten bis markt- und saisonangepasstem Preis.</a:t>
            </a:r>
          </a:p>
        </p:txBody>
      </p:sp>
    </p:spTree>
    <p:extLst>
      <p:ext uri="{BB962C8B-B14F-4D97-AF65-F5344CB8AC3E}">
        <p14:creationId xmlns:p14="http://schemas.microsoft.com/office/powerpoint/2010/main" val="17121374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9488"/>
          </a:solidFill>
          <a:ln w="12700">
            <a:solidFill>
              <a:srgbClr val="0D9488"/>
            </a:solidFill>
            <a:prstDash val="solid"/>
          </a:ln>
        </p:spPr>
        <p:txBody>
          <a:bodyPr/>
          <a:lstStyle/>
          <a:p>
            <a:endParaRPr lang="de-DE"/>
          </a:p>
        </p:txBody>
      </p:sp>
      <p:sp>
        <p:nvSpPr>
          <p:cNvPr id="3" name="Text 1"/>
          <p:cNvSpPr/>
          <p:nvPr/>
        </p:nvSpPr>
        <p:spPr>
          <a:xfrm>
            <a:off x="457200" y="219456"/>
            <a:ext cx="6035040" cy="475488"/>
          </a:xfrm>
          <a:prstGeom prst="rect">
            <a:avLst/>
          </a:prstGeom>
          <a:noFill/>
          <a:ln/>
        </p:spPr>
        <p:txBody>
          <a:bodyPr wrap="square" lIns="0" tIns="0" rIns="0" bIns="0" rtlCol="0" anchor="ctr"/>
          <a:lstStyle/>
          <a:p>
            <a:pPr marL="0" indent="0">
              <a:buNone/>
            </a:pPr>
            <a:r>
              <a:rPr lang="en-US" sz="2700" b="1" err="1">
                <a:solidFill>
                  <a:srgbClr val="0F2240"/>
                </a:solidFill>
                <a:latin typeface="Calibri" pitchFamily="34" charset="0"/>
                <a:ea typeface="Calibri" pitchFamily="34" charset="-122"/>
                <a:cs typeface="Calibri" pitchFamily="34" charset="-120"/>
              </a:rPr>
              <a:t>Ausblick</a:t>
            </a:r>
            <a:r>
              <a:rPr lang="en-US" sz="2700" b="1">
                <a:solidFill>
                  <a:srgbClr val="0F2240"/>
                </a:solidFill>
                <a:latin typeface="Calibri" pitchFamily="34" charset="0"/>
                <a:ea typeface="Calibri" pitchFamily="34" charset="-122"/>
                <a:cs typeface="Calibri" pitchFamily="34" charset="-120"/>
              </a:rPr>
              <a:t> </a:t>
            </a:r>
            <a:r>
              <a:rPr lang="en-US" sz="2700" b="1" err="1">
                <a:solidFill>
                  <a:srgbClr val="0F2240"/>
                </a:solidFill>
                <a:latin typeface="Calibri" pitchFamily="34" charset="0"/>
                <a:ea typeface="Calibri" pitchFamily="34" charset="-122"/>
                <a:cs typeface="Calibri" pitchFamily="34" charset="-120"/>
              </a:rPr>
              <a:t>Anreicherung</a:t>
            </a:r>
            <a:r>
              <a:rPr lang="en-US" sz="2700" b="1">
                <a:solidFill>
                  <a:srgbClr val="0F2240"/>
                </a:solidFill>
                <a:latin typeface="Calibri" pitchFamily="34" charset="0"/>
                <a:ea typeface="Calibri" pitchFamily="34" charset="-122"/>
                <a:cs typeface="Calibri" pitchFamily="34" charset="-120"/>
              </a:rPr>
              <a:t> </a:t>
            </a:r>
            <a:r>
              <a:rPr lang="en-US" sz="2700" b="1" err="1">
                <a:solidFill>
                  <a:srgbClr val="0F2240"/>
                </a:solidFill>
                <a:latin typeface="Calibri" pitchFamily="34" charset="0"/>
                <a:ea typeface="Calibri" pitchFamily="34" charset="-122"/>
                <a:cs typeface="Calibri" pitchFamily="34" charset="-120"/>
              </a:rPr>
              <a:t>über</a:t>
            </a:r>
            <a:r>
              <a:rPr lang="en-US" sz="2700" b="1">
                <a:solidFill>
                  <a:srgbClr val="0F2240"/>
                </a:solidFill>
                <a:latin typeface="Calibri" pitchFamily="34" charset="0"/>
                <a:ea typeface="Calibri" pitchFamily="34" charset="-122"/>
                <a:cs typeface="Calibri" pitchFamily="34" charset="-120"/>
              </a:rPr>
              <a:t> die FIN</a:t>
            </a:r>
            <a:endParaRPr lang="en-US" sz="2700"/>
          </a:p>
        </p:txBody>
      </p:sp>
      <p:sp>
        <p:nvSpPr>
          <p:cNvPr id="4" name="Shape 2"/>
          <p:cNvSpPr/>
          <p:nvPr/>
        </p:nvSpPr>
        <p:spPr>
          <a:xfrm>
            <a:off x="6629400" y="274320"/>
            <a:ext cx="2194560" cy="384048"/>
          </a:xfrm>
          <a:prstGeom prst="roundRect">
            <a:avLst>
              <a:gd name="adj" fmla="val 19048"/>
            </a:avLst>
          </a:prstGeom>
          <a:solidFill>
            <a:srgbClr val="FEF3C7"/>
          </a:solidFill>
          <a:ln w="12700">
            <a:solidFill>
              <a:srgbClr val="F59E0B"/>
            </a:solidFill>
            <a:prstDash val="solid"/>
          </a:ln>
        </p:spPr>
        <p:txBody>
          <a:bodyPr/>
          <a:lstStyle/>
          <a:p>
            <a:endParaRPr lang="de-DE"/>
          </a:p>
        </p:txBody>
      </p:sp>
      <p:sp>
        <p:nvSpPr>
          <p:cNvPr id="5" name="Text 3"/>
          <p:cNvSpPr/>
          <p:nvPr/>
        </p:nvSpPr>
        <p:spPr>
          <a:xfrm>
            <a:off x="6629400" y="274320"/>
            <a:ext cx="2194560" cy="384048"/>
          </a:xfrm>
          <a:prstGeom prst="rect">
            <a:avLst/>
          </a:prstGeom>
          <a:noFill/>
          <a:ln/>
        </p:spPr>
        <p:txBody>
          <a:bodyPr wrap="square" lIns="0" tIns="0" rIns="0" bIns="0" rtlCol="0" anchor="ctr"/>
          <a:lstStyle/>
          <a:p>
            <a:pPr marL="0" indent="0" algn="ctr">
              <a:buNone/>
            </a:pPr>
            <a:r>
              <a:rPr lang="en-US" sz="1100" b="1">
                <a:solidFill>
                  <a:srgbClr val="92400E"/>
                </a:solidFill>
                <a:latin typeface="Calibri" pitchFamily="34" charset="0"/>
                <a:ea typeface="Calibri" pitchFamily="34" charset="-122"/>
                <a:cs typeface="Calibri" pitchFamily="34" charset="-120"/>
              </a:rPr>
              <a:t>AKTUELLES EXPERIMENT</a:t>
            </a:r>
            <a:endParaRPr lang="en-US" sz="1100"/>
          </a:p>
        </p:txBody>
      </p:sp>
      <p:sp>
        <p:nvSpPr>
          <p:cNvPr id="6" name="Text 4"/>
          <p:cNvSpPr/>
          <p:nvPr/>
        </p:nvSpPr>
        <p:spPr>
          <a:xfrm>
            <a:off x="457200" y="713232"/>
            <a:ext cx="8229600" cy="274320"/>
          </a:xfrm>
          <a:prstGeom prst="rect">
            <a:avLst/>
          </a:prstGeom>
          <a:noFill/>
          <a:ln/>
        </p:spPr>
        <p:txBody>
          <a:bodyPr wrap="square" lIns="0" tIns="0" rIns="0" bIns="0" rtlCol="0" anchor="ctr"/>
          <a:lstStyle/>
          <a:p>
            <a:pPr marL="0" indent="0">
              <a:buNone/>
            </a:pPr>
            <a:r>
              <a:rPr lang="en-US" sz="1200" i="1">
                <a:solidFill>
                  <a:srgbClr val="64748B"/>
                </a:solidFill>
                <a:latin typeface="Calibri" pitchFamily="34" charset="0"/>
                <a:ea typeface="Calibri" pitchFamily="34" charset="-122"/>
                <a:cs typeface="Calibri" pitchFamily="34" charset="-120"/>
              </a:rPr>
              <a:t>Idee, die wir nach aktuellem Stand noch ins Modell einbauen wollen</a:t>
            </a:r>
            <a:endParaRPr lang="en-US" sz="1200"/>
          </a:p>
        </p:txBody>
      </p:sp>
      <p:sp>
        <p:nvSpPr>
          <p:cNvPr id="7" name="Shape 5"/>
          <p:cNvSpPr/>
          <p:nvPr/>
        </p:nvSpPr>
        <p:spPr>
          <a:xfrm>
            <a:off x="365760" y="1097280"/>
            <a:ext cx="2670048" cy="2788920"/>
          </a:xfrm>
          <a:prstGeom prst="rect">
            <a:avLst/>
          </a:prstGeom>
          <a:solidFill>
            <a:srgbClr val="F1F5F9"/>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de-DE"/>
          </a:p>
        </p:txBody>
      </p:sp>
      <p:sp>
        <p:nvSpPr>
          <p:cNvPr id="8" name="Shape 6"/>
          <p:cNvSpPr/>
          <p:nvPr/>
        </p:nvSpPr>
        <p:spPr>
          <a:xfrm>
            <a:off x="365760" y="1097280"/>
            <a:ext cx="2670048" cy="64008"/>
          </a:xfrm>
          <a:prstGeom prst="rect">
            <a:avLst/>
          </a:prstGeom>
          <a:solidFill>
            <a:srgbClr val="0D9488"/>
          </a:solidFill>
          <a:ln w="12700">
            <a:solidFill>
              <a:srgbClr val="0D9488"/>
            </a:solidFill>
            <a:prstDash val="solid"/>
          </a:ln>
        </p:spPr>
        <p:txBody>
          <a:bodyPr/>
          <a:lstStyle/>
          <a:p>
            <a:endParaRPr lang="de-DE"/>
          </a:p>
        </p:txBody>
      </p:sp>
      <p:sp>
        <p:nvSpPr>
          <p:cNvPr id="9" name="Shape 7"/>
          <p:cNvSpPr/>
          <p:nvPr/>
        </p:nvSpPr>
        <p:spPr>
          <a:xfrm>
            <a:off x="502920" y="1234440"/>
            <a:ext cx="457200" cy="457200"/>
          </a:xfrm>
          <a:prstGeom prst="ellipse">
            <a:avLst/>
          </a:prstGeom>
          <a:solidFill>
            <a:srgbClr val="0D9488"/>
          </a:solidFill>
          <a:ln w="12700">
            <a:solidFill>
              <a:srgbClr val="0D9488"/>
            </a:solidFill>
            <a:prstDash val="solid"/>
          </a:ln>
        </p:spPr>
        <p:txBody>
          <a:bodyPr/>
          <a:lstStyle/>
          <a:p>
            <a:endParaRPr lang="de-DE"/>
          </a:p>
        </p:txBody>
      </p:sp>
      <p:sp>
        <p:nvSpPr>
          <p:cNvPr id="10" name="Text 8"/>
          <p:cNvSpPr/>
          <p:nvPr/>
        </p:nvSpPr>
        <p:spPr>
          <a:xfrm>
            <a:off x="502920" y="1234440"/>
            <a:ext cx="457200" cy="457200"/>
          </a:xfrm>
          <a:prstGeom prst="rect">
            <a:avLst/>
          </a:prstGeom>
          <a:noFill/>
          <a:ln/>
        </p:spPr>
        <p:txBody>
          <a:bodyPr wrap="square" lIns="0" tIns="0" rIns="0" bIns="0" rtlCol="0" anchor="ctr"/>
          <a:lstStyle/>
          <a:p>
            <a:pPr marL="0" indent="0" algn="ctr">
              <a:buNone/>
            </a:pPr>
            <a:r>
              <a:rPr lang="en-US" sz="1800" b="1">
                <a:solidFill>
                  <a:srgbClr val="FFFFFF"/>
                </a:solidFill>
                <a:latin typeface="Calibri" pitchFamily="34" charset="0"/>
                <a:ea typeface="Calibri" pitchFamily="34" charset="-122"/>
                <a:cs typeface="Calibri" pitchFamily="34" charset="-120"/>
              </a:rPr>
              <a:t>1</a:t>
            </a:r>
            <a:endParaRPr lang="en-US" sz="1800"/>
          </a:p>
        </p:txBody>
      </p:sp>
      <p:sp>
        <p:nvSpPr>
          <p:cNvPr id="11" name="Text 9"/>
          <p:cNvSpPr/>
          <p:nvPr/>
        </p:nvSpPr>
        <p:spPr>
          <a:xfrm>
            <a:off x="1042416" y="1280160"/>
            <a:ext cx="1874520" cy="384048"/>
          </a:xfrm>
          <a:prstGeom prst="rect">
            <a:avLst/>
          </a:prstGeom>
          <a:noFill/>
          <a:ln/>
        </p:spPr>
        <p:txBody>
          <a:bodyPr wrap="square" lIns="0" tIns="0" rIns="0" bIns="0" rtlCol="0" anchor="ctr"/>
          <a:lstStyle/>
          <a:p>
            <a:pPr marL="0" indent="0">
              <a:buNone/>
            </a:pPr>
            <a:r>
              <a:rPr lang="en-US" sz="1400" b="1">
                <a:solidFill>
                  <a:srgbClr val="0F2240"/>
                </a:solidFill>
                <a:latin typeface="Calibri" pitchFamily="34" charset="0"/>
                <a:ea typeface="Calibri" pitchFamily="34" charset="-122"/>
                <a:cs typeface="Calibri" pitchFamily="34" charset="-120"/>
              </a:rPr>
              <a:t>Woher die Idee?</a:t>
            </a:r>
            <a:endParaRPr lang="en-US" sz="1400"/>
          </a:p>
        </p:txBody>
      </p:sp>
      <p:sp>
        <p:nvSpPr>
          <p:cNvPr id="12" name="Text 10"/>
          <p:cNvSpPr/>
          <p:nvPr/>
        </p:nvSpPr>
        <p:spPr>
          <a:xfrm>
            <a:off x="530352" y="1828800"/>
            <a:ext cx="2377440" cy="1920240"/>
          </a:xfrm>
          <a:prstGeom prst="rect">
            <a:avLst/>
          </a:prstGeom>
          <a:noFill/>
          <a:ln/>
        </p:spPr>
        <p:txBody>
          <a:bodyPr wrap="square" lIns="0" tIns="0" rIns="0" bIns="0" rtlCol="0" anchor="ctr"/>
          <a:lstStyle/>
          <a:p>
            <a:pPr marL="0" indent="0">
              <a:lnSpc>
                <a:spcPct val="115000"/>
              </a:lnSpc>
              <a:buNone/>
            </a:pPr>
            <a:r>
              <a:rPr lang="en-US" sz="1100">
                <a:solidFill>
                  <a:srgbClr val="1E293B"/>
                </a:solidFill>
                <a:latin typeface="Calibri" pitchFamily="34" charset="0"/>
                <a:ea typeface="Calibri" pitchFamily="34" charset="-122"/>
                <a:cs typeface="Calibri" pitchFamily="34" charset="-120"/>
              </a:rPr>
              <a:t>Gegentest auf WirKaufenDeinAuto.de</a:t>
            </a:r>
            <a:endParaRPr lang="en-US" sz="1100"/>
          </a:p>
          <a:p>
            <a:pPr marL="0" indent="0">
              <a:lnSpc>
                <a:spcPct val="115000"/>
              </a:lnSpc>
              <a:buNone/>
            </a:pPr>
            <a:r>
              <a:rPr lang="en-US" sz="1100">
                <a:solidFill>
                  <a:srgbClr val="1E293B"/>
                </a:solidFill>
                <a:latin typeface="Calibri" pitchFamily="34" charset="0"/>
                <a:ea typeface="Calibri" pitchFamily="34" charset="-122"/>
                <a:cs typeface="Calibri" pitchFamily="34" charset="-120"/>
              </a:rPr>
              <a:t>Dort werden viel mehr Fahrzeug-</a:t>
            </a:r>
            <a:endParaRPr lang="en-US" sz="1100"/>
          </a:p>
          <a:p>
            <a:pPr marL="0" indent="0">
              <a:lnSpc>
                <a:spcPct val="115000"/>
              </a:lnSpc>
              <a:buNone/>
            </a:pPr>
            <a:r>
              <a:rPr lang="en-US" sz="1100">
                <a:solidFill>
                  <a:srgbClr val="1E293B"/>
                </a:solidFill>
                <a:latin typeface="Calibri" pitchFamily="34" charset="0"/>
                <a:ea typeface="Calibri" pitchFamily="34" charset="-122"/>
                <a:cs typeface="Calibri" pitchFamily="34" charset="-120"/>
              </a:rPr>
              <a:t>details abgefragt als wir nutzen</a:t>
            </a:r>
            <a:endParaRPr lang="en-US" sz="1100"/>
          </a:p>
          <a:p>
            <a:pPr marL="0" indent="0">
              <a:lnSpc>
                <a:spcPct val="115000"/>
              </a:lnSpc>
              <a:buNone/>
            </a:pPr>
            <a:r>
              <a:rPr lang="en-US" sz="1100">
                <a:solidFill>
                  <a:srgbClr val="1E293B"/>
                </a:solidFill>
                <a:latin typeface="Calibri" pitchFamily="34" charset="0"/>
                <a:ea typeface="Calibri" pitchFamily="34" charset="-122"/>
                <a:cs typeface="Calibri" pitchFamily="34" charset="-120"/>
              </a:rPr>
              <a:t>→ Was davon können wir nachträglich</a:t>
            </a:r>
            <a:endParaRPr lang="en-US" sz="1100"/>
          </a:p>
          <a:p>
            <a:pPr marL="0" indent="0">
              <a:lnSpc>
                <a:spcPct val="115000"/>
              </a:lnSpc>
              <a:buNone/>
            </a:pPr>
            <a:r>
              <a:rPr lang="en-US" sz="1100" b="1">
                <a:solidFill>
                  <a:srgbClr val="0D9488"/>
                </a:solidFill>
                <a:latin typeface="Calibri" pitchFamily="34" charset="0"/>
                <a:ea typeface="Calibri" pitchFamily="34" charset="-122"/>
                <a:cs typeface="Calibri" pitchFamily="34" charset="-120"/>
              </a:rPr>
              <a:t>   gewinnen, ohne neue Erhebung?</a:t>
            </a:r>
            <a:endParaRPr lang="en-US" sz="1100"/>
          </a:p>
        </p:txBody>
      </p:sp>
      <p:sp>
        <p:nvSpPr>
          <p:cNvPr id="13" name="Text 11"/>
          <p:cNvSpPr/>
          <p:nvPr/>
        </p:nvSpPr>
        <p:spPr>
          <a:xfrm>
            <a:off x="3017520" y="2286000"/>
            <a:ext cx="274320" cy="365760"/>
          </a:xfrm>
          <a:prstGeom prst="rect">
            <a:avLst/>
          </a:prstGeom>
          <a:noFill/>
          <a:ln/>
        </p:spPr>
        <p:txBody>
          <a:bodyPr wrap="square" lIns="0" tIns="0" rIns="0" bIns="0" rtlCol="0" anchor="ctr"/>
          <a:lstStyle/>
          <a:p>
            <a:pPr marL="0" indent="0" algn="ctr">
              <a:buNone/>
            </a:pPr>
            <a:r>
              <a:rPr lang="en-US" sz="2000" b="1">
                <a:solidFill>
                  <a:srgbClr val="0D9488"/>
                </a:solidFill>
                <a:latin typeface="Calibri" pitchFamily="34" charset="0"/>
                <a:ea typeface="Calibri" pitchFamily="34" charset="-122"/>
                <a:cs typeface="Calibri" pitchFamily="34" charset="-120"/>
              </a:rPr>
              <a:t>→</a:t>
            </a:r>
            <a:endParaRPr lang="en-US" sz="2000"/>
          </a:p>
        </p:txBody>
      </p:sp>
      <p:sp>
        <p:nvSpPr>
          <p:cNvPr id="14" name="Shape 12"/>
          <p:cNvSpPr/>
          <p:nvPr/>
        </p:nvSpPr>
        <p:spPr>
          <a:xfrm>
            <a:off x="3246120" y="1097280"/>
            <a:ext cx="2670048" cy="2788920"/>
          </a:xfrm>
          <a:prstGeom prst="rect">
            <a:avLst/>
          </a:prstGeom>
          <a:solidFill>
            <a:srgbClr val="F1F5F9"/>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de-DE"/>
          </a:p>
        </p:txBody>
      </p:sp>
      <p:sp>
        <p:nvSpPr>
          <p:cNvPr id="15" name="Shape 13"/>
          <p:cNvSpPr/>
          <p:nvPr/>
        </p:nvSpPr>
        <p:spPr>
          <a:xfrm>
            <a:off x="3246120" y="1097280"/>
            <a:ext cx="2670048" cy="64008"/>
          </a:xfrm>
          <a:prstGeom prst="rect">
            <a:avLst/>
          </a:prstGeom>
          <a:solidFill>
            <a:srgbClr val="0891B2"/>
          </a:solidFill>
          <a:ln w="12700">
            <a:solidFill>
              <a:srgbClr val="0891B2"/>
            </a:solidFill>
            <a:prstDash val="solid"/>
          </a:ln>
        </p:spPr>
        <p:txBody>
          <a:bodyPr/>
          <a:lstStyle/>
          <a:p>
            <a:endParaRPr lang="de-DE"/>
          </a:p>
        </p:txBody>
      </p:sp>
      <p:sp>
        <p:nvSpPr>
          <p:cNvPr id="16" name="Shape 14"/>
          <p:cNvSpPr/>
          <p:nvPr/>
        </p:nvSpPr>
        <p:spPr>
          <a:xfrm>
            <a:off x="3383280" y="1234440"/>
            <a:ext cx="457200" cy="457200"/>
          </a:xfrm>
          <a:prstGeom prst="ellipse">
            <a:avLst/>
          </a:prstGeom>
          <a:solidFill>
            <a:srgbClr val="0891B2"/>
          </a:solidFill>
          <a:ln w="12700">
            <a:solidFill>
              <a:srgbClr val="0891B2"/>
            </a:solidFill>
            <a:prstDash val="solid"/>
          </a:ln>
        </p:spPr>
        <p:txBody>
          <a:bodyPr/>
          <a:lstStyle/>
          <a:p>
            <a:endParaRPr lang="de-DE"/>
          </a:p>
        </p:txBody>
      </p:sp>
      <p:sp>
        <p:nvSpPr>
          <p:cNvPr id="17" name="Text 15"/>
          <p:cNvSpPr/>
          <p:nvPr/>
        </p:nvSpPr>
        <p:spPr>
          <a:xfrm>
            <a:off x="3383280" y="1234440"/>
            <a:ext cx="457200" cy="457200"/>
          </a:xfrm>
          <a:prstGeom prst="rect">
            <a:avLst/>
          </a:prstGeom>
          <a:noFill/>
          <a:ln/>
        </p:spPr>
        <p:txBody>
          <a:bodyPr wrap="square" lIns="0" tIns="0" rIns="0" bIns="0" rtlCol="0" anchor="ctr"/>
          <a:lstStyle/>
          <a:p>
            <a:pPr marL="0" indent="0" algn="ctr">
              <a:buNone/>
            </a:pPr>
            <a:r>
              <a:rPr lang="en-US" sz="1800" b="1">
                <a:solidFill>
                  <a:srgbClr val="FFFFFF"/>
                </a:solidFill>
                <a:latin typeface="Calibri" pitchFamily="34" charset="0"/>
                <a:ea typeface="Calibri" pitchFamily="34" charset="-122"/>
                <a:cs typeface="Calibri" pitchFamily="34" charset="-120"/>
              </a:rPr>
              <a:t>2</a:t>
            </a:r>
            <a:endParaRPr lang="en-US" sz="1800"/>
          </a:p>
        </p:txBody>
      </p:sp>
      <p:sp>
        <p:nvSpPr>
          <p:cNvPr id="18" name="Text 16"/>
          <p:cNvSpPr/>
          <p:nvPr/>
        </p:nvSpPr>
        <p:spPr>
          <a:xfrm>
            <a:off x="3922776" y="1280160"/>
            <a:ext cx="1874520" cy="384048"/>
          </a:xfrm>
          <a:prstGeom prst="rect">
            <a:avLst/>
          </a:prstGeom>
          <a:noFill/>
          <a:ln/>
        </p:spPr>
        <p:txBody>
          <a:bodyPr wrap="square" lIns="0" tIns="0" rIns="0" bIns="0" rtlCol="0" anchor="ctr"/>
          <a:lstStyle/>
          <a:p>
            <a:pPr marL="0" indent="0">
              <a:buNone/>
            </a:pPr>
            <a:r>
              <a:rPr lang="en-US" sz="1400" b="1">
                <a:solidFill>
                  <a:srgbClr val="0F2240"/>
                </a:solidFill>
                <a:latin typeface="Calibri" pitchFamily="34" charset="0"/>
                <a:ea typeface="Calibri" pitchFamily="34" charset="-122"/>
                <a:cs typeface="Calibri" pitchFamily="34" charset="-120"/>
              </a:rPr>
              <a:t>Wie an die FIN-Daten?</a:t>
            </a:r>
            <a:endParaRPr lang="en-US" sz="1400"/>
          </a:p>
        </p:txBody>
      </p:sp>
      <p:sp>
        <p:nvSpPr>
          <p:cNvPr id="19" name="Text 17"/>
          <p:cNvSpPr/>
          <p:nvPr/>
        </p:nvSpPr>
        <p:spPr>
          <a:xfrm>
            <a:off x="3410712" y="1828800"/>
            <a:ext cx="2377440" cy="1920240"/>
          </a:xfrm>
          <a:prstGeom prst="rect">
            <a:avLst/>
          </a:prstGeom>
          <a:noFill/>
          <a:ln/>
        </p:spPr>
        <p:txBody>
          <a:bodyPr wrap="square" lIns="0" tIns="0" rIns="0" bIns="0" rtlCol="0" anchor="ctr"/>
          <a:lstStyle/>
          <a:p>
            <a:pPr marL="0" indent="0">
              <a:lnSpc>
                <a:spcPct val="115000"/>
              </a:lnSpc>
              <a:buNone/>
            </a:pPr>
            <a:r>
              <a:rPr lang="en-US" sz="1100">
                <a:solidFill>
                  <a:srgbClr val="1E293B"/>
                </a:solidFill>
                <a:latin typeface="Calibri" pitchFamily="34" charset="0"/>
                <a:ea typeface="Calibri" pitchFamily="34" charset="-122"/>
                <a:cs typeface="Calibri" pitchFamily="34" charset="-120"/>
              </a:rPr>
              <a:t>Jede Zeile hat eine VIN/FIN</a:t>
            </a:r>
            <a:endParaRPr lang="en-US" sz="1100"/>
          </a:p>
          <a:p>
            <a:pPr marL="0" indent="0">
              <a:lnSpc>
                <a:spcPct val="115000"/>
              </a:lnSpc>
              <a:buNone/>
            </a:pPr>
            <a:r>
              <a:rPr lang="en-US" sz="1100">
                <a:solidFill>
                  <a:srgbClr val="1E293B"/>
                </a:solidFill>
                <a:latin typeface="Calibri" pitchFamily="34" charset="0"/>
                <a:ea typeface="Calibri" pitchFamily="34" charset="-122"/>
                <a:cs typeface="Calibri" pitchFamily="34" charset="-120"/>
              </a:rPr>
              <a:t>(558.743, alle 17-stellig, 98,5 % uniq.)</a:t>
            </a:r>
            <a:endParaRPr lang="en-US" sz="1100"/>
          </a:p>
          <a:p>
            <a:pPr marL="0" indent="0">
              <a:lnSpc>
                <a:spcPct val="115000"/>
              </a:lnSpc>
              <a:buNone/>
            </a:pPr>
            <a:r>
              <a:rPr lang="en-US" sz="1100">
                <a:solidFill>
                  <a:srgbClr val="1E293B"/>
                </a:solidFill>
                <a:latin typeface="Calibri" pitchFamily="34" charset="0"/>
                <a:ea typeface="Calibri" pitchFamily="34" charset="-122"/>
                <a:cs typeface="Calibri" pitchFamily="34" charset="-120"/>
              </a:rPr>
              <a:t>Decode über NHTSA-API (kostenlos)</a:t>
            </a:r>
            <a:endParaRPr lang="en-US" sz="1100"/>
          </a:p>
          <a:p>
            <a:pPr marL="0" indent="0">
              <a:lnSpc>
                <a:spcPct val="115000"/>
              </a:lnSpc>
              <a:buNone/>
            </a:pPr>
            <a:r>
              <a:rPr lang="en-US" sz="1100">
                <a:solidFill>
                  <a:srgbClr val="1E293B"/>
                </a:solidFill>
                <a:latin typeface="Calibri" pitchFamily="34" charset="0"/>
                <a:ea typeface="Calibri" pitchFamily="34" charset="-122"/>
                <a:cs typeface="Calibri" pitchFamily="34" charset="-120"/>
              </a:rPr>
              <a:t>Gut befüllt: Hubraum 99 %,</a:t>
            </a:r>
            <a:endParaRPr lang="en-US" sz="1100"/>
          </a:p>
          <a:p>
            <a:pPr marL="0" indent="0">
              <a:lnSpc>
                <a:spcPct val="115000"/>
              </a:lnSpc>
              <a:buNone/>
            </a:pPr>
            <a:r>
              <a:rPr lang="en-US" sz="1100" b="1">
                <a:solidFill>
                  <a:srgbClr val="0891B2"/>
                </a:solidFill>
                <a:latin typeface="Calibri" pitchFamily="34" charset="0"/>
                <a:ea typeface="Calibri" pitchFamily="34" charset="-122"/>
                <a:cs typeface="Calibri" pitchFamily="34" charset="-120"/>
              </a:rPr>
              <a:t>Kraftstoff 96 %, Zylinder 88 %</a:t>
            </a:r>
            <a:endParaRPr lang="en-US" sz="1100"/>
          </a:p>
        </p:txBody>
      </p:sp>
      <p:sp>
        <p:nvSpPr>
          <p:cNvPr id="20" name="Text 18"/>
          <p:cNvSpPr/>
          <p:nvPr/>
        </p:nvSpPr>
        <p:spPr>
          <a:xfrm>
            <a:off x="5897880" y="2286000"/>
            <a:ext cx="274320" cy="365760"/>
          </a:xfrm>
          <a:prstGeom prst="rect">
            <a:avLst/>
          </a:prstGeom>
          <a:noFill/>
          <a:ln/>
        </p:spPr>
        <p:txBody>
          <a:bodyPr wrap="square" lIns="0" tIns="0" rIns="0" bIns="0" rtlCol="0" anchor="ctr"/>
          <a:lstStyle/>
          <a:p>
            <a:pPr marL="0" indent="0" algn="ctr">
              <a:buNone/>
            </a:pPr>
            <a:r>
              <a:rPr lang="en-US" sz="2000" b="1">
                <a:solidFill>
                  <a:srgbClr val="0D9488"/>
                </a:solidFill>
                <a:latin typeface="Calibri" pitchFamily="34" charset="0"/>
                <a:ea typeface="Calibri" pitchFamily="34" charset="-122"/>
                <a:cs typeface="Calibri" pitchFamily="34" charset="-120"/>
              </a:rPr>
              <a:t>→</a:t>
            </a:r>
            <a:endParaRPr lang="en-US" sz="2000"/>
          </a:p>
        </p:txBody>
      </p:sp>
      <p:sp>
        <p:nvSpPr>
          <p:cNvPr id="21" name="Shape 19"/>
          <p:cNvSpPr/>
          <p:nvPr/>
        </p:nvSpPr>
        <p:spPr>
          <a:xfrm>
            <a:off x="6126480" y="1097280"/>
            <a:ext cx="2670048" cy="2788920"/>
          </a:xfrm>
          <a:prstGeom prst="rect">
            <a:avLst/>
          </a:prstGeom>
          <a:solidFill>
            <a:srgbClr val="F1F5F9"/>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de-DE"/>
          </a:p>
        </p:txBody>
      </p:sp>
      <p:sp>
        <p:nvSpPr>
          <p:cNvPr id="22" name="Shape 20"/>
          <p:cNvSpPr/>
          <p:nvPr/>
        </p:nvSpPr>
        <p:spPr>
          <a:xfrm>
            <a:off x="6126480" y="1097280"/>
            <a:ext cx="2670048" cy="64008"/>
          </a:xfrm>
          <a:prstGeom prst="rect">
            <a:avLst/>
          </a:prstGeom>
          <a:solidFill>
            <a:srgbClr val="7C3AED"/>
          </a:solidFill>
          <a:ln w="12700">
            <a:solidFill>
              <a:srgbClr val="7C3AED"/>
            </a:solidFill>
            <a:prstDash val="solid"/>
          </a:ln>
        </p:spPr>
        <p:txBody>
          <a:bodyPr/>
          <a:lstStyle/>
          <a:p>
            <a:endParaRPr lang="de-DE"/>
          </a:p>
        </p:txBody>
      </p:sp>
      <p:sp>
        <p:nvSpPr>
          <p:cNvPr id="23" name="Shape 21"/>
          <p:cNvSpPr/>
          <p:nvPr/>
        </p:nvSpPr>
        <p:spPr>
          <a:xfrm>
            <a:off x="6263640" y="1234440"/>
            <a:ext cx="457200" cy="457200"/>
          </a:xfrm>
          <a:prstGeom prst="ellipse">
            <a:avLst/>
          </a:prstGeom>
          <a:solidFill>
            <a:srgbClr val="7C3AED"/>
          </a:solidFill>
          <a:ln w="12700">
            <a:solidFill>
              <a:srgbClr val="7C3AED"/>
            </a:solidFill>
            <a:prstDash val="solid"/>
          </a:ln>
        </p:spPr>
        <p:txBody>
          <a:bodyPr/>
          <a:lstStyle/>
          <a:p>
            <a:endParaRPr lang="de-DE"/>
          </a:p>
        </p:txBody>
      </p:sp>
      <p:sp>
        <p:nvSpPr>
          <p:cNvPr id="24" name="Text 22"/>
          <p:cNvSpPr/>
          <p:nvPr/>
        </p:nvSpPr>
        <p:spPr>
          <a:xfrm>
            <a:off x="6263640" y="1234440"/>
            <a:ext cx="457200" cy="457200"/>
          </a:xfrm>
          <a:prstGeom prst="rect">
            <a:avLst/>
          </a:prstGeom>
          <a:noFill/>
          <a:ln/>
        </p:spPr>
        <p:txBody>
          <a:bodyPr wrap="square" lIns="0" tIns="0" rIns="0" bIns="0" rtlCol="0" anchor="ctr"/>
          <a:lstStyle/>
          <a:p>
            <a:pPr marL="0" indent="0" algn="ctr">
              <a:buNone/>
            </a:pPr>
            <a:r>
              <a:rPr lang="en-US" sz="1800" b="1">
                <a:solidFill>
                  <a:srgbClr val="FFFFFF"/>
                </a:solidFill>
                <a:latin typeface="Calibri" pitchFamily="34" charset="0"/>
                <a:ea typeface="Calibri" pitchFamily="34" charset="-122"/>
                <a:cs typeface="Calibri" pitchFamily="34" charset="-120"/>
              </a:rPr>
              <a:t>3</a:t>
            </a:r>
            <a:endParaRPr lang="en-US" sz="1800"/>
          </a:p>
        </p:txBody>
      </p:sp>
      <p:sp>
        <p:nvSpPr>
          <p:cNvPr id="25" name="Text 23"/>
          <p:cNvSpPr/>
          <p:nvPr/>
        </p:nvSpPr>
        <p:spPr>
          <a:xfrm>
            <a:off x="6803136" y="1280160"/>
            <a:ext cx="1874520" cy="384048"/>
          </a:xfrm>
          <a:prstGeom prst="rect">
            <a:avLst/>
          </a:prstGeom>
          <a:noFill/>
          <a:ln/>
        </p:spPr>
        <p:txBody>
          <a:bodyPr wrap="square" lIns="0" tIns="0" rIns="0" bIns="0" rtlCol="0" anchor="ctr"/>
          <a:lstStyle/>
          <a:p>
            <a:pPr marL="0" indent="0">
              <a:buNone/>
            </a:pPr>
            <a:r>
              <a:rPr lang="en-US" sz="1400" b="1">
                <a:solidFill>
                  <a:srgbClr val="0F2240"/>
                </a:solidFill>
                <a:latin typeface="Calibri" pitchFamily="34" charset="0"/>
                <a:ea typeface="Calibri" pitchFamily="34" charset="-122"/>
                <a:cs typeface="Calibri" pitchFamily="34" charset="-120"/>
              </a:rPr>
              <a:t>Wie getestet?</a:t>
            </a:r>
            <a:endParaRPr lang="en-US" sz="1400"/>
          </a:p>
        </p:txBody>
      </p:sp>
      <p:sp>
        <p:nvSpPr>
          <p:cNvPr id="26" name="Text 24"/>
          <p:cNvSpPr/>
          <p:nvPr/>
        </p:nvSpPr>
        <p:spPr>
          <a:xfrm>
            <a:off x="6291072" y="1828800"/>
            <a:ext cx="2377440" cy="1920240"/>
          </a:xfrm>
          <a:prstGeom prst="rect">
            <a:avLst/>
          </a:prstGeom>
          <a:noFill/>
          <a:ln/>
        </p:spPr>
        <p:txBody>
          <a:bodyPr wrap="square" lIns="0" tIns="0" rIns="0" bIns="0" rtlCol="0" anchor="ctr"/>
          <a:lstStyle/>
          <a:p>
            <a:pPr marL="0" indent="0">
              <a:lnSpc>
                <a:spcPct val="115000"/>
              </a:lnSpc>
              <a:buNone/>
            </a:pPr>
            <a:r>
              <a:rPr lang="en-US" sz="1100">
                <a:solidFill>
                  <a:srgbClr val="1E293B"/>
                </a:solidFill>
                <a:latin typeface="Calibri" pitchFamily="34" charset="0"/>
                <a:ea typeface="Calibri" pitchFamily="34" charset="-122"/>
                <a:cs typeface="Calibri" pitchFamily="34" charset="-120"/>
              </a:rPr>
              <a:t>Ablation: Modell mit vs. ohne</a:t>
            </a:r>
            <a:endParaRPr lang="en-US" sz="1100"/>
          </a:p>
          <a:p>
            <a:pPr marL="0" indent="0">
              <a:lnSpc>
                <a:spcPct val="115000"/>
              </a:lnSpc>
              <a:buNone/>
            </a:pPr>
            <a:r>
              <a:rPr lang="en-US" sz="1100">
                <a:solidFill>
                  <a:srgbClr val="1E293B"/>
                </a:solidFill>
                <a:latin typeface="Calibri" pitchFamily="34" charset="0"/>
                <a:ea typeface="Calibri" pitchFamily="34" charset="-122"/>
                <a:cs typeface="Calibri" pitchFamily="34" charset="-120"/>
              </a:rPr>
              <a:t>FIN-Features, identischer Split</a:t>
            </a:r>
            <a:endParaRPr lang="en-US" sz="1100"/>
          </a:p>
          <a:p>
            <a:pPr marL="0" indent="0">
              <a:lnSpc>
                <a:spcPct val="115000"/>
              </a:lnSpc>
              <a:buNone/>
            </a:pPr>
            <a:r>
              <a:rPr lang="en-US" sz="1100">
                <a:solidFill>
                  <a:srgbClr val="1E293B"/>
                </a:solidFill>
                <a:latin typeface="Calibri" pitchFamily="34" charset="0"/>
                <a:ea typeface="Calibri" pitchFamily="34" charset="-122"/>
                <a:cs typeface="Calibri" pitchFamily="34" charset="-120"/>
              </a:rPr>
              <a:t>Ergebnis stabil über Stichproben:</a:t>
            </a:r>
            <a:endParaRPr lang="en-US" sz="1100"/>
          </a:p>
          <a:p>
            <a:pPr marL="0" indent="0">
              <a:lnSpc>
                <a:spcPct val="115000"/>
              </a:lnSpc>
              <a:buNone/>
            </a:pPr>
            <a:r>
              <a:rPr lang="en-US" sz="1100">
                <a:solidFill>
                  <a:srgbClr val="1E293B"/>
                </a:solidFill>
                <a:latin typeface="Calibri" pitchFamily="34" charset="0"/>
                <a:ea typeface="Calibri" pitchFamily="34" charset="-122"/>
                <a:cs typeface="Calibri" pitchFamily="34" charset="-120"/>
              </a:rPr>
              <a:t>+20,8 % (14k)  →  +19,7 % (96k)</a:t>
            </a:r>
            <a:endParaRPr lang="en-US" sz="1100"/>
          </a:p>
          <a:p>
            <a:pPr marL="0" indent="0">
              <a:lnSpc>
                <a:spcPct val="115000"/>
              </a:lnSpc>
              <a:buNone/>
            </a:pPr>
            <a:r>
              <a:rPr lang="en-US" sz="1100" b="1">
                <a:solidFill>
                  <a:srgbClr val="7C3AED"/>
                </a:solidFill>
                <a:latin typeface="Calibri" pitchFamily="34" charset="0"/>
                <a:ea typeface="Calibri" pitchFamily="34" charset="-122"/>
                <a:cs typeface="Calibri" pitchFamily="34" charset="-120"/>
              </a:rPr>
              <a:t>→ robustes, eigenständiges Signal</a:t>
            </a:r>
            <a:endParaRPr lang="en-US" sz="1100"/>
          </a:p>
        </p:txBody>
      </p:sp>
      <p:sp>
        <p:nvSpPr>
          <p:cNvPr id="27" name="Shape 25"/>
          <p:cNvSpPr/>
          <p:nvPr/>
        </p:nvSpPr>
        <p:spPr>
          <a:xfrm>
            <a:off x="365760" y="4069080"/>
            <a:ext cx="8412480" cy="841248"/>
          </a:xfrm>
          <a:prstGeom prst="rect">
            <a:avLst/>
          </a:prstGeom>
          <a:solidFill>
            <a:srgbClr val="0F2240"/>
          </a:solidFill>
          <a:ln w="12700">
            <a:solidFill>
              <a:srgbClr val="0F2240"/>
            </a:solidFill>
            <a:prstDash val="solid"/>
          </a:ln>
        </p:spPr>
        <p:txBody>
          <a:bodyPr/>
          <a:lstStyle/>
          <a:p>
            <a:endParaRPr lang="de-DE"/>
          </a:p>
        </p:txBody>
      </p:sp>
      <p:sp>
        <p:nvSpPr>
          <p:cNvPr id="28" name="Shape 26"/>
          <p:cNvSpPr/>
          <p:nvPr/>
        </p:nvSpPr>
        <p:spPr>
          <a:xfrm>
            <a:off x="365760" y="4069080"/>
            <a:ext cx="82296" cy="841248"/>
          </a:xfrm>
          <a:prstGeom prst="rect">
            <a:avLst/>
          </a:prstGeom>
          <a:solidFill>
            <a:srgbClr val="F59E0B"/>
          </a:solidFill>
          <a:ln w="12700">
            <a:solidFill>
              <a:srgbClr val="F59E0B"/>
            </a:solidFill>
            <a:prstDash val="solid"/>
          </a:ln>
        </p:spPr>
        <p:txBody>
          <a:bodyPr/>
          <a:lstStyle/>
          <a:p>
            <a:endParaRPr lang="de-DE"/>
          </a:p>
        </p:txBody>
      </p:sp>
      <p:sp>
        <p:nvSpPr>
          <p:cNvPr id="29" name="Text 27"/>
          <p:cNvSpPr/>
          <p:nvPr/>
        </p:nvSpPr>
        <p:spPr>
          <a:xfrm>
            <a:off x="594360" y="4160520"/>
            <a:ext cx="8092440" cy="676656"/>
          </a:xfrm>
          <a:prstGeom prst="rect">
            <a:avLst/>
          </a:prstGeom>
          <a:noFill/>
          <a:ln/>
        </p:spPr>
        <p:txBody>
          <a:bodyPr wrap="square" lIns="0" tIns="0" rIns="0" bIns="0" rtlCol="0" anchor="ctr"/>
          <a:lstStyle/>
          <a:p>
            <a:pPr marL="0" indent="0">
              <a:lnSpc>
                <a:spcPct val="105000"/>
              </a:lnSpc>
              <a:buNone/>
            </a:pPr>
            <a:r>
              <a:rPr lang="en-US" sz="1200" b="1">
                <a:solidFill>
                  <a:srgbClr val="14B8A6"/>
                </a:solidFill>
                <a:latin typeface="Calibri" pitchFamily="34" charset="0"/>
                <a:ea typeface="Calibri" pitchFamily="34" charset="-122"/>
                <a:cs typeface="Calibri" pitchFamily="34" charset="-120"/>
              </a:rPr>
              <a:t>Status:  </a:t>
            </a:r>
            <a:r>
              <a:rPr lang="en-US" sz="1200">
                <a:solidFill>
                  <a:srgbClr val="FFFFFF"/>
                </a:solidFill>
                <a:latin typeface="Calibri" pitchFamily="34" charset="0"/>
                <a:ea typeface="Calibri" pitchFamily="34" charset="-122"/>
                <a:cs typeface="Calibri" pitchFamily="34" charset="-120"/>
              </a:rPr>
              <a:t>Noch nicht integriert — geplant für die nächste Modellversion. </a:t>
            </a:r>
            <a:r>
              <a:rPr lang="en-US" sz="1200" b="1">
                <a:solidFill>
                  <a:srgbClr val="14B8A6"/>
                </a:solidFill>
                <a:latin typeface="Calibri" pitchFamily="34" charset="0"/>
                <a:ea typeface="Calibri" pitchFamily="34" charset="-122"/>
                <a:cs typeface="Calibri" pitchFamily="34" charset="-120"/>
              </a:rPr>
              <a:t>Offen:</a:t>
            </a:r>
            <a:r>
              <a:rPr lang="en-US" sz="1200">
                <a:solidFill>
                  <a:srgbClr val="CBD5E1"/>
                </a:solidFill>
                <a:latin typeface="Calibri" pitchFamily="34" charset="0"/>
                <a:ea typeface="Calibri" pitchFamily="34" charset="-122"/>
                <a:cs typeface="Calibri" pitchFamily="34" charset="-120"/>
              </a:rPr>
              <a:t> finale Validierung auf dem vollen Datensatz (534k); 100k FIN-Decodes sind bereits gespeichert.</a:t>
            </a:r>
            <a:endParaRPr lang="en-US" sz="12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AEEB2ED7C4623848B9A474746CC6A89E" ma:contentTypeVersion="3" ma:contentTypeDescription="Ein neues Dokument erstellen." ma:contentTypeScope="" ma:versionID="6b6e189d26c76de5c6f33630d4917ffb">
  <xsd:schema xmlns:xsd="http://www.w3.org/2001/XMLSchema" xmlns:xs="http://www.w3.org/2001/XMLSchema" xmlns:p="http://schemas.microsoft.com/office/2006/metadata/properties" xmlns:ns2="fe49bbc7-8d32-4038-877e-73a600392438" targetNamespace="http://schemas.microsoft.com/office/2006/metadata/properties" ma:root="true" ma:fieldsID="83a19009e4a31ad4f20d63cea5170c78" ns2:_="">
    <xsd:import namespace="fe49bbc7-8d32-4038-877e-73a600392438"/>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e49bbc7-8d32-4038-877e-73a60039243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775D81E-1FE4-41D0-A845-738DF9FB602A}"/>
</file>

<file path=customXml/itemProps2.xml><?xml version="1.0" encoding="utf-8"?>
<ds:datastoreItem xmlns:ds="http://schemas.openxmlformats.org/officeDocument/2006/customXml" ds:itemID="{4023AF42-C46E-4177-B200-2AF6E1C8D843}">
  <ds:schemaRefs>
    <ds:schemaRef ds:uri="http://schemas.microsoft.com/sharepoint/v3/contenttype/forms"/>
  </ds:schemaRefs>
</ds:datastoreItem>
</file>

<file path=customXml/itemProps3.xml><?xml version="1.0" encoding="utf-8"?>
<ds:datastoreItem xmlns:ds="http://schemas.openxmlformats.org/officeDocument/2006/customXml" ds:itemID="{3F701A25-1173-433A-9300-8682306B9B8A}">
  <ds:schemaRefs>
    <ds:schemaRef ds:uri="fe49bbc7-8d32-4038-877e-73a600392438"/>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13</Slides>
  <Notes>13</Notes>
  <HiddenSlides>3</HiddenSlide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revision>1</cp:revision>
  <dcterms:created xsi:type="dcterms:W3CDTF">2026-06-24T13:55:00Z</dcterms:created>
  <dcterms:modified xsi:type="dcterms:W3CDTF">2026-06-25T13:33:14Z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0x010100AEEB2ED7C4623848B9A474746CC6A89E</vt:lpwstr>
  </property>
</Properties>
</file>
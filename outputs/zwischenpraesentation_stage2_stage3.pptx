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6f6d01e0464741" /><Relationship Type="http://schemas.openxmlformats.org/officeDocument/2006/relationships/extended-properties" Target="/docProps/app.xml" Id="R6149f7fcd4244411" /><Relationship Type="http://schemas.openxmlformats.org/officeDocument/2006/relationships/officeDocument" Target="/ppt/presentation.xml" Id="Rbeb42e33a2834b9e" /></Relationships>
</file>

<file path=ppt/presentation.xml><?xml version="1.0" encoding="utf-8"?>
<p:presentation xmlns:p="http://schemas.openxmlformats.org/presentationml/2006/main">
  <p:sldMasterIdLst>
    <p:sldMasterId xmlns:r="http://schemas.openxmlformats.org/officeDocument/2006/relationships" id="2147483648" r:id="Rf922579cf2414d4b"/>
  </p:sldMasterIdLst>
  <p:notesMasterIdLst>
    <p:notesMasterId xmlns:r="http://schemas.openxmlformats.org/officeDocument/2006/relationships" r:id="R6fa93259544f499f"/>
  </p:notesMasterIdLst>
  <p:sldIdLst>
    <p:sldId xmlns:r="http://schemas.openxmlformats.org/officeDocument/2006/relationships" id="256" r:id="Raa5e9066f3174a77"/>
    <p:sldId xmlns:r="http://schemas.openxmlformats.org/officeDocument/2006/relationships" id="257" r:id="Rc64f512b70ed4f71"/>
    <p:sldId xmlns:r="http://schemas.openxmlformats.org/officeDocument/2006/relationships" id="258" r:id="Rf9b4e05828e74a6a"/>
    <p:sldId xmlns:r="http://schemas.openxmlformats.org/officeDocument/2006/relationships" id="259" r:id="Rdb1a82a77bd34225"/>
    <p:sldId xmlns:r="http://schemas.openxmlformats.org/officeDocument/2006/relationships" id="260" r:id="Rfd27c8513c484f23"/>
    <p:sldId xmlns:r="http://schemas.openxmlformats.org/officeDocument/2006/relationships" id="261" r:id="R55218edabdb54da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c6d6a84a007142d6" /><Relationship Type="http://schemas.openxmlformats.org/officeDocument/2006/relationships/slideMaster" Target="/ppt/slideMasters/slideMaster1.xml" Id="Rf922579cf2414d4b" /><Relationship Type="http://schemas.openxmlformats.org/officeDocument/2006/relationships/notesMaster" Target="/ppt/notesMasters/notesMaster1.xml" Id="R6fa93259544f499f" /><Relationship Type="http://schemas.openxmlformats.org/officeDocument/2006/relationships/presProps" Target="/ppt/presProps.xml" Id="Rea9e8520ddb0470a" /><Relationship Type="http://schemas.openxmlformats.org/officeDocument/2006/relationships/tableStyles" Target="/ppt/tableStyles.xml" Id="R019f413882d949af" /><Relationship Type="http://schemas.openxmlformats.org/officeDocument/2006/relationships/slide" Target="/ppt/slides/slide1.xml" Id="Raa5e9066f3174a77" /><Relationship Type="http://schemas.openxmlformats.org/officeDocument/2006/relationships/slide" Target="/ppt/slides/slide2.xml" Id="Rc64f512b70ed4f71" /><Relationship Type="http://schemas.openxmlformats.org/officeDocument/2006/relationships/slide" Target="/ppt/slides/slide3.xml" Id="Rf9b4e05828e74a6a" /><Relationship Type="http://schemas.openxmlformats.org/officeDocument/2006/relationships/slide" Target="/ppt/slides/slide4.xml" Id="Rdb1a82a77bd34225" /><Relationship Type="http://schemas.openxmlformats.org/officeDocument/2006/relationships/slide" Target="/ppt/slides/slide5.xml" Id="Rfd27c8513c484f23" /><Relationship Type="http://schemas.openxmlformats.org/officeDocument/2006/relationships/slide" Target="/ppt/slides/slide6.xml" Id="R55218edabdb54d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5fd179e1bb4e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dc389149354b1a" /><Relationship Type="http://schemas.openxmlformats.org/officeDocument/2006/relationships/notesMaster" Target="/ppt/notesMasters/notesMaster1.xml" Id="Rb58f10f7eb8c4e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dab2eadd7c4548" /><Relationship Type="http://schemas.openxmlformats.org/officeDocument/2006/relationships/notesMaster" Target="/ppt/notesMasters/notesMaster1.xml" Id="R8f8c58e9b78e45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abd0797fa43bf" /><Relationship Type="http://schemas.openxmlformats.org/officeDocument/2006/relationships/notesMaster" Target="/ppt/notesMasters/notesMaster1.xml" Id="Re46466fe896b40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d50ac947b04922" /><Relationship Type="http://schemas.openxmlformats.org/officeDocument/2006/relationships/notesMaster" Target="/ppt/notesMasters/notesMaster1.xml" Id="R86c5ac90c52949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184b51e2854939" /><Relationship Type="http://schemas.openxmlformats.org/officeDocument/2006/relationships/notesMaster" Target="/ppt/notesMasters/notesMaster1.xml" Id="R3d5cfcd353564e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99279bba7648dc" /><Relationship Type="http://schemas.openxmlformats.org/officeDocument/2006/relationships/notesMaster" Target="/ppt/notesMasters/notesMaster1.xml" Id="R927ebcaca87546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Nach Stage 1 hatten wir einen guten fahrzeugbezogenen Basiswert. Unser Problem war aber: Dieser Wert lebt noch im Markt von 2014 und 2015. Für eine heutige Preisempfehlung fehlen zwei Ebenen – das allgemeine Marktpreisniveau und die Frage, ob eine bestimmte Karosserieform in einem bestimmten Monat stärker oder schwächer gehandelt wird. Genau diese Lücke schließen Stage 2 und Stage 3. Wichtig ist dabei die Trennung der Aufgaben: Das Machine-Learning-Modell bewertet das konkrete Auto. Stage 2 aktualisiert den Markt. Stage 3 ergänzt vorsichtig die Saison. So bleibt jede Zahl nachvollziehbar und wir vermeiden, dass ein LLM oder eine einzelne Blackbox alles vermischt.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Die Gesamtlogik ist jetzt dreistufig. Stage 1 bekommt Alter, Kilometerstand, Zustand, Marke, Modell und Karosserieform. Für die zeitliche Referenz setzen wir die Stage-1-Vorhersage bewusst immer auf Februar 2015. Damit bedeutet der Output: Was wäre dieses Fahrzeug unter denselben historischen Marktbedingungen wert? Stage 2 multipliziert diesen Referenzwert mit dem CPI-Faktor des gewünschten Zielmonats. Stage 3 multipliziert anschließend einen Faktor für Karosserieform und Monat. Die finale Formel ist also Basiswert mal Markt-Faktor mal Saison-Faktor. Diese feste Referenz ist wichtig, weil der Zielmonat sonst schon in Stage 1 und danach ein zweites Mal in Stage 3 wirken könnte.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Stage 2 verwenden wir den Consumer Price Index für gebrauchte Fahrzeuge und Trucks aus FRED, Serie CUSR0000SETA01. Wir normieren den Jahresdurchschnitt 2015 auf eins. Ein Faktor von 1,2177 im Juni 2026 heißt deshalb: Das allgemeine Gebrauchtwagenpreisniveau liegt rund 21,8 Prozent über dem Niveau von 2015. Ein Basiswert von 12.500 Dollar würde dadurch auf ungefähr 15.200 Dollar steigen. Wir haben diese Regel historisch geprüft. Im Testzeitraum 2014 und 2015 liegt der Faktor fast exakt bei eins. Entsprechend verändert sich der MAE nur von 1.849,96 auf 1.849,81 Dollar – also praktisch gar nicht. Das ist das gewünschte Verhalten: In der Referenzperiode bleibt die Prognose stabil; für spätere Monate wird das veränderte Marktumfeld sichtbar. Die Grenze ist ebenfalls klar: Stage 2 bildet das allgemeine Preisniveau ab, aber keine individuellen Sonderausstattungen oder strukturellen Veränderungen einzelner Fahrzeugtypen.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Stage 3 war die erste Idee zu einfach: monatliche Medianpreise je Karosserieform vergleichen. Das haben wir verworfen. Der Grund ist der Fahrzeugmix. Wenn im März zufällig jüngere oder hochwertigere SUVs verkauft werden, sieht ein roher Median wie Saisonalität aus, obwohl nur andere Autos im Datensatz stehen. Unsere korrigierte Methode nutzt deshalb Modellabweichungen. Zuerst teilen wir den Verkaufspreis durch den CPI-Faktor und entfernen damit das historische Marktpreisniveau. Danach vergleichen wir diesen normalisierten Preis mit der Stage-1-Prognose bei der festen Referenz Februar 2015. Innerhalb jeder Karosserieform setzen wir die monatliche Medianabweichung relativ zum Gesamtmedian. Kleine Gruppen werden mit einer Prior von 1.000 Beobachtungen Richtung eins gedämpft; alle Faktoren sind auf 0,85 bis 1,15 begrenzt. Unter 100 Beobachtungen geben wir keine Best- oder Worst-Month-Empfehlung.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Saisonregel haben wir getrennt mit einem 80-zu-20-Split geprüft. Die Faktoren werden ausschließlich aus den 80 Prozent Trainingszeilen berechnet und auf 105.806 bisher ungenutzte Prüfzeilen angewendet. Der MAE sinkt von 1.895,03 auf 1.870,20 Dollar, also um 24,82 Dollar beziehungsweise 1,31 Prozent. Der Effekt ist bewusst klein. Das spricht eher für eine konservative Korrektur als für Overfitting. Bei großen Segmenten sehen wir plausible Muster: Sedans liegen im März etwa 3,8 Prozent über ihrer Karosserie-Basis und im Dezember 7,1 Prozent darunter; SUVs im März plus 2,9 und im Dezember minus 8,4 Prozent. Gleichzeitig kommunizieren wir die Datenlücke offen: August bis November fehlen vollständig. Dort ist der Faktor exakt 1,0000 und die App behauptet keine historische Saisonwirkung. Insgesamt nutzen wir 529.790 verwertbare Verkäufe, aber fast nur aus Dezember 2014 bis Juli 2015. Deshalb nennen wir Stage 3 ausdrücklich eine Heuristik, keinen kausalen Langzeitnachweis.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Der aktuelle Arbeitsstand ist damit eine funktionierende End-to-End-Pipeline. In der Streamlit-App wählt man Fahrzeug und Bewertungsdatum. Angezeigt werden Stage-1-Baseline, CPI-Multiplikator, Stage-2-Marktpreis, Saisonfaktor und finaler Preis. Zusätzlich sieht man den besten ausreichend beobachteten Monat und eine Tabelle über alle zwölf Monate. Die technische Prüfung ist reproduzierbar: 45 Karosserieformen mal zwölf Monate ergeben 540 eindeutige Faktorzeilen; alle Faktoren liegen im erlaubten Bereich; die App startet ohne Ausnahme; und der August-Test zeigt 1,0000 plus den Hinweis auf fehlende Daten. Als Nächstes wollen wir statt nur eines Punktwerts eine Preisrange ausgeben und danach die LLM-Komponente ergänzen. Das LLM soll aber nicht rechnen, sondern diese drei transparenten Stufen verständlich erklären und daraus eine Verkaufsempfehlung formulieren.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37de9c81444b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258e7c29fa4f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f6fe17c88144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f10ccec3e540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ed3c9c617f43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c68e2f8ab249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184191c57994d5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51b45d2b5584b2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08dc68ca69b4ebf" /><Relationship Type="http://schemas.openxmlformats.org/officeDocument/2006/relationships/image" Target="/ppt/media/image.png" Id="Rfa07dd4e282c45e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0db22b45bd64e6f" /><Relationship Type="http://schemas.openxmlformats.org/officeDocument/2006/relationships/image" Target="/ppt/media/image2.png" Id="R89deb6dc18ec41d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fa07dd4e282c45e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89deb6dc18ec41d8">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3078f194d34c03" /><Relationship Type="http://schemas.openxmlformats.org/officeDocument/2006/relationships/slideLayout" Target="/ppt/slideLayouts/slideLayout1.xml" Id="Rb40fe808ed5545c1" /><Relationship Type="http://schemas.openxmlformats.org/officeDocument/2006/relationships/slideLayout" Target="/ppt/slideLayouts/slideLayout2.xml" Id="Rcf56364941ea4e43" /><Relationship Type="http://schemas.openxmlformats.org/officeDocument/2006/relationships/slideLayout" Target="/ppt/slideLayouts/slideLayout3.xml" Id="R70cd64716d4f4245" /><Relationship Type="http://schemas.openxmlformats.org/officeDocument/2006/relationships/slideLayout" Target="/ppt/slideLayouts/slideLayout4.xml" Id="Rf25961befaa64758" /><Relationship Type="http://schemas.openxmlformats.org/officeDocument/2006/relationships/slideLayout" Target="/ppt/slideLayouts/slideLayout5.xml" Id="Rd2ac4fdb25f44be7" /><Relationship Type="http://schemas.openxmlformats.org/officeDocument/2006/relationships/slideLayout" Target="/ppt/slideLayouts/slideLayout6.xml" Id="R8c45d58d7c354a27" /><Relationship Type="http://schemas.openxmlformats.org/officeDocument/2006/relationships/slideLayout" Target="/ppt/slideLayouts/slideLayout7.xml" Id="R29f3a70e264c4982" /><Relationship Type="http://schemas.openxmlformats.org/officeDocument/2006/relationships/slideLayout" Target="/ppt/slideLayouts/slideLayout8.xml" Id="R9a4eaf811f52425e" /><Relationship Type="http://schemas.openxmlformats.org/officeDocument/2006/relationships/slideLayout" Target="/ppt/slideLayouts/slideLayout9.xml" Id="Rfaa16063eed8400b" /><Relationship Type="http://schemas.openxmlformats.org/officeDocument/2006/relationships/slideLayout" Target="/ppt/slideLayouts/slideLayout10.xml" Id="R0169a308a98f470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a:solidFill>
                  <a:schemeClr val="tx1"/>
                </a:solidFill>
                <a:latin typeface="+mn-lt"/>
                <a:ea typeface="+mn-lt"/>
                <a:cs typeface="+mn-lt"/>
              </a:defRPr>
            </a:lvl1pPr>
          </a:lstStyle>
          <a:p xmlns:a="http://schemas.openxmlformats.org/drawingml/2006/main">
            <a:fld id="{8574A810-7A8E-054F-9F6B-09E9C694ECF9}"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0fe808ed5545c1"/>
    <p:sldLayoutId xmlns:r="http://schemas.openxmlformats.org/officeDocument/2006/relationships" id="2147483650" r:id="Rcf56364941ea4e43"/>
    <p:sldLayoutId xmlns:r="http://schemas.openxmlformats.org/officeDocument/2006/relationships" id="2147483651" r:id="R70cd64716d4f4245"/>
    <p:sldLayoutId xmlns:r="http://schemas.openxmlformats.org/officeDocument/2006/relationships" id="2147483652" r:id="Rf25961befaa64758"/>
    <p:sldLayoutId xmlns:r="http://schemas.openxmlformats.org/officeDocument/2006/relationships" id="2147483653" r:id="Rd2ac4fdb25f44be7"/>
    <p:sldLayoutId xmlns:r="http://schemas.openxmlformats.org/officeDocument/2006/relationships" id="2147483654" r:id="R8c45d58d7c354a27"/>
    <p:sldLayoutId xmlns:r="http://schemas.openxmlformats.org/officeDocument/2006/relationships" id="2147483655" r:id="R29f3a70e264c4982"/>
    <p:sldLayoutId xmlns:r="http://schemas.openxmlformats.org/officeDocument/2006/relationships" id="2147483656" r:id="R9a4eaf811f52425e"/>
    <p:sldLayoutId xmlns:r="http://schemas.openxmlformats.org/officeDocument/2006/relationships" id="2147483657" r:id="Rfaa16063eed8400b"/>
    <p:sldLayoutId xmlns:r="http://schemas.openxmlformats.org/officeDocument/2006/relationships" id="2147483658" r:id="R0169a308a98f470f"/>
  </p:sldLayoutIdLst>
  <p:hf hdr="0" dt="0"/>
  <p:txStyles>
    <p:titleStyle>
      <a:lvl1pPr xmlns:a="http://schemas.openxmlformats.org/drawingml/2006/main" algn="l">
        <a:lnSpc>
          <a:spcPct val="90000"/>
        </a:lnSpc>
        <a:spcBef>
          <a:spcPts val="0"/>
        </a:spcBef>
        <a:buNone/>
        <a:defRPr sz="29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4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0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18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0ac9297bb04db4" /><Relationship Type="http://schemas.openxmlformats.org/officeDocument/2006/relationships/notesSlide" Target="/ppt/notesSlides/notesSlide1.xml" Id="R406a9ea8b74d44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ed0d4dd701f34a8f" /><Relationship Type="http://schemas.openxmlformats.org/officeDocument/2006/relationships/notesSlide" Target="/ppt/notesSlides/notesSlide2.xml" Id="R3c8e49d5148449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426b01c8634e43" /><Relationship Type="http://schemas.openxmlformats.org/officeDocument/2006/relationships/notesSlide" Target="/ppt/notesSlides/notesSlide3.xml" Id="R08261616f7ed46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db5c041c885a4d3e" /><Relationship Type="http://schemas.openxmlformats.org/officeDocument/2006/relationships/notesSlide" Target="/ppt/notesSlides/notesSlide4.xml" Id="R9800df50904e4e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4949616b59624252" /><Relationship Type="http://schemas.openxmlformats.org/officeDocument/2006/relationships/notesSlide" Target="/ppt/notesSlides/notesSlide5.xml" Id="R2c28f86e081a4c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d9c6af9881cd4446" /><Relationship Type="http://schemas.openxmlformats.org/officeDocument/2006/relationships/notesSlide" Target="/ppt/notesSlides/notesSlide6.xml" Id="Rebb6b69a5dff4e9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object 3">
            <a:extLst xmlns:a="http://schemas.openxmlformats.org/drawingml/2006/main">
              <a:ext uri="{FF2B5EF4-FFF2-40B4-BE49-F238E27FC236}">
                <a16:creationId xmlns:a16="http://schemas.microsoft.com/office/drawing/2014/main" id="{E9587ADC-D7C6-0752-CB04-90543E6E5BD8}"/>
              </a:ext>
            </a:extLst>
          </p:cNvPr>
          <p:cNvSpPr>
            <a:spLocks xmlns:a="http://schemas.openxmlformats.org/drawingml/2006/main" noGrp="1"/>
          </p:cNvSpPr>
          <p:nvPr/>
        </p:nvSpPr>
        <p:spPr>
          <a:xfrm xmlns:a="http://schemas.openxmlformats.org/drawingml/2006/main">
            <a:off x="5930900" y="0"/>
            <a:ext cx="6261100" cy="6858000"/>
          </a:xfrm>
          <a:custGeom xmlns:a="http://schemas.openxmlformats.org/drawingml/2006/main">
            <a:rect l="l" t="t" r="r" b="b"/>
            <a:pathLst>
              <a:path w="7386319" h="7475220">
                <a:moveTo>
                  <a:pt x="7385710" y="0"/>
                </a:moveTo>
                <a:lnTo>
                  <a:pt x="0" y="0"/>
                </a:lnTo>
                <a:lnTo>
                  <a:pt x="0" y="7474610"/>
                </a:lnTo>
                <a:lnTo>
                  <a:pt x="7385710" y="7474610"/>
                </a:lnTo>
                <a:lnTo>
                  <a:pt x="7385710" y="0"/>
                </a:lnTo>
                <a:close/>
              </a:path>
            </a:pathLst>
          </a:custGeom>
          <a:solidFill xmlns:a="http://schemas.openxmlformats.org/drawingml/2006/main">
            <a:srgbClr val="EDEDED"/>
          </a:solidFill>
        </p:spPr>
        <p:txBody>
          <a:bodyPr xmlns:a="http://schemas.openxmlformats.org/drawingml/2006/main" wrap="square" lIns="0" tIns="0" rIns="0" bIns="0"/>
          <a:lstStyle xmlns:a="http://schemas.openxmlformats.org/drawingml/2006/main"/>
          <a:p xmlns:a="http://schemas.openxmlformats.org/drawingml/2006/main"/>
        </p:txBody>
      </p:sp>
      <p:sp>
        <p:nvSpPr>
          <p:cNvPr id="532" name="Google Shape;532;p58">
            <a:extLst xmlns:a="http://schemas.openxmlformats.org/drawingml/2006/main">
              <a:ext uri="{FF2B5EF4-FFF2-40B4-BE49-F238E27FC236}">
                <a16:creationId xmlns:a16="http://schemas.microsoft.com/office/drawing/2014/main" id="{F0FFD4C2-91BF-62E5-3F4D-5F22CB693C50}"/>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AD75FED6-38D0-DE9C-92C0-6E7FA635581C}" type="slidenum">
              <a:t>1</a:t>
            </a:fld>
          </a:p>
        </p:txBody>
      </p:sp>
      <p:sp>
        <p:nvSpPr>
          <p:cNvPr id="533" name="Google Shape;533;p58">
            <a:extLst xmlns:a="http://schemas.openxmlformats.org/drawingml/2006/main">
              <a:ext uri="{FF2B5EF4-FFF2-40B4-BE49-F238E27FC236}">
                <a16:creationId xmlns:a16="http://schemas.microsoft.com/office/drawing/2014/main" id="{76B53431-A5A3-DBCC-DDCF-BA4B5ED509B5}"/>
              </a:ext>
            </a:extLst>
          </p:cNvPr>
          <p:cNvSpPr>
            <a:spLocks xmlns:a="http://schemas.openxmlformats.org/drawingml/2006/main" noGrp="1"/>
          </p:cNvSpPr>
          <p:nvPr>
            <p:ph type="title" idx="0"/>
          </p:nvPr>
        </p:nvSpPr>
        <p:spPr>
          <a:xfrm xmlns:a="http://schemas.openxmlformats.org/drawingml/2006/main">
            <a:off x="393700" y="344008"/>
            <a:ext cx="5537200" cy="26785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sz="4200"/>
              <a:t>Vom historischen Fahrzeugwert zum aktuellen Angebotspreis</a:t>
            </a:r>
          </a:p>
        </p:txBody>
      </p:sp>
      <p:sp>
        <p:nvSpPr>
          <p:cNvPr id="3" name="Google Shape;533;p58">
            <a:extLst xmlns:a="http://schemas.openxmlformats.org/drawingml/2006/main">
              <a:ext uri="{FF2B5EF4-FFF2-40B4-BE49-F238E27FC236}">
                <a16:creationId xmlns:a16="http://schemas.microsoft.com/office/drawing/2014/main" id="{482C0709-78B4-948D-01E2-20AD0623CFFE}"/>
              </a:ext>
            </a:extLst>
          </p:cNvPr>
          <p:cNvSpPr>
            <a:spLocks xmlns:a="http://schemas.openxmlformats.org/drawingml/2006/main" noGrp="1"/>
          </p:cNvSpPr>
          <p:nvPr/>
        </p:nvSpPr>
        <p:spPr>
          <a:xfrm xmlns:a="http://schemas.openxmlformats.org/drawingml/2006/main">
            <a:off x="6261100" y="4297107"/>
            <a:ext cx="5537200" cy="211762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algn="l">
              <a:lnSpc>
                <a:spcPct val="90000"/>
              </a:lnSpc>
              <a:spcBef>
                <a:spcPts val="0"/>
              </a:spcBef>
              <a:buNone/>
              <a:defRPr sz="2900">
                <a:solidFill>
                  <a:schemeClr val="tx1"/>
                </a:solidFill>
                <a:latin typeface="+mj-lt"/>
                <a:ea typeface="+mj-lt"/>
                <a:cs typeface="+mj-lt"/>
              </a:defRPr>
            </a:lvl1pPr>
          </a:lstStyle>
          <a:p xmlns:a="http://schemas.openxmlformats.org/drawingml/2006/main">
            <a:r>
              <a:rPr sz="4200"/>
              <a:t>Stage 2 aktualisiert den Markt.</a:t>
            </a:r>
          </a:p>
          <a:p xmlns:a="http://schemas.openxmlformats.org/drawingml/2006/main">
            <a:r>
              <a:rPr sz="4200"/>
              <a:t>Stage 3 ergänzt die Saison.</a:t>
            </a:r>
          </a:p>
        </p:txBody>
      </p:sp>
    </p:spTree>
    <p:extLst>
      <p:ext uri="{BB962C8B-B14F-4D97-AF65-F5344CB8AC3E}">
        <p14:creationId xmlns:p14="http://schemas.microsoft.com/office/powerpoint/2010/main" val="39315269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58" name="Google Shape;558;p61">
            <a:extLst xmlns:a="http://schemas.openxmlformats.org/drawingml/2006/main">
              <a:ext uri="{FF2B5EF4-FFF2-40B4-BE49-F238E27FC236}">
                <a16:creationId xmlns:a16="http://schemas.microsoft.com/office/drawing/2014/main" id="{86CDC312-56BA-4FF9-B9C0-F55BFD73673E}"/>
              </a:ext>
            </a:extLst>
          </p:cNvPr>
          <p:cNvSpPr>
            <a:spLocks xmlns:a="http://schemas.openxmlformats.org/drawingml/2006/main" noGrp="1"/>
          </p:cNvSpPr>
          <p:nvPr>
            <p:ph idx="1"/>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t>STAGE 1  ·  FAHRZEUG</a:t>
            </a:r>
          </a:p>
          <a:p xmlns:a="http://schemas.openxmlformats.org/drawingml/2006/main">
            <a:pPr marL="0" indent="0">
              <a:spcAft>
                <a:spcPts val="1300"/>
              </a:spcAft>
              <a:buNone/>
            </a:pPr>
            <a:r>
              <a:rPr sz="1900"/>
              <a:t>Basiswert bei fester Referenz 2015-02</a:t>
            </a:r>
          </a:p>
        </p:txBody>
      </p:sp>
      <p:sp>
        <p:nvSpPr>
          <p:cNvPr id="556" name="Google Shape;556;p61">
            <a:extLst xmlns:a="http://schemas.openxmlformats.org/drawingml/2006/main">
              <a:ext uri="{FF2B5EF4-FFF2-40B4-BE49-F238E27FC236}">
                <a16:creationId xmlns:a16="http://schemas.microsoft.com/office/drawing/2014/main" id="{57C5E60B-1DE9-41DC-B31F-48E129EC33B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E2598689-54C9-18A7-3A19-ED76AA08988F}" type="slidenum">
              <a:t>2</a:t>
            </a:fld>
          </a:p>
        </p:txBody>
      </p:sp>
      <p:sp>
        <p:nvSpPr>
          <p:cNvPr id="559" name="Google Shape;559;p61">
            <a:extLst xmlns:a="http://schemas.openxmlformats.org/drawingml/2006/main">
              <a:ext uri="{FF2B5EF4-FFF2-40B4-BE49-F238E27FC236}">
                <a16:creationId xmlns:a16="http://schemas.microsoft.com/office/drawing/2014/main" id="{19B3F4A1-3CBE-406E-BF7C-D017084F5769}"/>
              </a:ext>
            </a:extLst>
          </p:cNvPr>
          <p:cNvSpPr>
            <a:spLocks xmlns:a="http://schemas.openxmlformats.org/drawingml/2006/main" noGrp="1"/>
          </p:cNvSpPr>
          <p:nvPr>
            <p:ph idx="10"/>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STAGE 2  ·  MARKT</a:t>
            </a:r>
          </a:p>
          <a:p xmlns:a="http://schemas.openxmlformats.org/drawingml/2006/main">
            <a:pPr marL="0" indent="0">
              <a:spcAft>
                <a:spcPts val="1300"/>
              </a:spcAft>
              <a:buNone/>
            </a:pPr>
            <a:r>
              <a:rPr sz="1900">
                <a:solidFill>
                  <a:schemeClr val="dk1"/>
                </a:solidFill>
              </a:rPr>
              <a:t>× CPI-Faktor des Zielmonats</a:t>
            </a:r>
          </a:p>
        </p:txBody>
      </p:sp>
      <p:sp>
        <p:nvSpPr>
          <p:cNvPr id="560" name="Google Shape;560;p61">
            <a:extLst xmlns:a="http://schemas.openxmlformats.org/drawingml/2006/main">
              <a:ext uri="{FF2B5EF4-FFF2-40B4-BE49-F238E27FC236}">
                <a16:creationId xmlns:a16="http://schemas.microsoft.com/office/drawing/2014/main" id="{020FAA42-95EE-4084-AA50-A2C9C6255BF4}"/>
              </a:ext>
            </a:extLst>
          </p:cNvPr>
          <p:cNvSpPr>
            <a:spLocks xmlns:a="http://schemas.openxmlformats.org/drawingml/2006/main" noGrp="1"/>
          </p:cNvSpPr>
          <p:nvPr>
            <p:ph idx="11"/>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spcAft>
                <a:spcPts val="1300"/>
              </a:spcAft>
              <a:buNone/>
            </a:pPr>
            <a:r>
              <a:rPr sz="1900">
                <a:solidFill>
                  <a:schemeClr val="dk1"/>
                </a:solidFill>
              </a:rPr>
              <a:t>STAGE 3  ·  SAISON</a:t>
            </a:r>
          </a:p>
          <a:p xmlns:a="http://schemas.openxmlformats.org/drawingml/2006/main">
            <a:pPr marL="0" indent="0">
              <a:spcAft>
                <a:spcPts val="1300"/>
              </a:spcAft>
              <a:buNone/>
            </a:pPr>
            <a:r>
              <a:rPr sz="1900">
                <a:solidFill>
                  <a:schemeClr val="dk1"/>
                </a:solidFill>
              </a:rPr>
              <a:t>× Faktor aus Karosserieform und Monat</a:t>
            </a:r>
          </a:p>
        </p:txBody>
      </p:sp>
      <p:sp>
        <p:nvSpPr>
          <p:cNvPr id="557" name="Google Shape;557;p61">
            <a:extLst xmlns:a="http://schemas.openxmlformats.org/drawingml/2006/main">
              <a:ext uri="{FF2B5EF4-FFF2-40B4-BE49-F238E27FC236}">
                <a16:creationId xmlns:a16="http://schemas.microsoft.com/office/drawing/2014/main" id="{18D13D22-D82B-4DA7-B36D-49F2A6D2B6B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Eine Preisprognose – drei klar getrennte Aufgaben</a:t>
            </a:r>
          </a:p>
        </p:txBody>
      </p:sp>
      <p:sp>
        <p:nvSpPr>
          <p:cNvPr id="561" name="Google Shape;561;p61">
            <a:extLst xmlns:a="http://schemas.openxmlformats.org/drawingml/2006/main">
              <a:ext uri="{FF2B5EF4-FFF2-40B4-BE49-F238E27FC236}">
                <a16:creationId xmlns:a16="http://schemas.microsoft.com/office/drawing/2014/main" id="{F73A3558-8621-44CF-B5B1-7E46DF7756D3}"/>
              </a:ext>
            </a:extLst>
          </p:cNvPr>
          <p:cNvSpPr>
            <a:spLocks xmlns:a="http://schemas.openxmlformats.org/drawingml/2006/main" noGrp="1"/>
          </p:cNvSpPr>
          <p:nvPr/>
        </p:nvSpPr>
        <p:spPr>
          <a:xfrm xmlns:a="http://schemas.openxmlformats.org/drawingml/2006/main">
            <a:off x="4279904" y="3433102"/>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2" name="Google Shape;562;p61">
            <a:extLst xmlns:a="http://schemas.openxmlformats.org/drawingml/2006/main">
              <a:ext uri="{FF2B5EF4-FFF2-40B4-BE49-F238E27FC236}">
                <a16:creationId xmlns:a16="http://schemas.microsoft.com/office/drawing/2014/main" id="{84640D1E-8ABB-4824-97F5-81FEFA9550DB}"/>
              </a:ext>
            </a:extLst>
          </p:cNvPr>
          <p:cNvSpPr>
            <a:spLocks xmlns:a="http://schemas.openxmlformats.org/drawingml/2006/main" noGrp="1"/>
          </p:cNvSpPr>
          <p:nvPr/>
        </p:nvSpPr>
        <p:spPr>
          <a:xfrm xmlns:a="http://schemas.openxmlformats.org/drawingml/2006/main">
            <a:off x="333666" y="3429011"/>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
        <p:nvSpPr>
          <p:cNvPr id="563" name="Google Shape;563;p61">
            <a:extLst xmlns:a="http://schemas.openxmlformats.org/drawingml/2006/main">
              <a:ext uri="{FF2B5EF4-FFF2-40B4-BE49-F238E27FC236}">
                <a16:creationId xmlns:a16="http://schemas.microsoft.com/office/drawing/2014/main" id="{6196B2B1-A0A8-4229-BC85-EB6736563CF3}"/>
              </a:ext>
            </a:extLst>
          </p:cNvPr>
          <p:cNvSpPr>
            <a:spLocks xmlns:a="http://schemas.openxmlformats.org/drawingml/2006/main" noGrp="1"/>
          </p:cNvSpPr>
          <p:nvPr/>
        </p:nvSpPr>
        <p:spPr>
          <a:xfrm xmlns:a="http://schemas.openxmlformats.org/drawingml/2006/main">
            <a:off x="8214664" y="3474581"/>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rgbClr val="000000"/>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7842455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DCDD464D-3316-879D-91C3-30E54491AD1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202359C0-8A7A-196E-DD58-8E6569619F09}" type="slidenum">
              <a:t>3</a:t>
            </a:fld>
          </a:p>
        </p:txBody>
      </p:sp>
      <p:sp>
        <p:nvSpPr>
          <p:cNvPr id="11" name="Title 10">
            <a:extLst xmlns:a="http://schemas.openxmlformats.org/drawingml/2006/main">
              <a:ext uri="{FF2B5EF4-FFF2-40B4-BE49-F238E27FC236}">
                <a16:creationId xmlns:a16="http://schemas.microsoft.com/office/drawing/2014/main" id="{8D39B68E-326B-DDEB-2069-B8BB0D01F042}"/>
              </a:ext>
            </a:extLst>
          </p:cNvPr>
          <p:cNvSpPr>
            <a:spLocks xmlns:a="http://schemas.openxmlformats.org/drawingml/2006/main" noGrp="1"/>
          </p:cNvSpPr>
          <p:nvPr>
            <p:ph type="title" idx="0"/>
          </p:nvPr>
        </p:nvSpPr>
        <p:spPr>
          <a:xfrm xmlns:a="http://schemas.openxmlformats.org/drawingml/2006/main">
            <a:off x="393700" y="344008"/>
            <a:ext cx="5534180" cy="1047491"/>
          </a:xfrm>
        </p:spPr>
        <p:txBody>
          <a:bodyPr xmlns:a="http://schemas.openxmlformats.org/drawingml/2006/main"/>
          <a:lstStyle xmlns:a="http://schemas.openxmlformats.org/drawingml/2006/main"/>
          <a:p xmlns:a="http://schemas.openxmlformats.org/drawingml/2006/main">
            <a:r>
              <a:t>Stage 2: Marktpreisniveau per CPI</a:t>
            </a:r>
          </a:p>
        </p:txBody>
      </p:sp>
      <p:sp>
        <p:nvSpPr>
          <p:cNvPr id="3" name="Rounded Rectangle 2">
            <a:extLst xmlns:a="http://schemas.openxmlformats.org/drawingml/2006/main">
              <a:ext uri="{FF2B5EF4-FFF2-40B4-BE49-F238E27FC236}">
                <a16:creationId xmlns:a16="http://schemas.microsoft.com/office/drawing/2014/main" id="{29B30B4D-AB5C-65DB-5658-753508EB3D5D}"/>
              </a:ext>
            </a:extLst>
          </p:cNvPr>
          <p:cNvSpPr>
            <a:spLocks xmlns:a="http://schemas.openxmlformats.org/drawingml/2006/main" noGrp="1"/>
          </p:cNvSpPr>
          <p:nvPr/>
        </p:nvSpPr>
        <p:spPr>
          <a:xfrm xmlns:a="http://schemas.openxmlformats.org/drawingml/2006/main">
            <a:off x="393700"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Rounded Rectangle 1">
            <a:extLst xmlns:a="http://schemas.openxmlformats.org/drawingml/2006/main">
              <a:ext uri="{FF2B5EF4-FFF2-40B4-BE49-F238E27FC236}">
                <a16:creationId xmlns:a16="http://schemas.microsoft.com/office/drawing/2014/main" id="{2F75E60C-F9D7-0EB1-DB87-30BB4B887E89}"/>
              </a:ext>
            </a:extLst>
          </p:cNvPr>
          <p:cNvSpPr>
            <a:spLocks xmlns:a="http://schemas.openxmlformats.org/drawingml/2006/main" noGrp="1"/>
          </p:cNvSpPr>
          <p:nvPr/>
        </p:nvSpPr>
        <p:spPr>
          <a:xfrm xmlns:a="http://schemas.openxmlformats.org/drawingml/2006/main">
            <a:off x="0" y="5385955"/>
            <a:ext cx="12192000" cy="1485900"/>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Content Placeholder 9">
            <a:extLst xmlns:a="http://schemas.openxmlformats.org/drawingml/2006/main">
              <a:ext uri="{FF2B5EF4-FFF2-40B4-BE49-F238E27FC236}">
                <a16:creationId xmlns:a16="http://schemas.microsoft.com/office/drawing/2014/main" id="{48F23094-2741-BF93-9618-593A39D42BD2}"/>
              </a:ext>
            </a:extLst>
          </p:cNvPr>
          <p:cNvSpPr>
            <a:spLocks xmlns:a="http://schemas.openxmlformats.org/drawingml/2006/main" noGrp="1"/>
          </p:cNvSpPr>
          <p:nvPr/>
        </p:nvSpPr>
        <p:spPr>
          <a:xfrm xmlns:a="http://schemas.openxmlformats.org/drawingml/2006/main">
            <a:off x="631052"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1,000</a:t>
            </a:r>
          </a:p>
        </p:txBody>
      </p:sp>
      <p:sp>
        <p:nvSpPr>
          <p:cNvPr id="16" name="Content Placeholder 15">
            <a:extLst xmlns:a="http://schemas.openxmlformats.org/drawingml/2006/main">
              <a:ext uri="{FF2B5EF4-FFF2-40B4-BE49-F238E27FC236}">
                <a16:creationId xmlns:a16="http://schemas.microsoft.com/office/drawing/2014/main" id="{D63831D1-6AB6-9FDC-DF3D-910C1C60EA7D}"/>
              </a:ext>
            </a:extLst>
          </p:cNvPr>
          <p:cNvSpPr>
            <a:spLocks xmlns:a="http://schemas.openxmlformats.org/drawingml/2006/main" noGrp="1"/>
          </p:cNvSpPr>
          <p:nvPr>
            <p:ph idx="4294967295"/>
          </p:nvPr>
        </p:nvSpPr>
        <p:spPr>
          <a:xfrm xmlns:a="http://schemas.openxmlformats.org/drawingml/2006/main">
            <a:off x="697670" y="3740150"/>
            <a:ext cx="2066698" cy="61595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Basis</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Jahresmittel 2015</a:t>
            </a:r>
          </a:p>
        </p:txBody>
      </p:sp>
      <p:sp>
        <p:nvSpPr>
          <p:cNvPr id="34" name="Rounded Rectangle 33">
            <a:extLst xmlns:a="http://schemas.openxmlformats.org/drawingml/2006/main">
              <a:ext uri="{FF2B5EF4-FFF2-40B4-BE49-F238E27FC236}">
                <a16:creationId xmlns:a16="http://schemas.microsoft.com/office/drawing/2014/main" id="{D0C74EF0-61EA-0AD2-19B0-75CAAA4B844A}"/>
              </a:ext>
            </a:extLst>
          </p:cNvPr>
          <p:cNvSpPr>
            <a:spLocks xmlns:a="http://schemas.openxmlformats.org/drawingml/2006/main" noGrp="1"/>
          </p:cNvSpPr>
          <p:nvPr/>
        </p:nvSpPr>
        <p:spPr>
          <a:xfrm xmlns:a="http://schemas.openxmlformats.org/drawingml/2006/main">
            <a:off x="3345905"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Content Placeholder 9">
            <a:extLst xmlns:a="http://schemas.openxmlformats.org/drawingml/2006/main">
              <a:ext uri="{FF2B5EF4-FFF2-40B4-BE49-F238E27FC236}">
                <a16:creationId xmlns:a16="http://schemas.microsoft.com/office/drawing/2014/main" id="{6130B530-1157-40A3-0161-21ADDD16DABF}"/>
              </a:ext>
            </a:extLst>
          </p:cNvPr>
          <p:cNvSpPr>
            <a:spLocks xmlns:a="http://schemas.openxmlformats.org/drawingml/2006/main" noGrp="1"/>
          </p:cNvSpPr>
          <p:nvPr/>
        </p:nvSpPr>
        <p:spPr>
          <a:xfrm xmlns:a="http://schemas.openxmlformats.org/drawingml/2006/main">
            <a:off x="3583257"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1,2177</a:t>
            </a:r>
          </a:p>
        </p:txBody>
      </p:sp>
      <p:sp>
        <p:nvSpPr>
          <p:cNvPr id="36" name="Content Placeholder 15">
            <a:extLst xmlns:a="http://schemas.openxmlformats.org/drawingml/2006/main">
              <a:ext uri="{FF2B5EF4-FFF2-40B4-BE49-F238E27FC236}">
                <a16:creationId xmlns:a16="http://schemas.microsoft.com/office/drawing/2014/main" id="{7DE51176-FC24-C3CB-45B8-8EA48AFAF9E1}"/>
              </a:ext>
            </a:extLst>
          </p:cNvPr>
          <p:cNvSpPr>
            <a:spLocks xmlns:a="http://schemas.openxmlformats.org/drawingml/2006/main" noGrp="1"/>
          </p:cNvSpPr>
          <p:nvPr/>
        </p:nvSpPr>
        <p:spPr>
          <a:xfrm xmlns:a="http://schemas.openxmlformats.org/drawingml/2006/main">
            <a:off x="3649875"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Juni 2026</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aktueller Faktor</a:t>
            </a:r>
          </a:p>
        </p:txBody>
      </p:sp>
      <p:sp>
        <p:nvSpPr>
          <p:cNvPr id="37" name="Rounded Rectangle 36">
            <a:extLst xmlns:a="http://schemas.openxmlformats.org/drawingml/2006/main">
              <a:ext uri="{FF2B5EF4-FFF2-40B4-BE49-F238E27FC236}">
                <a16:creationId xmlns:a16="http://schemas.microsoft.com/office/drawing/2014/main" id="{B5992B1D-5E0E-664C-375F-216AFC12EAE8}"/>
              </a:ext>
            </a:extLst>
          </p:cNvPr>
          <p:cNvSpPr>
            <a:spLocks xmlns:a="http://schemas.openxmlformats.org/drawingml/2006/main" noGrp="1"/>
          </p:cNvSpPr>
          <p:nvPr/>
        </p:nvSpPr>
        <p:spPr>
          <a:xfrm xmlns:a="http://schemas.openxmlformats.org/drawingml/2006/main">
            <a:off x="6271986"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Content Placeholder 9">
            <a:extLst xmlns:a="http://schemas.openxmlformats.org/drawingml/2006/main">
              <a:ext uri="{FF2B5EF4-FFF2-40B4-BE49-F238E27FC236}">
                <a16:creationId xmlns:a16="http://schemas.microsoft.com/office/drawing/2014/main" id="{54A023A6-B45F-0FFE-0391-DBB435439A7B}"/>
              </a:ext>
            </a:extLst>
          </p:cNvPr>
          <p:cNvSpPr>
            <a:spLocks xmlns:a="http://schemas.openxmlformats.org/drawingml/2006/main" noGrp="1"/>
          </p:cNvSpPr>
          <p:nvPr/>
        </p:nvSpPr>
        <p:spPr>
          <a:xfrm xmlns:a="http://schemas.openxmlformats.org/drawingml/2006/main">
            <a:off x="6509338"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+21,8 %</a:t>
            </a:r>
          </a:p>
        </p:txBody>
      </p:sp>
      <p:sp>
        <p:nvSpPr>
          <p:cNvPr id="39" name="Content Placeholder 15">
            <a:extLst xmlns:a="http://schemas.openxmlformats.org/drawingml/2006/main">
              <a:ext uri="{FF2B5EF4-FFF2-40B4-BE49-F238E27FC236}">
                <a16:creationId xmlns:a16="http://schemas.microsoft.com/office/drawing/2014/main" id="{5E890D67-9D53-7808-5E55-E05F92307EAC}"/>
              </a:ext>
            </a:extLst>
          </p:cNvPr>
          <p:cNvSpPr>
            <a:spLocks xmlns:a="http://schemas.openxmlformats.org/drawingml/2006/main" noGrp="1"/>
          </p:cNvSpPr>
          <p:nvPr/>
        </p:nvSpPr>
        <p:spPr>
          <a:xfrm xmlns:a="http://schemas.openxmlformats.org/drawingml/2006/main">
            <a:off x="6575956"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Marktniveau</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gegenüber 2015</a:t>
            </a:r>
          </a:p>
        </p:txBody>
      </p:sp>
      <p:sp>
        <p:nvSpPr>
          <p:cNvPr id="40" name="Rounded Rectangle 39">
            <a:extLst xmlns:a="http://schemas.openxmlformats.org/drawingml/2006/main">
              <a:ext uri="{FF2B5EF4-FFF2-40B4-BE49-F238E27FC236}">
                <a16:creationId xmlns:a16="http://schemas.microsoft.com/office/drawing/2014/main" id="{DEE6595D-2709-1F7C-8B9A-47164A9A4EB2}"/>
              </a:ext>
            </a:extLst>
          </p:cNvPr>
          <p:cNvSpPr>
            <a:spLocks xmlns:a="http://schemas.openxmlformats.org/drawingml/2006/main" noGrp="1"/>
          </p:cNvSpPr>
          <p:nvPr/>
        </p:nvSpPr>
        <p:spPr>
          <a:xfrm xmlns:a="http://schemas.openxmlformats.org/drawingml/2006/main">
            <a:off x="9224191" y="2032000"/>
            <a:ext cx="2581975" cy="2656541"/>
          </a:xfrm>
          <a:prstGeom xmlns:a="http://schemas.openxmlformats.org/drawingml/2006/main" prst="roundRect">
            <a:avLst>
              <a:gd name="adj" fmla="val 0"/>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Content Placeholder 9">
            <a:extLst xmlns:a="http://schemas.openxmlformats.org/drawingml/2006/main">
              <a:ext uri="{FF2B5EF4-FFF2-40B4-BE49-F238E27FC236}">
                <a16:creationId xmlns:a16="http://schemas.microsoft.com/office/drawing/2014/main" id="{0DD8DA38-D646-1FA9-28D4-71AFE0F87ED8}"/>
              </a:ext>
            </a:extLst>
          </p:cNvPr>
          <p:cNvSpPr>
            <a:spLocks xmlns:a="http://schemas.openxmlformats.org/drawingml/2006/main" noGrp="1"/>
          </p:cNvSpPr>
          <p:nvPr/>
        </p:nvSpPr>
        <p:spPr>
          <a:xfrm xmlns:a="http://schemas.openxmlformats.org/drawingml/2006/main">
            <a:off x="9461543" y="2251890"/>
            <a:ext cx="2133315" cy="903750"/>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5000" u="none" cap="none">
                <a:ln>
                  <a:noFill/>
                </a:ln>
                <a:solidFill>
                  <a:prstClr val="black"/>
                </a:solidFill>
                <a:latin typeface="Helvetica Neue"/>
                <a:ea typeface="Helvetica Neue"/>
                <a:cs typeface="Helvetica Neue"/>
              </a:rPr>
              <a:t>−0,15 $</a:t>
            </a:r>
          </a:p>
        </p:txBody>
      </p:sp>
      <p:sp>
        <p:nvSpPr>
          <p:cNvPr id="42" name="Content Placeholder 15">
            <a:extLst xmlns:a="http://schemas.openxmlformats.org/drawingml/2006/main">
              <a:ext uri="{FF2B5EF4-FFF2-40B4-BE49-F238E27FC236}">
                <a16:creationId xmlns:a16="http://schemas.microsoft.com/office/drawing/2014/main" id="{5D7CE5C2-7A4C-5B39-AEB6-25510E71F253}"/>
              </a:ext>
            </a:extLst>
          </p:cNvPr>
          <p:cNvSpPr>
            <a:spLocks xmlns:a="http://schemas.openxmlformats.org/drawingml/2006/main" noGrp="1"/>
          </p:cNvSpPr>
          <p:nvPr/>
        </p:nvSpPr>
        <p:spPr>
          <a:xfrm xmlns:a="http://schemas.openxmlformats.org/drawingml/2006/main">
            <a:off x="9528161" y="3740150"/>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MAE-Änderung</a:t>
            </a:r>
          </a:p>
          <a:p xmlns:a="http://schemas.openxmlformats.org/drawingml/2006/main">
            <a:pPr marL="0" indent="0">
              <a:lnSpc>
                <a:spcPct val="114000"/>
              </a:lnSpc>
              <a:spcBef>
                <a:spcPts val="0"/>
              </a:spcBef>
              <a:spcAft>
                <a:spcPts val="800"/>
              </a:spcAft>
              <a:buNone/>
            </a:pPr>
            <a:r>
              <a:rPr sz="1400">
                <a:latin typeface="Helvetica Neue"/>
                <a:ea typeface="Helvetica Neue"/>
                <a:cs typeface="Helvetica Neue"/>
              </a:rPr>
              <a:t>im Backtest</a:t>
            </a:r>
          </a:p>
        </p:txBody>
      </p:sp>
      <p:sp>
        <p:nvSpPr>
          <p:cNvPr id="43" name="Content Placeholder 2">
            <a:extLst xmlns:a="http://schemas.openxmlformats.org/drawingml/2006/main">
              <a:ext uri="{FF2B5EF4-FFF2-40B4-BE49-F238E27FC236}">
                <a16:creationId xmlns:a16="http://schemas.microsoft.com/office/drawing/2014/main" id="{21B19CD8-2634-6048-888D-54374B2A6E19}"/>
              </a:ext>
            </a:extLst>
          </p:cNvPr>
          <p:cNvSpPr>
            <a:spLocks xmlns:a="http://schemas.openxmlformats.org/drawingml/2006/main" noGrp="1"/>
          </p:cNvSpPr>
          <p:nvPr/>
        </p:nvSpPr>
        <p:spPr>
          <a:xfrm xmlns:a="http://schemas.openxmlformats.org/drawingml/2006/main">
            <a:off x="6261100" y="400899"/>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FRED CUSR0000SETA01  ·  2015 = 1,000</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Stage-2-Preis = Referenzwert × CPI-Faktor</a:t>
            </a:r>
          </a:p>
        </p:txBody>
      </p:sp>
    </p:spTree>
    <p:extLst>
      <p:ext uri="{BB962C8B-B14F-4D97-AF65-F5344CB8AC3E}">
        <p14:creationId xmlns:p14="http://schemas.microsoft.com/office/powerpoint/2010/main" val="413499907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31C01230-0AB7-5FBA-6CB0-F4C1122A5881}"/>
              </a:ext>
            </a:extLst>
          </p:cNvPr>
          <p:cNvSpPr>
            <a:spLocks xmlns:a="http://schemas.openxmlformats.org/drawingml/2006/main" noGrp="1"/>
          </p:cNvSpPr>
          <p:nvPr>
            <p:ph idx="1"/>
          </p:nvPr>
        </p:nvSpPr>
        <p:spPr>
          <a:xfrm xmlns:a="http://schemas.openxmlformats.org/drawingml/2006/main">
            <a:off x="393700"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PROBLEM</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Rohe Monatsmediane verwechseln Saison und Fahrzeugmix.</a:t>
            </a:r>
          </a:p>
        </p:txBody>
      </p:sp>
      <p:sp>
        <p:nvSpPr>
          <p:cNvPr id="2" name="Slide Number Placeholder 1">
            <a:extLst xmlns:a="http://schemas.openxmlformats.org/drawingml/2006/main">
              <a:ext uri="{FF2B5EF4-FFF2-40B4-BE49-F238E27FC236}">
                <a16:creationId xmlns:a16="http://schemas.microsoft.com/office/drawing/2014/main" id="{5346F6B8-73F6-AB72-2971-C8B37B27DCF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FD6AB9A-5F9E-5F59-51AB-3C8734130965}" type="slidenum">
              <a:t>4</a:t>
            </a:fld>
          </a:p>
        </p:txBody>
      </p:sp>
      <p:sp>
        <p:nvSpPr>
          <p:cNvPr id="11" name="Content Placeholder 10">
            <a:extLst xmlns:a="http://schemas.openxmlformats.org/drawingml/2006/main">
              <a:ext uri="{FF2B5EF4-FFF2-40B4-BE49-F238E27FC236}">
                <a16:creationId xmlns:a16="http://schemas.microsoft.com/office/drawing/2014/main" id="{36C44BD0-2306-5DD3-6221-887B2EAEA0CB}"/>
              </a:ext>
            </a:extLst>
          </p:cNvPr>
          <p:cNvSpPr>
            <a:spLocks xmlns:a="http://schemas.openxmlformats.org/drawingml/2006/main" noGrp="1"/>
          </p:cNvSpPr>
          <p:nvPr>
            <p:ph idx="10"/>
          </p:nvPr>
        </p:nvSpPr>
        <p:spPr>
          <a:xfrm xmlns:a="http://schemas.openxmlformats.org/drawingml/2006/main">
            <a:off x="4318000"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KORREKTUR</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CPI entfernen, dann Abweichung zur festen Stage-1-Referenz messen.</a:t>
            </a:r>
          </a:p>
        </p:txBody>
      </p:sp>
      <p:sp>
        <p:nvSpPr>
          <p:cNvPr id="12" name="Content Placeholder 11">
            <a:extLst xmlns:a="http://schemas.openxmlformats.org/drawingml/2006/main">
              <a:ext uri="{FF2B5EF4-FFF2-40B4-BE49-F238E27FC236}">
                <a16:creationId xmlns:a16="http://schemas.microsoft.com/office/drawing/2014/main" id="{DE8FF54C-F86E-60F9-B524-2931B90F4D94}"/>
              </a:ext>
            </a:extLst>
          </p:cNvPr>
          <p:cNvSpPr>
            <a:spLocks xmlns:a="http://schemas.openxmlformats.org/drawingml/2006/main" noGrp="1"/>
          </p:cNvSpPr>
          <p:nvPr>
            <p:ph idx="11"/>
          </p:nvPr>
        </p:nvSpPr>
        <p:spPr>
          <a:xfrm xmlns:a="http://schemas.openxmlformats.org/drawingml/2006/main">
            <a:off x="8232273" y="2032000"/>
            <a:ext cx="3568700" cy="1981200"/>
          </a:xfrm>
        </p:spPr>
        <p:txBody>
          <a:bodyPr xmlns:a="http://schemas.openxmlformats.org/drawingml/2006/main"/>
          <a:lstStyle xmlns:a="http://schemas.openxmlformats.org/drawingml/2006/main"/>
          <a:p xmlns:a="http://schemas.openxmlformats.org/drawingml/2006/main">
            <a:pPr marL="0" indent="0" algn="l">
              <a:lnSpc>
                <a:spcPct val="110000"/>
              </a:lnSpc>
              <a:spcBef>
                <a:spcPts val="0"/>
              </a:spcBef>
              <a:spcAft>
                <a:spcPts val="0"/>
              </a:spcAft>
              <a:buNone/>
            </a:pPr>
            <a:r>
              <a:rPr sz="2400" b="0" i="0" u="none" cap="none">
                <a:ln>
                  <a:noFill/>
                </a:ln>
                <a:solidFill>
                  <a:prstClr val="black"/>
                </a:solidFill>
                <a:latin typeface="Helvetica Neue"/>
                <a:ea typeface="Helvetica Neue"/>
                <a:cs typeface="Helvetica Neue"/>
              </a:rPr>
              <a:t>ABSICHERUNG</a:t>
            </a:r>
          </a:p>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Kleine Gruppen dämpfen und fehlende Daten neutral behandeln.</a:t>
            </a:r>
          </a:p>
        </p:txBody>
      </p:sp>
      <p:sp>
        <p:nvSpPr>
          <p:cNvPr id="3" name="Title 2">
            <a:extLst xmlns:a="http://schemas.openxmlformats.org/drawingml/2006/main">
              <a:ext uri="{FF2B5EF4-FFF2-40B4-BE49-F238E27FC236}">
                <a16:creationId xmlns:a16="http://schemas.microsoft.com/office/drawing/2014/main" id="{BC736807-305D-4EC1-A98F-2A17C38135E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Stage 3: Saisonalität – aber bereinigt</a:t>
            </a:r>
          </a:p>
        </p:txBody>
      </p:sp>
      <p:sp>
        <p:nvSpPr>
          <p:cNvPr id="13" name="Content Placeholder 9">
            <a:extLst xmlns:a="http://schemas.openxmlformats.org/drawingml/2006/main">
              <a:ext uri="{FF2B5EF4-FFF2-40B4-BE49-F238E27FC236}">
                <a16:creationId xmlns:a16="http://schemas.microsoft.com/office/drawing/2014/main" id="{19211427-9600-D234-704D-53BE123AB716}"/>
              </a:ext>
            </a:extLst>
          </p:cNvPr>
          <p:cNvSpPr>
            <a:spLocks xmlns:a="http://schemas.openxmlformats.org/drawingml/2006/main" noGrp="1"/>
          </p:cNvSpPr>
          <p:nvPr/>
        </p:nvSpPr>
        <p:spPr>
          <a:xfrm xmlns:a="http://schemas.openxmlformats.org/drawingml/2006/main">
            <a:off x="393700"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nicht kausal</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Monat sonst doppelt</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Mix aus Alter &amp; Qualität</a:t>
            </a:r>
          </a:p>
        </p:txBody>
      </p:sp>
      <p:sp>
        <p:nvSpPr>
          <p:cNvPr id="20" name="Content Placeholder 9">
            <a:extLst xmlns:a="http://schemas.openxmlformats.org/drawingml/2006/main">
              <a:ext uri="{FF2B5EF4-FFF2-40B4-BE49-F238E27FC236}">
                <a16:creationId xmlns:a16="http://schemas.microsoft.com/office/drawing/2014/main" id="{AC9183D9-7CC4-79A2-884C-5E7D4E0CCD2B}"/>
              </a:ext>
            </a:extLst>
          </p:cNvPr>
          <p:cNvSpPr>
            <a:spLocks xmlns:a="http://schemas.openxmlformats.org/drawingml/2006/main" noGrp="1"/>
          </p:cNvSpPr>
          <p:nvPr/>
        </p:nvSpPr>
        <p:spPr>
          <a:xfrm xmlns:a="http://schemas.openxmlformats.org/drawingml/2006/main">
            <a:off x="4307778"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Referenz 2015-02</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Median je Body/Monat</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relativ zum Body-Median</a:t>
            </a:r>
          </a:p>
        </p:txBody>
      </p:sp>
      <p:sp>
        <p:nvSpPr>
          <p:cNvPr id="21" name="Content Placeholder 9">
            <a:extLst xmlns:a="http://schemas.openxmlformats.org/drawingml/2006/main">
              <a:ext uri="{FF2B5EF4-FFF2-40B4-BE49-F238E27FC236}">
                <a16:creationId xmlns:a16="http://schemas.microsoft.com/office/drawing/2014/main" id="{8026D696-5B0D-B1A2-BDA5-A14DA58894A3}"/>
              </a:ext>
            </a:extLst>
          </p:cNvPr>
          <p:cNvSpPr>
            <a:spLocks xmlns:a="http://schemas.openxmlformats.org/drawingml/2006/main" noGrp="1"/>
          </p:cNvSpPr>
          <p:nvPr/>
        </p:nvSpPr>
        <p:spPr>
          <a:xfrm xmlns:a="http://schemas.openxmlformats.org/drawingml/2006/main">
            <a:off x="8233007" y="4133787"/>
            <a:ext cx="3568700" cy="1860613"/>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320040" indent="-226060" algn="l">
              <a:lnSpc>
                <a:spcPct val="110000"/>
              </a:lnSpc>
              <a:spcBef>
                <a:spcPts val="0"/>
              </a:spcBef>
              <a:spcAft>
                <a:spcPts val="0"/>
              </a:spcAft>
              <a:buChar char="→"/>
            </a:pPr>
            <a:r>
              <a:rPr sz="1800" b="0" i="0" u="none" cap="none">
                <a:ln>
                  <a:noFill/>
                </a:ln>
                <a:solidFill>
                  <a:prstClr val="black"/>
                </a:solidFill>
                <a:latin typeface="Helvetica Neue"/>
                <a:ea typeface="Helvetica Neue"/>
                <a:cs typeface="Helvetica Neue"/>
              </a:rPr>
              <a:t>Prior: 1.000 Zeilen</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Grenze: 0,85–1,15</a:t>
            </a:r>
          </a:p>
          <a:p xmlns:a="http://schemas.openxmlformats.org/drawingml/2006/main">
            <a:pPr marL="320040" indent="-226060" algn="l">
              <a:lnSpc>
                <a:spcPct val="110000"/>
              </a:lnSpc>
              <a:spcBef>
                <a:spcPts val="1000"/>
              </a:spcBef>
              <a:spcAft>
                <a:spcPts val="0"/>
              </a:spcAft>
              <a:buChar char="→"/>
            </a:pPr>
            <a:r>
              <a:rPr sz="1800" b="0" i="0" u="none" cap="none">
                <a:ln>
                  <a:noFill/>
                </a:ln>
                <a:solidFill>
                  <a:prstClr val="black"/>
                </a:solidFill>
                <a:latin typeface="Helvetica Neue"/>
                <a:ea typeface="Helvetica Neue"/>
                <a:cs typeface="Helvetica Neue"/>
              </a:rPr>
              <a:t>kein Datum = 1,0000</a:t>
            </a:r>
          </a:p>
        </p:txBody>
      </p:sp>
    </p:spTree>
    <p:extLst>
      <p:ext uri="{BB962C8B-B14F-4D97-AF65-F5344CB8AC3E}">
        <p14:creationId xmlns:p14="http://schemas.microsoft.com/office/powerpoint/2010/main" val="30642311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53A1C5C1-82D9-B99C-E103-C2AFD6672453}"/>
              </a:ext>
            </a:extLst>
          </p:cNvPr>
          <p:cNvSpPr>
            <a:spLocks xmlns:a="http://schemas.openxmlformats.org/drawingml/2006/main" noGrp="1"/>
          </p:cNvSpPr>
          <p:nvPr/>
        </p:nvSpPr>
        <p:spPr>
          <a:xfrm xmlns:a="http://schemas.openxmlformats.org/drawingml/2006/main">
            <a:off x="393700" y="2374900"/>
            <a:ext cx="3568700" cy="36195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541925A4-50C3-437F-A6B5-E4058446AE89}"/>
              </a:ext>
            </a:extLst>
          </p:cNvPr>
          <p:cNvSpPr>
            <a:spLocks xmlns:a="http://schemas.openxmlformats.org/drawingml/2006/main" noGrp="1"/>
          </p:cNvSpPr>
          <p:nvPr/>
        </p:nvSpPr>
        <p:spPr>
          <a:xfrm xmlns:a="http://schemas.openxmlformats.org/drawingml/2006/main">
            <a:off x="4311650" y="2374900"/>
            <a:ext cx="3568700" cy="36195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500BBE53-5F2F-7CC8-0538-CFB4A204357F}"/>
              </a:ext>
            </a:extLst>
          </p:cNvPr>
          <p:cNvSpPr>
            <a:spLocks xmlns:a="http://schemas.openxmlformats.org/drawingml/2006/main" noGrp="1"/>
          </p:cNvSpPr>
          <p:nvPr/>
        </p:nvSpPr>
        <p:spPr>
          <a:xfrm xmlns:a="http://schemas.openxmlformats.org/drawingml/2006/main">
            <a:off x="8232297" y="2374900"/>
            <a:ext cx="3568700" cy="3619500"/>
          </a:xfrm>
          <a:prstGeom xmlns:a="http://schemas.openxmlformats.org/drawingml/2006/main" prst="roundRect">
            <a:avLst>
              <a:gd name="adj" fmla="val 3585"/>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Content Placeholder 9">
            <a:extLst xmlns:a="http://schemas.openxmlformats.org/drawingml/2006/main">
              <a:ext uri="{FF2B5EF4-FFF2-40B4-BE49-F238E27FC236}">
                <a16:creationId xmlns:a16="http://schemas.microsoft.com/office/drawing/2014/main" id="{58E121FC-0773-4D41-B407-A75A7E27DDE8}"/>
              </a:ext>
            </a:extLst>
          </p:cNvPr>
          <p:cNvSpPr>
            <a:spLocks xmlns:a="http://schemas.openxmlformats.org/drawingml/2006/main" noGrp="1"/>
          </p:cNvSpPr>
          <p:nvPr>
            <p:ph idx="1"/>
          </p:nvPr>
        </p:nvSpPr>
        <p:spPr>
          <a:xfrm xmlns:a="http://schemas.openxmlformats.org/drawingml/2006/main">
            <a:off x="703381" y="2800841"/>
            <a:ext cx="2949339" cy="990600"/>
          </a:xfrm>
        </p:spPr>
        <p:txBody>
          <a:bodyPr xmlns:a="http://schemas.openxmlformats.org/drawingml/2006/main"/>
          <a:lstStyle xmlns:a="http://schemas.openxmlformats.org/drawingml/2006/main"/>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verwertbare historische Verkäufe</a:t>
            </a:r>
          </a:p>
        </p:txBody>
      </p:sp>
      <p:sp>
        <p:nvSpPr>
          <p:cNvPr id="2" name="Slide Number Placeholder 1">
            <a:extLst xmlns:a="http://schemas.openxmlformats.org/drawingml/2006/main">
              <a:ext uri="{FF2B5EF4-FFF2-40B4-BE49-F238E27FC236}">
                <a16:creationId xmlns:a16="http://schemas.microsoft.com/office/drawing/2014/main" id="{C284B6E6-EAE6-BB6F-9352-FADE91E661E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EE5B3003-2C54-13C6-9832-7637201064DE}" type="slidenum">
              <a:t>5</a:t>
            </a:fld>
          </a:p>
        </p:txBody>
      </p:sp>
      <p:sp>
        <p:nvSpPr>
          <p:cNvPr id="11" name="Content Placeholder 10">
            <a:extLst xmlns:a="http://schemas.openxmlformats.org/drawingml/2006/main">
              <a:ext uri="{FF2B5EF4-FFF2-40B4-BE49-F238E27FC236}">
                <a16:creationId xmlns:a16="http://schemas.microsoft.com/office/drawing/2014/main" id="{19D4C67A-8BD6-C687-51C1-8B93C00A9C14}"/>
              </a:ext>
            </a:extLst>
          </p:cNvPr>
          <p:cNvSpPr>
            <a:spLocks xmlns:a="http://schemas.openxmlformats.org/drawingml/2006/main" noGrp="1"/>
          </p:cNvSpPr>
          <p:nvPr>
            <p:ph idx="10"/>
          </p:nvPr>
        </p:nvSpPr>
        <p:spPr>
          <a:xfrm xmlns:a="http://schemas.openxmlformats.org/drawingml/2006/main">
            <a:off x="4627681" y="2800841"/>
            <a:ext cx="2949339" cy="990600"/>
          </a:xfrm>
        </p:spPr>
        <p:txBody>
          <a:bodyPr xmlns:a="http://schemas.openxmlformats.org/drawingml/2006/main"/>
          <a:lstStyle xmlns:a="http://schemas.openxmlformats.org/drawingml/2006/main"/>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MAE-Verbesserung im 80/20-Test</a:t>
            </a:r>
          </a:p>
        </p:txBody>
      </p:sp>
      <p:sp>
        <p:nvSpPr>
          <p:cNvPr id="12" name="Content Placeholder 11">
            <a:extLst xmlns:a="http://schemas.openxmlformats.org/drawingml/2006/main">
              <a:ext uri="{FF2B5EF4-FFF2-40B4-BE49-F238E27FC236}">
                <a16:creationId xmlns:a16="http://schemas.microsoft.com/office/drawing/2014/main" id="{7792D87E-883F-7EB3-D970-8BBDA3A4CEB0}"/>
              </a:ext>
            </a:extLst>
          </p:cNvPr>
          <p:cNvSpPr>
            <a:spLocks xmlns:a="http://schemas.openxmlformats.org/drawingml/2006/main" noGrp="1"/>
          </p:cNvSpPr>
          <p:nvPr>
            <p:ph idx="11"/>
          </p:nvPr>
        </p:nvSpPr>
        <p:spPr>
          <a:xfrm xmlns:a="http://schemas.openxmlformats.org/drawingml/2006/main">
            <a:off x="8541954" y="2800841"/>
            <a:ext cx="2949339" cy="990600"/>
          </a:xfrm>
        </p:spPr>
        <p:txBody>
          <a:bodyPr xmlns:a="http://schemas.openxmlformats.org/drawingml/2006/main"/>
          <a:lstStyle xmlns:a="http://schemas.openxmlformats.org/drawingml/2006/main"/>
          <a:p xmlns:a="http://schemas.openxmlformats.org/drawingml/2006/main">
            <a:pPr marL="0" indent="0" algn="l">
              <a:lnSpc>
                <a:spcPct val="100000"/>
              </a:lnSpc>
              <a:spcBef>
                <a:spcPts val="1300"/>
              </a:spcBef>
              <a:spcAft>
                <a:spcPts val="1300"/>
              </a:spcAft>
              <a:buNone/>
            </a:pPr>
            <a:r>
              <a:rPr sz="1800" b="0" i="0" u="none" cap="none">
                <a:ln>
                  <a:noFill/>
                </a:ln>
                <a:solidFill>
                  <a:prstClr val="black"/>
                </a:solidFill>
                <a:latin typeface="Helvetica Neue"/>
                <a:ea typeface="Helvetica Neue"/>
                <a:cs typeface="Helvetica Neue"/>
              </a:rPr>
              <a:t>Faktor Aug–Nov ohne Daten</a:t>
            </a:r>
          </a:p>
        </p:txBody>
      </p:sp>
      <p:sp>
        <p:nvSpPr>
          <p:cNvPr id="3" name="Title 2">
            <a:extLst xmlns:a="http://schemas.openxmlformats.org/drawingml/2006/main">
              <a:ext uri="{FF2B5EF4-FFF2-40B4-BE49-F238E27FC236}">
                <a16:creationId xmlns:a16="http://schemas.microsoft.com/office/drawing/2014/main" id="{C616EA3E-3493-D910-145D-D2D69654D4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Stage 3 verbessert leicht – und bleibt konservativ</a:t>
            </a:r>
          </a:p>
        </p:txBody>
      </p:sp>
      <p:sp>
        <p:nvSpPr>
          <p:cNvPr id="13" name="Content Placeholder 9">
            <a:extLst xmlns:a="http://schemas.openxmlformats.org/drawingml/2006/main">
              <a:ext uri="{FF2B5EF4-FFF2-40B4-BE49-F238E27FC236}">
                <a16:creationId xmlns:a16="http://schemas.microsoft.com/office/drawing/2014/main" id="{529AC257-FA74-9B02-D6B1-395CA5EB2451}"/>
              </a:ext>
            </a:extLst>
          </p:cNvPr>
          <p:cNvSpPr>
            <a:spLocks xmlns:a="http://schemas.openxmlformats.org/drawingml/2006/main" noGrp="1"/>
          </p:cNvSpPr>
          <p:nvPr/>
        </p:nvSpPr>
        <p:spPr>
          <a:xfrm xmlns:a="http://schemas.openxmlformats.org/drawingml/2006/main">
            <a:off x="702413" y="3678709"/>
            <a:ext cx="2940124" cy="1931661"/>
          </a:xfrm>
          <a:prstGeom xmlns:a="http://schemas.openxmlformats.org/drawingml/2006/main" prst="rect">
            <a:avLst/>
          </a:prstGeom>
        </p:spPr>
        <p:txBody>
          <a:bodyPr xmlns:a="http://schemas.openxmlformats.org/drawingml/2006/main" vert="horz" lIns="0" tIns="0" rIns="0" bIns="0" anchor="b">
            <a:normAutofit fontScale="70233"/>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0000" b="0" i="0" u="none" cap="none">
                <a:ln>
                  <a:noFill/>
                </a:ln>
                <a:solidFill>
                  <a:prstClr val="black"/>
                </a:solidFill>
                <a:latin typeface="Helvetica Neue"/>
                <a:ea typeface="Helvetica Neue"/>
                <a:cs typeface="Helvetica Neue"/>
              </a:rPr>
              <a:t>529.790</a:t>
            </a:r>
          </a:p>
        </p:txBody>
      </p:sp>
      <p:sp>
        <p:nvSpPr>
          <p:cNvPr id="4" name="Content Placeholder 9">
            <a:extLst xmlns:a="http://schemas.openxmlformats.org/drawingml/2006/main">
              <a:ext uri="{FF2B5EF4-FFF2-40B4-BE49-F238E27FC236}">
                <a16:creationId xmlns:a16="http://schemas.microsoft.com/office/drawing/2014/main" id="{F38336FA-8E2C-D51C-CB90-13A312B56A7B}"/>
              </a:ext>
            </a:extLst>
          </p:cNvPr>
          <p:cNvSpPr>
            <a:spLocks xmlns:a="http://schemas.openxmlformats.org/drawingml/2006/main" noGrp="1"/>
          </p:cNvSpPr>
          <p:nvPr/>
        </p:nvSpPr>
        <p:spPr>
          <a:xfrm xmlns:a="http://schemas.openxmlformats.org/drawingml/2006/main">
            <a:off x="4612932" y="3678709"/>
            <a:ext cx="2940124" cy="1931661"/>
          </a:xfrm>
          <a:prstGeom xmlns:a="http://schemas.openxmlformats.org/drawingml/2006/main" prst="rect">
            <a:avLst/>
          </a:prstGeom>
        </p:spPr>
        <p:txBody>
          <a:bodyPr xmlns:a="http://schemas.openxmlformats.org/drawingml/2006/main" vert="horz" lIns="0" tIns="0" rIns="0" bIns="0" anchor="b">
            <a:normAutofit fontScale="72079"/>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0000" b="0" i="0" u="none" cap="none">
                <a:ln>
                  <a:noFill/>
                </a:ln>
                <a:solidFill>
                  <a:prstClr val="black"/>
                </a:solidFill>
                <a:latin typeface="Helvetica Neue"/>
                <a:ea typeface="Helvetica Neue"/>
                <a:cs typeface="Helvetica Neue"/>
              </a:rPr>
              <a:t>−1,31 %</a:t>
            </a:r>
          </a:p>
        </p:txBody>
      </p:sp>
      <p:sp>
        <p:nvSpPr>
          <p:cNvPr id="5" name="Content Placeholder 9">
            <a:extLst xmlns:a="http://schemas.openxmlformats.org/drawingml/2006/main">
              <a:ext uri="{FF2B5EF4-FFF2-40B4-BE49-F238E27FC236}">
                <a16:creationId xmlns:a16="http://schemas.microsoft.com/office/drawing/2014/main" id="{92C7FEC6-8AD3-C75F-0FD0-2C5E2C8FB962}"/>
              </a:ext>
            </a:extLst>
          </p:cNvPr>
          <p:cNvSpPr>
            <a:spLocks xmlns:a="http://schemas.openxmlformats.org/drawingml/2006/main" noGrp="1"/>
          </p:cNvSpPr>
          <p:nvPr/>
        </p:nvSpPr>
        <p:spPr>
          <a:xfrm xmlns:a="http://schemas.openxmlformats.org/drawingml/2006/main">
            <a:off x="8562362" y="3678709"/>
            <a:ext cx="2940124" cy="1931661"/>
          </a:xfrm>
          <a:prstGeom xmlns:a="http://schemas.openxmlformats.org/drawingml/2006/main" prst="rect">
            <a:avLst/>
          </a:prstGeom>
        </p:spPr>
        <p:txBody>
          <a:bodyPr xmlns:a="http://schemas.openxmlformats.org/drawingml/2006/main" vert="horz" lIns="0" tIns="0" rIns="0" bIns="0" anchor="b">
            <a:normAutofit fontScale="83091"/>
          </a:bodyPr>
          <a:lstStyle xmlns:a="http://schemas.openxmlformats.org/drawingml/2006/main">
            <a:lvl1pPr marL="228600" indent="-228600" algn="l">
              <a:lnSpc>
                <a:spcPct val="90000"/>
              </a:lnSpc>
              <a:spcBef>
                <a:spcPts val="1000"/>
              </a:spcBef>
              <a:buChar char="•"/>
              <a:defRPr sz="2400">
                <a:solidFill>
                  <a:schemeClr val="tx1"/>
                </a:solidFill>
                <a:latin typeface="+mn-lt"/>
                <a:ea typeface="+mn-lt"/>
                <a:cs typeface="+mn-lt"/>
              </a:defRPr>
            </a:lvl1pPr>
            <a:lvl2pPr marL="685800" indent="-228600" algn="l">
              <a:lnSpc>
                <a:spcPct val="90000"/>
              </a:lnSpc>
              <a:spcBef>
                <a:spcPts val="500"/>
              </a:spcBef>
              <a:buChar char="•"/>
              <a:defRPr sz="2000">
                <a:solidFill>
                  <a:schemeClr val="tx1"/>
                </a:solidFill>
                <a:latin typeface="+mn-lt"/>
                <a:ea typeface="+mn-lt"/>
                <a:cs typeface="+mn-lt"/>
              </a:defRPr>
            </a:lvl2pPr>
            <a:lvl3pPr marL="1143000" indent="-228600" algn="l">
              <a:lnSpc>
                <a:spcPct val="90000"/>
              </a:lnSpc>
              <a:spcBef>
                <a:spcPts val="500"/>
              </a:spcBef>
              <a:buChar char="•"/>
              <a:defRPr sz="18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2540" indent="0" algn="l">
              <a:lnSpc>
                <a:spcPct val="110000"/>
              </a:lnSpc>
              <a:spcBef>
                <a:spcPts val="0"/>
              </a:spcBef>
              <a:spcAft>
                <a:spcPts val="0"/>
              </a:spcAft>
              <a:buNone/>
            </a:pPr>
            <a:r>
              <a:rPr sz="10000" b="0" i="0" u="none" cap="none">
                <a:ln>
                  <a:noFill/>
                </a:ln>
                <a:solidFill>
                  <a:prstClr val="black"/>
                </a:solidFill>
                <a:latin typeface="Helvetica Neue"/>
                <a:ea typeface="Helvetica Neue"/>
                <a:cs typeface="Helvetica Neue"/>
              </a:rPr>
              <a:t>1,0000</a:t>
            </a:r>
          </a:p>
        </p:txBody>
      </p:sp>
    </p:spTree>
    <p:extLst>
      <p:ext uri="{BB962C8B-B14F-4D97-AF65-F5344CB8AC3E}">
        <p14:creationId xmlns:p14="http://schemas.microsoft.com/office/powerpoint/2010/main" val="14599129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5E6F3576-FAD9-7780-1390-E4CCDDDDF4C8}"/>
              </a:ext>
            </a:extLst>
          </p:cNvPr>
          <p:cNvSpPr>
            <a:spLocks xmlns:a="http://schemas.openxmlformats.org/drawingml/2006/main" noGrp="1"/>
          </p:cNvSpPr>
          <p:nvPr>
            <p:ph idx="1"/>
          </p:nvPr>
        </p:nvSpPr>
        <p:spPr>
          <a:xfrm xmlns:a="http://schemas.openxmlformats.org/drawingml/2006/main">
            <a:off x="393700" y="2391832"/>
            <a:ext cx="3568700" cy="360256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solidFill>
                  <a:prstClr val="black"/>
                </a:solidFill>
                <a:latin typeface="Helvetica Neue Medium"/>
                <a:ea typeface="Helvetica Neue Medium"/>
                <a:cs typeface="Helvetica Neue Medium"/>
              </a:rPr>
              <a:t>01</a:t>
            </a:r>
          </a:p>
          <a:p xmlns:a="http://schemas.openxmlformats.org/drawingml/2006/main">
            <a:pPr marL="0" indent="0">
              <a:lnSpc>
                <a:spcPct val="114000"/>
              </a:lnSpc>
              <a:spcBef>
                <a:spcPts val="0"/>
              </a:spcBef>
              <a:spcAft>
                <a:spcPts val="800"/>
              </a:spcAft>
              <a:buNone/>
            </a:pPr>
            <a:r>
              <a:rPr sz="1800">
                <a:solidFill>
                  <a:prstClr val="black"/>
                </a:solidFill>
                <a:latin typeface="Helvetica Neue Medium"/>
                <a:ea typeface="Helvetica Neue Medium"/>
                <a:cs typeface="Helvetica Neue Medium"/>
              </a:rPr>
              <a:t>IMPLEMENTIERT</a:t>
            </a:r>
          </a:p>
          <a:p xmlns:a="http://schemas.openxmlformats.org/drawingml/2006/main">
            <a:pPr marL="0" indent="0">
              <a:lnSpc>
                <a:spcPct val="114000"/>
              </a:lnSpc>
              <a:spcBef>
                <a:spcPts val="0"/>
              </a:spcBef>
              <a:spcAft>
                <a:spcPts val="1000"/>
              </a:spcAft>
              <a:buNone/>
            </a:pPr>
            <a:r>
              <a:rPr sz="1600">
                <a:latin typeface="Helvetica Neue"/>
                <a:ea typeface="Helvetica Neue"/>
                <a:cs typeface="Helvetica Neue"/>
              </a:rPr>
              <a:t>Stage 2 + Stage 3 in der Streamlit-App</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Stage-1-Baseline</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CPI-Marktpreis</a:t>
            </a:r>
          </a:p>
          <a:p xmlns:a="http://schemas.openxmlformats.org/drawingml/2006/main">
            <a:pPr>
              <a:lnSpc>
                <a:spcPct val="114000"/>
              </a:lnSpc>
              <a:spcBef>
                <a:spcPts val="0"/>
              </a:spcBef>
              <a:spcAft>
                <a:spcPts val="800"/>
              </a:spcAft>
              <a:buNone/>
            </a:pPr>
            <a:r>
              <a:rPr sz="1600">
                <a:solidFill>
                  <a:prstClr val="black"/>
                </a:solidFill>
                <a:latin typeface="Helvetica Neue"/>
                <a:ea typeface="Helvetica Neue"/>
                <a:cs typeface="Helvetica Neue"/>
              </a:rPr>
              <a:t>Saison &amp; finaler Preis</a:t>
            </a:r>
          </a:p>
        </p:txBody>
      </p:sp>
      <p:sp>
        <p:nvSpPr>
          <p:cNvPr id="532" name="Google Shape;532;p58">
            <a:extLst xmlns:a="http://schemas.openxmlformats.org/drawingml/2006/main">
              <a:ext uri="{FF2B5EF4-FFF2-40B4-BE49-F238E27FC236}">
                <a16:creationId xmlns:a16="http://schemas.microsoft.com/office/drawing/2014/main" id="{DBEA618B-866F-6F23-43A9-78F2D3127872}"/>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8C630A04-5A25-9E0C-9436-126091DB86B3}" type="slidenum">
              <a:t>6</a:t>
            </a:fld>
          </a:p>
        </p:txBody>
      </p:sp>
      <p:sp>
        <p:nvSpPr>
          <p:cNvPr id="2" name="Content Placeholder 1">
            <a:extLst xmlns:a="http://schemas.openxmlformats.org/drawingml/2006/main">
              <a:ext uri="{FF2B5EF4-FFF2-40B4-BE49-F238E27FC236}">
                <a16:creationId xmlns:a16="http://schemas.microsoft.com/office/drawing/2014/main" id="{7ED2788F-D3A7-1987-7296-9AC0BE2A1D11}"/>
              </a:ext>
            </a:extLst>
          </p:cNvPr>
          <p:cNvSpPr>
            <a:spLocks xmlns:a="http://schemas.openxmlformats.org/drawingml/2006/main" noGrp="1"/>
          </p:cNvSpPr>
          <p:nvPr>
            <p:ph idx="10"/>
          </p:nvPr>
        </p:nvSpPr>
        <p:spPr>
          <a:xfrm xmlns:a="http://schemas.openxmlformats.org/drawingml/2006/main">
            <a:off x="4318000" y="2374900"/>
            <a:ext cx="3568700" cy="3619500"/>
          </a:xfrm>
        </p:spPr>
        <p:txBody>
          <a:bodyPr xmlns:a="http://schemas.openxmlformats.org/drawingml/2006/main">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02</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VALIDIERT</a:t>
            </a:r>
          </a:p>
          <a:p xmlns:a="http://schemas.openxmlformats.org/drawingml/2006/main">
            <a:pPr marL="0" indent="0" algn="l">
              <a:lnSpc>
                <a:spcPct val="114000"/>
              </a:lnSpc>
              <a:spcBef>
                <a:spcPts val="0"/>
              </a:spcBef>
              <a:spcAft>
                <a:spcPts val="1000"/>
              </a:spcAft>
              <a:buNone/>
            </a:pPr>
            <a:r>
              <a:rPr sz="1600" b="0" i="0" u="none" cap="none">
                <a:ln>
                  <a:noFill/>
                </a:ln>
                <a:solidFill>
                  <a:prstClr val="black"/>
                </a:solidFill>
                <a:latin typeface="Helvetica Neue"/>
                <a:ea typeface="Helvetica Neue"/>
                <a:cs typeface="Helvetica Neue"/>
              </a:rPr>
              <a:t>540 eindeutige Faktoren für 45 Bodies</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80/20-Saisonprüfung</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August-Fall und App-Test bestanden</a:t>
            </a:r>
          </a:p>
        </p:txBody>
      </p:sp>
      <p:sp>
        <p:nvSpPr>
          <p:cNvPr id="3" name="Content Placeholder 2">
            <a:extLst xmlns:a="http://schemas.openxmlformats.org/drawingml/2006/main">
              <a:ext uri="{FF2B5EF4-FFF2-40B4-BE49-F238E27FC236}">
                <a16:creationId xmlns:a16="http://schemas.microsoft.com/office/drawing/2014/main" id="{0AB3D00A-6146-FC12-E7D6-0A4E6D490B4A}"/>
              </a:ext>
            </a:extLst>
          </p:cNvPr>
          <p:cNvSpPr>
            <a:spLocks xmlns:a="http://schemas.openxmlformats.org/drawingml/2006/main" noGrp="1"/>
          </p:cNvSpPr>
          <p:nvPr>
            <p:ph idx="11"/>
          </p:nvPr>
        </p:nvSpPr>
        <p:spPr>
          <a:xfrm xmlns:a="http://schemas.openxmlformats.org/drawingml/2006/main">
            <a:off x="8232273" y="2374900"/>
            <a:ext cx="3568700" cy="3619500"/>
          </a:xfrm>
        </p:spPr>
        <p:txBody>
          <a:bodyPr xmlns:a="http://schemas.openxmlformats.org/drawingml/2006/main">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03</a:t>
            </a:r>
          </a:p>
          <a:p xmlns:a="http://schemas.openxmlformats.org/drawingml/2006/main">
            <a:pPr marL="0" indent="0" algn="l">
              <a:lnSpc>
                <a:spcPct val="114000"/>
              </a:lnSpc>
              <a:spcBef>
                <a:spcPts val="0"/>
              </a:spcBef>
              <a:spcAft>
                <a:spcPts val="800"/>
              </a:spcAft>
              <a:buNone/>
            </a:pPr>
            <a:r>
              <a:rPr sz="1800" b="0" i="0" u="none" cap="none">
                <a:ln>
                  <a:noFill/>
                </a:ln>
                <a:solidFill>
                  <a:prstClr val="black"/>
                </a:solidFill>
                <a:latin typeface="Helvetica Neue Medium"/>
                <a:ea typeface="Helvetica Neue Medium"/>
                <a:cs typeface="Helvetica Neue Medium"/>
              </a:rPr>
              <a:t>ALS NÄCHSTES</a:t>
            </a:r>
          </a:p>
          <a:p xmlns:a="http://schemas.openxmlformats.org/drawingml/2006/main">
            <a:pPr marL="0" indent="0" algn="l">
              <a:lnSpc>
                <a:spcPct val="114000"/>
              </a:lnSpc>
              <a:spcBef>
                <a:spcPts val="0"/>
              </a:spcBef>
              <a:spcAft>
                <a:spcPts val="1000"/>
              </a:spcAft>
              <a:buNone/>
            </a:pPr>
            <a:r>
              <a:rPr sz="1600" b="0" i="0" u="none" cap="none">
                <a:ln>
                  <a:noFill/>
                </a:ln>
                <a:solidFill>
                  <a:prstClr val="black"/>
                </a:solidFill>
                <a:latin typeface="Helvetica Neue"/>
                <a:ea typeface="Helvetica Neue"/>
                <a:cs typeface="Helvetica Neue"/>
              </a:rPr>
              <a:t>Preisrange statt nur Punktwert</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Stage 1 auf Vollbestand</a:t>
            </a:r>
          </a:p>
          <a:p xmlns:a="http://schemas.openxmlformats.org/drawingml/2006/main">
            <a:pPr marL="228600" indent="-228600" algn="l">
              <a:lnSpc>
                <a:spcPct val="114000"/>
              </a:lnSpc>
              <a:spcBef>
                <a:spcPts val="0"/>
              </a:spcBef>
              <a:spcAft>
                <a:spcPts val="800"/>
              </a:spcAft>
              <a:buChar char="•"/>
            </a:pPr>
            <a:r>
              <a:rPr sz="1600" b="0" i="0" u="none" cap="none">
                <a:ln>
                  <a:noFill/>
                </a:ln>
                <a:solidFill>
                  <a:prstClr val="black"/>
                </a:solidFill>
                <a:latin typeface="Helvetica Neue"/>
                <a:ea typeface="Helvetica Neue"/>
                <a:cs typeface="Helvetica Neue"/>
              </a:rPr>
              <a:t>LLM erklärt – es rechnet nicht</a:t>
            </a:r>
          </a:p>
        </p:txBody>
      </p:sp>
      <p:sp>
        <p:nvSpPr>
          <p:cNvPr id="533" name="Google Shape;533;p58">
            <a:extLst xmlns:a="http://schemas.openxmlformats.org/drawingml/2006/main">
              <a:ext uri="{FF2B5EF4-FFF2-40B4-BE49-F238E27FC236}">
                <a16:creationId xmlns:a16="http://schemas.microsoft.com/office/drawing/2014/main" id="{24C70FFE-9D4B-9EEB-4231-9B1B74B40AF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Arbeitsstand: integriert, getestet, transparent</a:t>
            </a:r>
          </a:p>
        </p:txBody>
      </p:sp>
    </p:spTree>
    <p:extLst>
      <p:ext uri="{BB962C8B-B14F-4D97-AF65-F5344CB8AC3E}">
        <p14:creationId xmlns:p14="http://schemas.microsoft.com/office/powerpoint/2010/main" val="2966171638"/>
      </p:ext>
    </p:extLst>
  </p:cSld>
</p:sld>
</file>

<file path=ppt/theme/theme1.xml><?xml version="1.0" encoding="utf-8"?>
<a:theme xmlns:a="http://schemas.openxmlformats.org/drawingml/2006/main" name="Default Codex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2026-06-23T20:16:32.5750000Z</dcterms:created>
  <dcterms:modified xsi:type="dcterms:W3CDTF">2026-06-23T20:16:32.5750000Z</dcterms:modified>
</coreProperties>
</file>
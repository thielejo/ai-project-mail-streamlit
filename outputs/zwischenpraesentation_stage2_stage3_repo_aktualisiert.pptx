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f645cf0efa4be3" /><Relationship Type="http://schemas.openxmlformats.org/officeDocument/2006/relationships/extended-properties" Target="/docProps/app.xml" Id="Rdfb8d4a3585040d5" /><Relationship Type="http://schemas.openxmlformats.org/officeDocument/2006/relationships/officeDocument" Target="/ppt/presentation.xml" Id="Rbf49697000344a5b" /></Relationships>
</file>

<file path=ppt/presentation.xml><?xml version="1.0" encoding="utf-8"?>
<p:presentation xmlns:p="http://schemas.openxmlformats.org/presentationml/2006/main">
  <p:sldMasterIdLst>
    <p:sldMasterId xmlns:r="http://schemas.openxmlformats.org/officeDocument/2006/relationships" id="2147483648" r:id="R112578488c214698"/>
  </p:sldMasterIdLst>
  <p:notesMasterIdLst>
    <p:notesMasterId xmlns:r="http://schemas.openxmlformats.org/officeDocument/2006/relationships" r:id="R8ecbc04d0ce443fa"/>
  </p:notesMasterIdLst>
  <p:sldIdLst>
    <p:sldId xmlns:r="http://schemas.openxmlformats.org/officeDocument/2006/relationships" id="256" r:id="Reb22d6d303e443fd"/>
    <p:sldId xmlns:r="http://schemas.openxmlformats.org/officeDocument/2006/relationships" id="257" r:id="Rffb3dde01b314007"/>
    <p:sldId xmlns:r="http://schemas.openxmlformats.org/officeDocument/2006/relationships" id="258" r:id="Re0936e9e3ee0446b"/>
    <p:sldId xmlns:r="http://schemas.openxmlformats.org/officeDocument/2006/relationships" id="259" r:id="R1be71142176b4a63"/>
    <p:sldId xmlns:r="http://schemas.openxmlformats.org/officeDocument/2006/relationships" id="260" r:id="R44e973c5facd49e0"/>
    <p:sldId xmlns:r="http://schemas.openxmlformats.org/officeDocument/2006/relationships" id="261" r:id="R6bd86084912b4788"/>
  </p:sldIdLst>
  <p:sldSz cx="9144000" cy="5143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0ed2105688496f" /><Relationship Type="http://schemas.openxmlformats.org/officeDocument/2006/relationships/slideMaster" Target="/ppt/slideMasters/slideMaster1.xml" Id="R112578488c214698" /><Relationship Type="http://schemas.openxmlformats.org/officeDocument/2006/relationships/notesMaster" Target="/ppt/notesMasters/notesMaster1.xml" Id="R8ecbc04d0ce443fa" /><Relationship Type="http://schemas.openxmlformats.org/officeDocument/2006/relationships/presProps" Target="/ppt/presProps.xml" Id="R00daacefd3094d1d" /><Relationship Type="http://schemas.openxmlformats.org/officeDocument/2006/relationships/tableStyles" Target="/ppt/tableStyles.xml" Id="R0570e8e6caea4b17" /><Relationship Type="http://schemas.openxmlformats.org/officeDocument/2006/relationships/slide" Target="/ppt/slides/slide1.xml" Id="Reb22d6d303e443fd" /><Relationship Type="http://schemas.openxmlformats.org/officeDocument/2006/relationships/slide" Target="/ppt/slides/slide2.xml" Id="Rffb3dde01b314007" /><Relationship Type="http://schemas.openxmlformats.org/officeDocument/2006/relationships/slide" Target="/ppt/slides/slide3.xml" Id="Re0936e9e3ee0446b" /><Relationship Type="http://schemas.openxmlformats.org/officeDocument/2006/relationships/slide" Target="/ppt/slides/slide4.xml" Id="R1be71142176b4a63" /><Relationship Type="http://schemas.openxmlformats.org/officeDocument/2006/relationships/slide" Target="/ppt/slides/slide5.xml" Id="R44e973c5facd49e0" /><Relationship Type="http://schemas.openxmlformats.org/officeDocument/2006/relationships/slide" Target="/ppt/slides/slide6.xml" Id="R6bd86084912b47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a7795285be43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2bbc7f70f946b7" /><Relationship Type="http://schemas.openxmlformats.org/officeDocument/2006/relationships/notesMaster" Target="/ppt/notesMasters/notesMaster1.xml" Id="R5c7f0f41a4ae40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f009a4c3584056" /><Relationship Type="http://schemas.openxmlformats.org/officeDocument/2006/relationships/notesMaster" Target="/ppt/notesMasters/notesMaster1.xml" Id="R1c1a4ed472f246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3d1c30631643dd" /><Relationship Type="http://schemas.openxmlformats.org/officeDocument/2006/relationships/notesMaster" Target="/ppt/notesMasters/notesMaster1.xml" Id="R9ad026bb23dc4a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79ca6e2330442f" /><Relationship Type="http://schemas.openxmlformats.org/officeDocument/2006/relationships/notesMaster" Target="/ppt/notesMasters/notesMaster1.xml" Id="Ra2709635b24e43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548a27ff274a00" /><Relationship Type="http://schemas.openxmlformats.org/officeDocument/2006/relationships/notesMaster" Target="/ppt/notesMasters/notesMaster1.xml" Id="R14f0ae4ff35445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98c5e37a8d4df7" /><Relationship Type="http://schemas.openxmlformats.org/officeDocument/2006/relationships/notesMaster" Target="/ppt/notesMasters/notesMaster1.xml" Id="R5b9e1094adbd4b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Ich übernehme an der Stelle, an der Stage 1 bereits einen fahrzeugbezogenen Basiswert geliefert hat. Für meinen Teil ist nur eine Sache daraus wichtig: Wir frieren die zeitliche Referenz bewusst auf Februar 2015 ein. Der Basispreis bedeutet also nicht automatisch heutiger Marktpreis, sondern Wert des konkreten Fahrzeugs unter historischen Referenzbedingungen. Ab hier lösen wir zwei getrennte Probleme. Stage 2 aktualisiert das allgemeine Gebrauchtwagenpreisniveau für ein gewähltes Bewertungsdatum. Stage 3 ergänzt danach einen vorsichtigen Effekt für Karosserieform und Monat. Die finale Rechnung bleibt transparent: Referenzwert mal CPI-Multiplikator mal Saisonfaktor.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Stage 2 haben wir eine bewusste Designentscheidung getroffen. In die Preisrechnung geht nur der CPI für gebrauchte Fahrzeuge und Trucks von FRED ein, Serie CUSR0000SETA01. Der Index misst direkt das Preisniveau unseres relevanten Marktes und wird auf den Jahresdurchschnitt 2015 gleich eins normiert. Der ursprünglich diskutierte Manheim Used Vehicle Value Index wäre fachlich attraktiv, ist aber proprietär; der CPI ist deshalb der beste frei verfügbare Proxy. Wir bauen auch keinen selbst gewichteten Composite-Index aus Zins, Arbeitslosigkeit und Stimmung. Dafür bräuchten wir ein eigenes, belastbar trainiertes Gewichtungsmodell. Diese Signale werden trotzdem gespeichert: Fed Funds, Konsumentenstimmung, Arbeitslosigkeit, Fahrzeugverkäufe, Rezessionsflag und Credit Spread stehen über get_macro_context für die spätere LLM-Erklärung bereit. Die Makrohistorie beginnt 1996. Lücken innerhalb der Reihen und noch nicht veröffentlichte Monate werden mit dem letzten verfügbaren Wert gefüllt, weil FRED typischerweise mit Verzögerung publiziert.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Formel von Stage 2 ist entsprechend einfach: Marktpreis gleich Stage-1-Referenzwert mal CPI-Multiplikator des Zieldatums. Für den Backtest verwenden wir jetzt exakt dieselbe Architektur wie in der App. Das Fahrzeug wird zuerst immer bei der festen Referenz Februar 2015 bewertet. Danach wenden wir auf jede Testzeile den CPI ihres tatsächlichen Verkaufsmonats an. Ohne diese Anpassung liegt der MAE bei 1.890,21 Dollar, mit Stage 2 bei 1.889,19 Dollar. Die Verbesserung von rund 1,02 Dollar ist klein, aber methodisch sauber: Stage 2 schadet im Referenzzeitraum nicht und gleicht die leichte Abweichung sogar etwas aus. Der Nutzen außerhalb der Trainingsperiode ist deutlich sichtbarer. Der Median der festen Referenzvorhersagen liegt bei 12.717 Dollar; mit Faktor 1,2177 ergibt das für Juni 2026 rund 15.485 Dollar. Wichtig zur Datenaktualität: Im gespeicherten Makrodatensatz ist Juni das Bewertungsdatum, aber der CPI-Wert 179,174 stammt aus April und wurde für Mai und Juni fortgeschrieben. Stage 2 modelliert ausschließlich das allgemeine Preisniveau. Die zusätzlichen Makrosignale erklären den Kontext, gehen aber nicht mit frei erfundenen Gewichten in den Preis ein.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 Stage 3 war unser erster Ansatz ein wichtiger Fehlversuch. Wir hatten rohe Monatsmediane innerhalb einer Karosserieform verglichen. Das klingt intuitiv, verwechselt aber Saison mit Fahrzeugmix. Wenn in einem Monat jüngere oder besser ausgestattete SUVs verkauft werden, steigt der Median auch ohne echten Saisoneffekt. Zusätzlich hätte der Zielmonat doppelt wirken können, einmal im ML-Modell und einmal in Stage 3. Die korrigierte Methode berechnet deshalb Residuen. Zuerst entfernen wir mit dem CPI-Multiplikator das jeweilige historische Marktpreisniveau. Dann vergleichen wir den normalisierten Verkaufspreis mit der Stage-1-Prognose bei der festen Referenz Februar 2015. Innerhalb jeder Karosserieform setzen wir die monatliche Medianabweichung relativ zum Gesamtmedian. Kleine Gruppen werden mit einer Priorstärke von 1.000 Beobachtungen Richtung eins gedämpft, die Faktoren auf 0,85 bis 1,15 begrenzt. Eine Best- oder Worst-Month-Empfehlung gibt es nur, wenn mindestens zwei Monate jeweils wenigstens 100 Beobachtungen besitzen.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Saisonregel wurde mit einem getrennten 80-zu-20-Test geprüft. Die Faktoren entstehen nur aus 423.984 Trainingszeilen und werden auf 105.806 andere Zeilen angewendet. Der MAE sinkt von 1.895,03 auf 1.870,20 Dollar, also um 24,82 Dollar oder 1,31 Prozent. Der Effekt ist klein, aber stabil und konservativ. Bei großen Segmenten sehen wir zum Beispiel Sedans im März bei plus 3,8 Prozent und im Dezember bei minus 7,1 Prozent. SUVs liegen im März bei plus 2,9 und im Dezember bei minus 8,4 Prozent. Entscheidend ist auch, was wir nicht behaupten: Historische Verkäufe liegen nur für Januar bis Juli und Dezember vor. August bis November fehlen komplett, erhalten exakt Faktor 1,0000 und werden als ohne Daten markiert. Von 45 Karosserieformen erfüllen nur 20 die Mindestanforderung für einen echten Best- und Worst-Month-Vergleich; 25 zeigen ausdrücklich keine belastbare Empfehlung. Insgesamt nutzen wir 529.790 Verkäufe, aber fast ausschließlich aus Dezember 2014 bis Juli 2015. Stage 3 ist deshalb eine nachvollziehbare Heuristik, kein kausaler oder über viele Jahre replizierter Saisonnachweis.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aktuelle Arbeitsstand ist damit: Stage 2 und Stage 3 sind implementiert, evaluiert und in die Streamlit-App integriert. Nutzer wählen Fahrzeug und ein Bewertungsdatum zwischen 1996 und 2026. Die App zeigt getrennt den Referenzwert, den CPI-Marktpreis, den Saisonfaktor und den finalen Preis. Dazu kommen – nur bei ausreichender Vergleichsbasis – der beste Verkaufsmonat, die Datenbasis für alle zwölf Monate und der vollständige Makrokontext. Geprüft wurden 540 eindeutige Faktorzeilen für 45 Karosserieformen, gültige Faktorgrenzen, korrekte Vertrauensklassen, der 80-zu-20-Test, seltene Karosserieformen ohne Scheingenauigkeit und speziell August mit Faktor 1,0000 samt Warnhinweis. Offen sind jetzt vor allem eine Preisrange statt nur eines Punktwerts, Training von Stage 1 auf dem Vollbestand und die LLM-Orchestrierung. Das LLM soll dabei keine Preise erfinden, sondern die bereits berechneten Stufen und die zusätzlichen Makrosignale verständlich erklären.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84a005bba7487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0c5e16167d448c" /><Relationship Type="http://schemas.openxmlformats.org/officeDocument/2006/relationships/slideLayout" Target="/ppt/slideLayouts/slideLayout1.xml" Id="R2fb39157078a451d"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b39157078a451d"/>
  </p:sldLayoutIdLst>
  <p:hf sldNum="0" hdr="0" ftr="0" dt="0"/>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2c8e380ffe4ce0" /><Relationship Type="http://schemas.openxmlformats.org/officeDocument/2006/relationships/notesSlide" Target="/ppt/notesSlides/notesSlide1.xml" Id="R566ad890f6a84c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620c4cbcabd4293" /><Relationship Type="http://schemas.openxmlformats.org/officeDocument/2006/relationships/notesSlide" Target="/ppt/notesSlides/notesSlide2.xml" Id="R7e6483db45014e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1de89262eab4fa7" /><Relationship Type="http://schemas.openxmlformats.org/officeDocument/2006/relationships/notesSlide" Target="/ppt/notesSlides/notesSlide3.xml" Id="Reda5eb7947154a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a9e3169dcf2419b" /><Relationship Type="http://schemas.openxmlformats.org/officeDocument/2006/relationships/notesSlide" Target="/ppt/notesSlides/notesSlide4.xml" Id="Rdae8ddae2c9741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3e72e30cc247a1" /><Relationship Type="http://schemas.openxmlformats.org/officeDocument/2006/relationships/notesSlide" Target="/ppt/notesSlides/notesSlide5.xml" Id="R3cf32a99ad6847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06e0777ab844994" /><Relationship Type="http://schemas.openxmlformats.org/officeDocument/2006/relationships/notesSlide" Target="/ppt/notesSlides/notesSlide6.xml" Id="Rab64918e7b384e28" /></Relationships>
</file>

<file path=ppt/slides/slide1.xml><?xml version="1.0" encoding="utf-8"?>
<p:sld xmlns:p="http://schemas.openxmlformats.org/presentationml/2006/main">
  <p:cSld>
    <p:bg>
      <p:bgPr>
        <a:solidFill xmlns:a="http://schemas.openxmlformats.org/drawingml/2006/main">
          <a:srgbClr val="0F224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70EF51-4D70-4CDD-A5D7-56C3677E42C0}"/>
              </a:ext>
            </a:extLst>
          </p:cNvPr>
          <p:cNvSpPr>
            <a:spLocks xmlns:a="http://schemas.openxmlformats.org/drawingml/2006/main" noGrp="1"/>
          </p:cNvSpPr>
          <p:nvPr/>
        </p:nvSpPr>
        <p:spPr>
          <a:xfrm xmlns:a="http://schemas.openxmlformats.org/drawingml/2006/main">
            <a:off x="457200" y="228600"/>
            <a:ext cx="8229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FFFFF"/>
                </a:solidFill>
                <a:latin typeface="Calibri"/>
                <a:ea typeface="Calibri"/>
                <a:cs typeface="Calibri"/>
              </a:rPr>
              <a:t>Übergabe: Aus Basiswert wird Marktpreis</a:t>
            </a:r>
          </a:p>
        </p:txBody>
      </p:sp>
      <p:sp>
        <p:nvSpPr>
          <p:cNvPr id="3" name="Shape 1">
            <a:extLst xmlns:a="http://schemas.openxmlformats.org/drawingml/2006/main">
              <a:ext uri="{FF2B5EF4-FFF2-40B4-BE49-F238E27FC236}">
                <a16:creationId xmlns:a16="http://schemas.microsoft.com/office/drawing/2014/main" id="{084A96E1-BFD8-475C-825A-089F2E78DAA6}"/>
              </a:ext>
            </a:extLst>
          </p:cNvPr>
          <p:cNvSpPr>
            <a:spLocks xmlns:a="http://schemas.openxmlformats.org/drawingml/2006/main" noGrp="1"/>
          </p:cNvSpPr>
          <p:nvPr/>
        </p:nvSpPr>
        <p:spPr>
          <a:xfrm xmlns:a="http://schemas.openxmlformats.org/drawingml/2006/main">
            <a:off x="320040" y="868680"/>
            <a:ext cx="2743200" cy="3931920"/>
          </a:xfrm>
          <a:prstGeom xmlns:a="http://schemas.openxmlformats.org/drawingml/2006/main" prst="rect">
            <a:avLst/>
          </a:prstGeom>
          <a:solidFill xmlns:a="http://schemas.openxmlformats.org/drawingml/2006/main">
            <a:srgbClr val="162D4A"/>
          </a:solidFill>
          <a:ln xmlns:a="http://schemas.openxmlformats.org/drawingml/2006/main" w="12700">
            <a:solidFill>
              <a:srgbClr val="162D4A"/>
            </a:solidFill>
            <a:prstDash val="solid"/>
          </a:ln>
          <a:effectLst xmlns:a="http://schemas.openxmlformats.org/drawingml/2006/main">
            <a:outerShdw blurRad="152400" dist="50800" dir="8100000" sx="100000" sy="100000" kx="0" ky="0" algn="bl" rotWithShape="0">
              <a:srgbClr val="000000">
                <a:alpha val="35000"/>
              </a:srgbClr>
            </a:outerShdw>
          </a:effectLst>
        </p:spPr>
      </p:sp>
      <p:sp>
        <p:nvSpPr>
          <p:cNvPr id="4" name="Shape 2">
            <a:extLst xmlns:a="http://schemas.openxmlformats.org/drawingml/2006/main">
              <a:ext uri="{FF2B5EF4-FFF2-40B4-BE49-F238E27FC236}">
                <a16:creationId xmlns:a16="http://schemas.microsoft.com/office/drawing/2014/main" id="{639B35E0-B0EF-4BBA-8CC1-2894154D2556}"/>
              </a:ext>
            </a:extLst>
          </p:cNvPr>
          <p:cNvSpPr>
            <a:spLocks xmlns:a="http://schemas.openxmlformats.org/drawingml/2006/main" noGrp="1"/>
          </p:cNvSpPr>
          <p:nvPr/>
        </p:nvSpPr>
        <p:spPr>
          <a:xfrm xmlns:a="http://schemas.openxmlformats.org/drawingml/2006/main">
            <a:off x="320040" y="868680"/>
            <a:ext cx="2743200" cy="73152"/>
          </a:xfrm>
          <a:prstGeom xmlns:a="http://schemas.openxmlformats.org/drawingml/2006/main" prst="rect">
            <a:avLst/>
          </a:prstGeom>
          <a:solidFill xmlns:a="http://schemas.openxmlformats.org/drawingml/2006/main">
            <a:srgbClr val="0D9488"/>
          </a:solidFill>
          <a:ln xmlns:a="http://schemas.openxmlformats.org/drawingml/2006/main" w="12700">
            <a:solidFill>
              <a:srgbClr val="0D9488"/>
            </a:solidFill>
            <a:prstDash val="solid"/>
          </a:ln>
        </p:spPr>
      </p:sp>
      <p:sp>
        <p:nvSpPr>
          <p:cNvPr id="5" name="Shape 3">
            <a:extLst xmlns:a="http://schemas.openxmlformats.org/drawingml/2006/main">
              <a:ext uri="{FF2B5EF4-FFF2-40B4-BE49-F238E27FC236}">
                <a16:creationId xmlns:a16="http://schemas.microsoft.com/office/drawing/2014/main" id="{E7364804-FBBB-4306-A544-282B1BF9F738}"/>
              </a:ext>
            </a:extLst>
          </p:cNvPr>
          <p:cNvSpPr>
            <a:spLocks xmlns:a="http://schemas.openxmlformats.org/drawingml/2006/main" noGrp="1"/>
          </p:cNvSpPr>
          <p:nvPr/>
        </p:nvSpPr>
        <p:spPr>
          <a:xfrm xmlns:a="http://schemas.openxmlformats.org/drawingml/2006/main">
            <a:off x="411480" y="1005840"/>
            <a:ext cx="475488" cy="475488"/>
          </a:xfrm>
          <a:prstGeom xmlns:a="http://schemas.openxmlformats.org/drawingml/2006/main" prst="ellipse">
            <a:avLst/>
          </a:prstGeom>
          <a:solidFill xmlns:a="http://schemas.openxmlformats.org/drawingml/2006/main">
            <a:srgbClr val="0D9488"/>
          </a:solidFill>
          <a:ln xmlns:a="http://schemas.openxmlformats.org/drawingml/2006/main" w="12700">
            <a:solidFill>
              <a:srgbClr val="0D9488"/>
            </a:solidFill>
            <a:prstDash val="solid"/>
          </a:ln>
        </p:spPr>
      </p:sp>
      <p:sp>
        <p:nvSpPr>
          <p:cNvPr id="6" name="Text 4">
            <a:extLst xmlns:a="http://schemas.openxmlformats.org/drawingml/2006/main">
              <a:ext uri="{FF2B5EF4-FFF2-40B4-BE49-F238E27FC236}">
                <a16:creationId xmlns:a16="http://schemas.microsoft.com/office/drawing/2014/main" id="{0B0728AC-4CCB-438B-ADB1-8FD350F8C333}"/>
              </a:ext>
            </a:extLst>
          </p:cNvPr>
          <p:cNvSpPr>
            <a:spLocks xmlns:a="http://schemas.openxmlformats.org/drawingml/2006/main" noGrp="1"/>
          </p:cNvSpPr>
          <p:nvPr/>
        </p:nvSpPr>
        <p:spPr>
          <a:xfrm xmlns:a="http://schemas.openxmlformats.org/drawingml/2006/main">
            <a:off x="411480" y="1005840"/>
            <a:ext cx="47548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alibri"/>
                <a:ea typeface="Calibri"/>
                <a:cs typeface="Calibri"/>
              </a:rPr>
              <a:t>1</a:t>
            </a:r>
          </a:p>
        </p:txBody>
      </p:sp>
      <p:sp>
        <p:nvSpPr>
          <p:cNvPr id="7" name="Text 5">
            <a:extLst xmlns:a="http://schemas.openxmlformats.org/drawingml/2006/main">
              <a:ext uri="{FF2B5EF4-FFF2-40B4-BE49-F238E27FC236}">
                <a16:creationId xmlns:a16="http://schemas.microsoft.com/office/drawing/2014/main" id="{39628EA7-78F8-47B5-AA05-D1F3A17479BB}"/>
              </a:ext>
            </a:extLst>
          </p:cNvPr>
          <p:cNvSpPr>
            <a:spLocks xmlns:a="http://schemas.openxmlformats.org/drawingml/2006/main" noGrp="1"/>
          </p:cNvSpPr>
          <p:nvPr/>
        </p:nvSpPr>
        <p:spPr>
          <a:xfrm xmlns:a="http://schemas.openxmlformats.org/drawingml/2006/main">
            <a:off x="978408" y="103327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Eingang aus Stage 1</a:t>
            </a:r>
          </a:p>
        </p:txBody>
      </p:sp>
      <p:sp>
        <p:nvSpPr>
          <p:cNvPr id="8" name="Text 6">
            <a:extLst xmlns:a="http://schemas.openxmlformats.org/drawingml/2006/main">
              <a:ext uri="{FF2B5EF4-FFF2-40B4-BE49-F238E27FC236}">
                <a16:creationId xmlns:a16="http://schemas.microsoft.com/office/drawing/2014/main" id="{A43C8A80-18D1-4313-AC4A-6767A8C4830D}"/>
              </a:ext>
            </a:extLst>
          </p:cNvPr>
          <p:cNvSpPr>
            <a:spLocks xmlns:a="http://schemas.openxmlformats.org/drawingml/2006/main" noGrp="1"/>
          </p:cNvSpPr>
          <p:nvPr/>
        </p:nvSpPr>
        <p:spPr>
          <a:xfrm xmlns:a="http://schemas.openxmlformats.org/drawingml/2006/main">
            <a:off x="978408" y="1344168"/>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0D9488"/>
                </a:solidFill>
                <a:latin typeface="Calibri"/>
                <a:ea typeface="Calibri"/>
                <a:cs typeface="Calibri"/>
              </a:rPr>
              <a:t>Feste Referenz 2015-02</a:t>
            </a:r>
          </a:p>
        </p:txBody>
      </p:sp>
      <p:sp>
        <p:nvSpPr>
          <p:cNvPr id="9" name="Text 7">
            <a:extLst xmlns:a="http://schemas.openxmlformats.org/drawingml/2006/main">
              <a:ext uri="{FF2B5EF4-FFF2-40B4-BE49-F238E27FC236}">
                <a16:creationId xmlns:a16="http://schemas.microsoft.com/office/drawing/2014/main" id="{B0A6BFB4-8088-4D84-AB47-D16A985420ED}"/>
              </a:ext>
            </a:extLst>
          </p:cNvPr>
          <p:cNvSpPr>
            <a:spLocks xmlns:a="http://schemas.openxmlformats.org/drawingml/2006/main" noGrp="1"/>
          </p:cNvSpPr>
          <p:nvPr/>
        </p:nvSpPr>
        <p:spPr>
          <a:xfrm xmlns:a="http://schemas.openxmlformats.org/drawingml/2006/main">
            <a:off x="457200" y="1783080"/>
            <a:ext cx="246888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solidFill>
                  <a:srgbClr val="D9E3F0"/>
                </a:solidFill>
              </a:defRPr>
            </a:pPr>
            <a:r>
              <a:rPr sz="1100">
                <a:solidFill>
                  <a:srgbClr val="D9E3F0"/>
                </a:solidFill>
                <a:latin typeface="Calibri"/>
                <a:ea typeface="Calibri"/>
                <a:cs typeface="Calibri"/>
              </a:rPr>
              <a:t>Bereits berechnet:</a:t>
            </a:r>
          </a:p>
          <a:p xmlns:a="http://schemas.openxmlformats.org/drawingml/2006/main">
            <a:pPr marL="0" indent="0">
              <a:buNone/>
              <a:defRPr>
                <a:solidFill>
                  <a:srgbClr val="D9E3F0"/>
                </a:solidFill>
              </a:defRPr>
            </a:pPr>
            <a:r>
              <a:rPr sz="1100">
                <a:solidFill>
                  <a:srgbClr val="D9E3F0"/>
                </a:solidFill>
                <a:latin typeface="Calibri"/>
                <a:ea typeface="Calibri"/>
                <a:cs typeface="Calibri"/>
              </a:rPr>
              <a:t>fahrzeugbezogener Referenzwert</a:t>
            </a:r>
          </a:p>
          <a:p xmlns:a="http://schemas.openxmlformats.org/drawingml/2006/main">
            <a:pPr marL="0" indent="0">
              <a:buNone/>
            </a:pPr>
            <a:r>
              <a:rPr sz="1100">
                <a:solidFill>
                  <a:srgbClr val="CBD5E1"/>
                </a:solidFill>
                <a:latin typeface="Calibri"/>
                <a:ea typeface="Calibri"/>
                <a:cs typeface="Calibri"/>
              </a:rPr>
              <a:t/>
            </a:r>
          </a:p>
          <a:p xmlns:a="http://schemas.openxmlformats.org/drawingml/2006/main">
            <a:pPr marL="0" indent="0">
              <a:buNone/>
              <a:defRPr>
                <a:solidFill>
                  <a:srgbClr val="D9E3F0"/>
                </a:solidFill>
              </a:defRPr>
            </a:pPr>
            <a:r>
              <a:rPr>
                <a:solidFill>
                  <a:srgbClr val="D9E3F0"/>
                </a:solidFill>
              </a:rPr>
              <a:t>Ab hier keine neue</a:t>
            </a:r>
          </a:p>
          <a:p xmlns:a="http://schemas.openxmlformats.org/drawingml/2006/main">
            <a:pPr marL="0" indent="0">
              <a:buNone/>
              <a:defRPr>
                <a:solidFill>
                  <a:srgbClr val="D9E3F0"/>
                </a:solidFill>
              </a:defRPr>
            </a:pPr>
            <a:r>
              <a:rPr sz="1100">
                <a:solidFill>
                  <a:srgbClr val="D9E3F0"/>
                </a:solidFill>
                <a:latin typeface="Calibri"/>
                <a:ea typeface="Calibri"/>
                <a:cs typeface="Calibri"/>
              </a:rPr>
              <a:t>Stage-1-Erklärung</a:t>
            </a:r>
          </a:p>
        </p:txBody>
      </p:sp>
      <p:sp>
        <p:nvSpPr>
          <p:cNvPr id="10" name="Shape 8">
            <a:extLst xmlns:a="http://schemas.openxmlformats.org/drawingml/2006/main">
              <a:ext uri="{FF2B5EF4-FFF2-40B4-BE49-F238E27FC236}">
                <a16:creationId xmlns:a16="http://schemas.microsoft.com/office/drawing/2014/main" id="{3A6BF995-98AA-4277-AE2F-B1F8CD16F72E}"/>
              </a:ext>
            </a:extLst>
          </p:cNvPr>
          <p:cNvSpPr>
            <a:spLocks xmlns:a="http://schemas.openxmlformats.org/drawingml/2006/main" noGrp="1"/>
          </p:cNvSpPr>
          <p:nvPr/>
        </p:nvSpPr>
        <p:spPr>
          <a:xfrm xmlns:a="http://schemas.openxmlformats.org/drawingml/2006/main">
            <a:off x="3090672" y="2880360"/>
            <a:ext cx="164592" cy="0"/>
          </a:xfrm>
          <a:prstGeom xmlns:a="http://schemas.openxmlformats.org/drawingml/2006/main" prst="line">
            <a:avLst/>
          </a:prstGeom>
          <a:noFill xmlns:a="http://schemas.openxmlformats.org/drawingml/2006/main"/>
          <a:ln xmlns:a="http://schemas.openxmlformats.org/drawingml/2006/main" w="25400">
            <a:solidFill>
              <a:srgbClr val="0D9488"/>
            </a:solidFill>
            <a:prstDash val="solid"/>
          </a:ln>
        </p:spPr>
      </p:sp>
      <p:sp>
        <p:nvSpPr>
          <p:cNvPr id="11" name="Text 9">
            <a:extLst xmlns:a="http://schemas.openxmlformats.org/drawingml/2006/main">
              <a:ext uri="{FF2B5EF4-FFF2-40B4-BE49-F238E27FC236}">
                <a16:creationId xmlns:a16="http://schemas.microsoft.com/office/drawing/2014/main" id="{0CA883F3-7704-4AEF-8145-D5872731DB8B}"/>
              </a:ext>
            </a:extLst>
          </p:cNvPr>
          <p:cNvSpPr>
            <a:spLocks xmlns:a="http://schemas.openxmlformats.org/drawingml/2006/main" noGrp="1"/>
          </p:cNvSpPr>
          <p:nvPr/>
        </p:nvSpPr>
        <p:spPr>
          <a:xfrm xmlns:a="http://schemas.openxmlformats.org/drawingml/2006/main">
            <a:off x="3072384" y="2743200"/>
            <a:ext cx="2011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D9488"/>
                </a:solidFill>
                <a:latin typeface="Calibri"/>
                <a:ea typeface="Calibri"/>
                <a:cs typeface="Calibri"/>
              </a:rPr>
              <a:t>→</a:t>
            </a:r>
          </a:p>
        </p:txBody>
      </p:sp>
      <p:sp>
        <p:nvSpPr>
          <p:cNvPr id="12" name="Shape 10">
            <a:extLst xmlns:a="http://schemas.openxmlformats.org/drawingml/2006/main">
              <a:ext uri="{FF2B5EF4-FFF2-40B4-BE49-F238E27FC236}">
                <a16:creationId xmlns:a16="http://schemas.microsoft.com/office/drawing/2014/main" id="{02EC944B-5116-4E47-AA00-55D145376764}"/>
              </a:ext>
            </a:extLst>
          </p:cNvPr>
          <p:cNvSpPr>
            <a:spLocks xmlns:a="http://schemas.openxmlformats.org/drawingml/2006/main" noGrp="1"/>
          </p:cNvSpPr>
          <p:nvPr/>
        </p:nvSpPr>
        <p:spPr>
          <a:xfrm xmlns:a="http://schemas.openxmlformats.org/drawingml/2006/main">
            <a:off x="3264408" y="868680"/>
            <a:ext cx="2743200" cy="3931920"/>
          </a:xfrm>
          <a:prstGeom xmlns:a="http://schemas.openxmlformats.org/drawingml/2006/main" prst="rect">
            <a:avLst/>
          </a:prstGeom>
          <a:solidFill xmlns:a="http://schemas.openxmlformats.org/drawingml/2006/main">
            <a:srgbClr val="162D4A"/>
          </a:solidFill>
          <a:ln xmlns:a="http://schemas.openxmlformats.org/drawingml/2006/main" w="12700">
            <a:solidFill>
              <a:srgbClr val="162D4A"/>
            </a:solidFill>
            <a:prstDash val="solid"/>
          </a:ln>
          <a:effectLst xmlns:a="http://schemas.openxmlformats.org/drawingml/2006/main">
            <a:outerShdw blurRad="152400" dist="50800" dir="8100000" sx="100000" sy="100000" kx="0" ky="0" algn="bl" rotWithShape="0">
              <a:srgbClr val="000000">
                <a:alpha val="35000"/>
              </a:srgbClr>
            </a:outerShdw>
          </a:effectLst>
        </p:spPr>
      </p:sp>
      <p:sp>
        <p:nvSpPr>
          <p:cNvPr id="13" name="Shape 11">
            <a:extLst xmlns:a="http://schemas.openxmlformats.org/drawingml/2006/main">
              <a:ext uri="{FF2B5EF4-FFF2-40B4-BE49-F238E27FC236}">
                <a16:creationId xmlns:a16="http://schemas.microsoft.com/office/drawing/2014/main" id="{462A1061-A8E6-4816-BD08-55414A4D4FFF}"/>
              </a:ext>
            </a:extLst>
          </p:cNvPr>
          <p:cNvSpPr>
            <a:spLocks xmlns:a="http://schemas.openxmlformats.org/drawingml/2006/main" noGrp="1"/>
          </p:cNvSpPr>
          <p:nvPr/>
        </p:nvSpPr>
        <p:spPr>
          <a:xfrm xmlns:a="http://schemas.openxmlformats.org/drawingml/2006/main">
            <a:off x="3264408" y="868680"/>
            <a:ext cx="2743200" cy="73152"/>
          </a:xfrm>
          <a:prstGeom xmlns:a="http://schemas.openxmlformats.org/drawingml/2006/main" prst="rect">
            <a:avLst/>
          </a:prstGeom>
          <a:solidFill xmlns:a="http://schemas.openxmlformats.org/drawingml/2006/main">
            <a:srgbClr val="0891B2"/>
          </a:solidFill>
          <a:ln xmlns:a="http://schemas.openxmlformats.org/drawingml/2006/main" w="12700">
            <a:solidFill>
              <a:srgbClr val="0891B2"/>
            </a:solidFill>
            <a:prstDash val="solid"/>
          </a:ln>
        </p:spPr>
      </p:sp>
      <p:sp>
        <p:nvSpPr>
          <p:cNvPr id="14" name="Shape 12">
            <a:extLst xmlns:a="http://schemas.openxmlformats.org/drawingml/2006/main">
              <a:ext uri="{FF2B5EF4-FFF2-40B4-BE49-F238E27FC236}">
                <a16:creationId xmlns:a16="http://schemas.microsoft.com/office/drawing/2014/main" id="{E6FD8D1B-C78C-4A0B-9F6D-6A60A0E3E43A}"/>
              </a:ext>
            </a:extLst>
          </p:cNvPr>
          <p:cNvSpPr>
            <a:spLocks xmlns:a="http://schemas.openxmlformats.org/drawingml/2006/main" noGrp="1"/>
          </p:cNvSpPr>
          <p:nvPr/>
        </p:nvSpPr>
        <p:spPr>
          <a:xfrm xmlns:a="http://schemas.openxmlformats.org/drawingml/2006/main">
            <a:off x="3355848" y="1005840"/>
            <a:ext cx="475488" cy="475488"/>
          </a:xfrm>
          <a:prstGeom xmlns:a="http://schemas.openxmlformats.org/drawingml/2006/main" prst="ellipse">
            <a:avLst/>
          </a:prstGeom>
          <a:solidFill xmlns:a="http://schemas.openxmlformats.org/drawingml/2006/main">
            <a:srgbClr val="0891B2"/>
          </a:solidFill>
          <a:ln xmlns:a="http://schemas.openxmlformats.org/drawingml/2006/main" w="12700">
            <a:solidFill>
              <a:srgbClr val="0891B2"/>
            </a:solidFill>
            <a:prstDash val="solid"/>
          </a:ln>
        </p:spPr>
      </p:sp>
      <p:sp>
        <p:nvSpPr>
          <p:cNvPr id="15" name="Text 13">
            <a:extLst xmlns:a="http://schemas.openxmlformats.org/drawingml/2006/main">
              <a:ext uri="{FF2B5EF4-FFF2-40B4-BE49-F238E27FC236}">
                <a16:creationId xmlns:a16="http://schemas.microsoft.com/office/drawing/2014/main" id="{003299C3-358D-4253-8340-0B677F14F370}"/>
              </a:ext>
            </a:extLst>
          </p:cNvPr>
          <p:cNvSpPr>
            <a:spLocks xmlns:a="http://schemas.openxmlformats.org/drawingml/2006/main" noGrp="1"/>
          </p:cNvSpPr>
          <p:nvPr/>
        </p:nvSpPr>
        <p:spPr>
          <a:xfrm xmlns:a="http://schemas.openxmlformats.org/drawingml/2006/main">
            <a:off x="3355848" y="1005840"/>
            <a:ext cx="47548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alibri"/>
                <a:ea typeface="Calibri"/>
                <a:cs typeface="Calibri"/>
              </a:rPr>
              <a:t>2</a:t>
            </a:r>
          </a:p>
        </p:txBody>
      </p:sp>
      <p:sp>
        <p:nvSpPr>
          <p:cNvPr id="16" name="Text 14">
            <a:extLst xmlns:a="http://schemas.openxmlformats.org/drawingml/2006/main">
              <a:ext uri="{FF2B5EF4-FFF2-40B4-BE49-F238E27FC236}">
                <a16:creationId xmlns:a16="http://schemas.microsoft.com/office/drawing/2014/main" id="{84CC535F-9BAF-42DB-A157-A0BE372D5DEE}"/>
              </a:ext>
            </a:extLst>
          </p:cNvPr>
          <p:cNvSpPr>
            <a:spLocks xmlns:a="http://schemas.openxmlformats.org/drawingml/2006/main" noGrp="1"/>
          </p:cNvSpPr>
          <p:nvPr/>
        </p:nvSpPr>
        <p:spPr>
          <a:xfrm xmlns:a="http://schemas.openxmlformats.org/drawingml/2006/main">
            <a:off x="3922776" y="103327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Stage 2 · Markt</a:t>
            </a:r>
          </a:p>
        </p:txBody>
      </p:sp>
      <p:sp>
        <p:nvSpPr>
          <p:cNvPr id="17" name="Text 15">
            <a:extLst xmlns:a="http://schemas.openxmlformats.org/drawingml/2006/main">
              <a:ext uri="{FF2B5EF4-FFF2-40B4-BE49-F238E27FC236}">
                <a16:creationId xmlns:a16="http://schemas.microsoft.com/office/drawing/2014/main" id="{8121061B-1FCC-4697-9DD2-273A577C8387}"/>
              </a:ext>
            </a:extLst>
          </p:cNvPr>
          <p:cNvSpPr>
            <a:spLocks xmlns:a="http://schemas.openxmlformats.org/drawingml/2006/main" noGrp="1"/>
          </p:cNvSpPr>
          <p:nvPr/>
        </p:nvSpPr>
        <p:spPr>
          <a:xfrm xmlns:a="http://schemas.openxmlformats.org/drawingml/2006/main">
            <a:off x="3922776" y="1344168"/>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0891B2"/>
                </a:solidFill>
                <a:latin typeface="Calibri"/>
                <a:ea typeface="Calibri"/>
                <a:cs typeface="Calibri"/>
              </a:rPr>
              <a:t>Deterministische CPI-Heuristik</a:t>
            </a:r>
          </a:p>
        </p:txBody>
      </p:sp>
      <p:sp>
        <p:nvSpPr>
          <p:cNvPr id="18" name="Text 16">
            <a:extLst xmlns:a="http://schemas.openxmlformats.org/drawingml/2006/main">
              <a:ext uri="{FF2B5EF4-FFF2-40B4-BE49-F238E27FC236}">
                <a16:creationId xmlns:a16="http://schemas.microsoft.com/office/drawing/2014/main" id="{0624F79D-6967-4C04-A2F1-BE0B9B4BF732}"/>
              </a:ext>
            </a:extLst>
          </p:cNvPr>
          <p:cNvSpPr>
            <a:spLocks xmlns:a="http://schemas.openxmlformats.org/drawingml/2006/main" noGrp="1"/>
          </p:cNvSpPr>
          <p:nvPr/>
        </p:nvSpPr>
        <p:spPr>
          <a:xfrm xmlns:a="http://schemas.openxmlformats.org/drawingml/2006/main">
            <a:off x="3401568" y="1783080"/>
            <a:ext cx="246888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solidFill>
                  <a:srgbClr val="D9E3F0"/>
                </a:solidFill>
              </a:defRPr>
            </a:pPr>
            <a:r>
              <a:rPr sz="1100">
                <a:solidFill>
                  <a:srgbClr val="D9E3F0"/>
                </a:solidFill>
                <a:latin typeface="Calibri"/>
                <a:ea typeface="Calibri"/>
                <a:cs typeface="Calibri"/>
              </a:rPr>
              <a:t>Aktualisiert das Preisniveau:</a:t>
            </a:r>
          </a:p>
          <a:p xmlns:a="http://schemas.openxmlformats.org/drawingml/2006/main">
            <a:pPr marL="0" indent="0">
              <a:buNone/>
              <a:defRPr>
                <a:solidFill>
                  <a:srgbClr val="D9E3F0"/>
                </a:solidFill>
              </a:defRPr>
            </a:pPr>
            <a:r>
              <a:rPr sz="1100">
                <a:solidFill>
                  <a:srgbClr val="D9E3F0"/>
                </a:solidFill>
                <a:latin typeface="Calibri"/>
                <a:ea typeface="Calibri"/>
                <a:cs typeface="Calibri"/>
              </a:rPr>
              <a:t>× CPI Used Cars des Zieldatums</a:t>
            </a:r>
          </a:p>
          <a:p xmlns:a="http://schemas.openxmlformats.org/drawingml/2006/main">
            <a:pPr marL="0" indent="0">
              <a:buNone/>
            </a:pPr>
            <a:r>
              <a:rPr sz="1100">
                <a:solidFill>
                  <a:srgbClr val="CBD5E1"/>
                </a:solidFill>
                <a:latin typeface="Calibri"/>
                <a:ea typeface="Calibri"/>
                <a:cs typeface="Calibri"/>
              </a:rPr>
              <a:t/>
            </a:r>
          </a:p>
          <a:p xmlns:a="http://schemas.openxmlformats.org/drawingml/2006/main">
            <a:pPr marL="0" indent="0">
              <a:buNone/>
              <a:defRPr>
                <a:solidFill>
                  <a:srgbClr val="D9E3F0"/>
                </a:solidFill>
              </a:defRPr>
            </a:pPr>
            <a:r>
              <a:rPr>
                <a:solidFill>
                  <a:srgbClr val="D9E3F0"/>
                </a:solidFill>
              </a:rPr>
              <a:t>Output: Marktpreis</a:t>
            </a:r>
          </a:p>
          <a:p xmlns:a="http://schemas.openxmlformats.org/drawingml/2006/main">
            <a:pPr marL="0" indent="0">
              <a:buNone/>
              <a:defRPr>
                <a:solidFill>
                  <a:srgbClr val="D9E3F0"/>
                </a:solidFill>
              </a:defRPr>
            </a:pPr>
            <a:r>
              <a:rPr sz="1100">
                <a:solidFill>
                  <a:srgbClr val="D9E3F0"/>
                </a:solidFill>
                <a:latin typeface="Calibri"/>
                <a:ea typeface="Calibri"/>
                <a:cs typeface="Calibri"/>
              </a:rPr>
              <a:t>für 1996–2026</a:t>
            </a:r>
          </a:p>
        </p:txBody>
      </p:sp>
      <p:sp>
        <p:nvSpPr>
          <p:cNvPr id="19" name="Shape 17">
            <a:extLst xmlns:a="http://schemas.openxmlformats.org/drawingml/2006/main">
              <a:ext uri="{FF2B5EF4-FFF2-40B4-BE49-F238E27FC236}">
                <a16:creationId xmlns:a16="http://schemas.microsoft.com/office/drawing/2014/main" id="{51DCE24C-FA32-401F-888B-7BF381330396}"/>
              </a:ext>
            </a:extLst>
          </p:cNvPr>
          <p:cNvSpPr>
            <a:spLocks xmlns:a="http://schemas.openxmlformats.org/drawingml/2006/main" noGrp="1"/>
          </p:cNvSpPr>
          <p:nvPr/>
        </p:nvSpPr>
        <p:spPr>
          <a:xfrm xmlns:a="http://schemas.openxmlformats.org/drawingml/2006/main">
            <a:off x="6035040" y="2880360"/>
            <a:ext cx="164592" cy="0"/>
          </a:xfrm>
          <a:prstGeom xmlns:a="http://schemas.openxmlformats.org/drawingml/2006/main" prst="line">
            <a:avLst/>
          </a:prstGeom>
          <a:noFill xmlns:a="http://schemas.openxmlformats.org/drawingml/2006/main"/>
          <a:ln xmlns:a="http://schemas.openxmlformats.org/drawingml/2006/main" w="25400">
            <a:solidFill>
              <a:srgbClr val="0D9488"/>
            </a:solidFill>
            <a:prstDash val="solid"/>
          </a:ln>
        </p:spPr>
      </p:sp>
      <p:sp>
        <p:nvSpPr>
          <p:cNvPr id="20" name="Text 18">
            <a:extLst xmlns:a="http://schemas.openxmlformats.org/drawingml/2006/main">
              <a:ext uri="{FF2B5EF4-FFF2-40B4-BE49-F238E27FC236}">
                <a16:creationId xmlns:a16="http://schemas.microsoft.com/office/drawing/2014/main" id="{99C2241D-9F94-48FC-9479-B739D37B6CBD}"/>
              </a:ext>
            </a:extLst>
          </p:cNvPr>
          <p:cNvSpPr>
            <a:spLocks xmlns:a="http://schemas.openxmlformats.org/drawingml/2006/main" noGrp="1"/>
          </p:cNvSpPr>
          <p:nvPr/>
        </p:nvSpPr>
        <p:spPr>
          <a:xfrm xmlns:a="http://schemas.openxmlformats.org/drawingml/2006/main">
            <a:off x="6016752" y="2743200"/>
            <a:ext cx="2011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D9488"/>
                </a:solidFill>
                <a:latin typeface="Calibri"/>
                <a:ea typeface="Calibri"/>
                <a:cs typeface="Calibri"/>
              </a:rPr>
              <a:t>→</a:t>
            </a:r>
          </a:p>
        </p:txBody>
      </p:sp>
      <p:sp>
        <p:nvSpPr>
          <p:cNvPr id="21" name="Shape 19">
            <a:extLst xmlns:a="http://schemas.openxmlformats.org/drawingml/2006/main">
              <a:ext uri="{FF2B5EF4-FFF2-40B4-BE49-F238E27FC236}">
                <a16:creationId xmlns:a16="http://schemas.microsoft.com/office/drawing/2014/main" id="{A2D92F29-1EC4-4AFC-90F7-6FA6416F91F6}"/>
              </a:ext>
            </a:extLst>
          </p:cNvPr>
          <p:cNvSpPr>
            <a:spLocks xmlns:a="http://schemas.openxmlformats.org/drawingml/2006/main" noGrp="1"/>
          </p:cNvSpPr>
          <p:nvPr/>
        </p:nvSpPr>
        <p:spPr>
          <a:xfrm xmlns:a="http://schemas.openxmlformats.org/drawingml/2006/main">
            <a:off x="6208776" y="868680"/>
            <a:ext cx="2743200" cy="3931920"/>
          </a:xfrm>
          <a:prstGeom xmlns:a="http://schemas.openxmlformats.org/drawingml/2006/main" prst="rect">
            <a:avLst/>
          </a:prstGeom>
          <a:solidFill xmlns:a="http://schemas.openxmlformats.org/drawingml/2006/main">
            <a:srgbClr val="162D4A"/>
          </a:solidFill>
          <a:ln xmlns:a="http://schemas.openxmlformats.org/drawingml/2006/main" w="12700">
            <a:solidFill>
              <a:srgbClr val="162D4A"/>
            </a:solidFill>
            <a:prstDash val="solid"/>
          </a:ln>
          <a:effectLst xmlns:a="http://schemas.openxmlformats.org/drawingml/2006/main">
            <a:outerShdw blurRad="152400" dist="50800" dir="8100000" sx="100000" sy="100000" kx="0" ky="0" algn="bl" rotWithShape="0">
              <a:srgbClr val="000000">
                <a:alpha val="35000"/>
              </a:srgbClr>
            </a:outerShdw>
          </a:effectLst>
        </p:spPr>
      </p:sp>
      <p:sp>
        <p:nvSpPr>
          <p:cNvPr id="22" name="Shape 20">
            <a:extLst xmlns:a="http://schemas.openxmlformats.org/drawingml/2006/main">
              <a:ext uri="{FF2B5EF4-FFF2-40B4-BE49-F238E27FC236}">
                <a16:creationId xmlns:a16="http://schemas.microsoft.com/office/drawing/2014/main" id="{3D546811-2EE0-4DDB-9D63-3DD23B8097FD}"/>
              </a:ext>
            </a:extLst>
          </p:cNvPr>
          <p:cNvSpPr>
            <a:spLocks xmlns:a="http://schemas.openxmlformats.org/drawingml/2006/main" noGrp="1"/>
          </p:cNvSpPr>
          <p:nvPr/>
        </p:nvSpPr>
        <p:spPr>
          <a:xfrm xmlns:a="http://schemas.openxmlformats.org/drawingml/2006/main">
            <a:off x="6208776" y="868680"/>
            <a:ext cx="2743200" cy="73152"/>
          </a:xfrm>
          <a:prstGeom xmlns:a="http://schemas.openxmlformats.org/drawingml/2006/main" prst="rect">
            <a:avLst/>
          </a:prstGeom>
          <a:solidFill xmlns:a="http://schemas.openxmlformats.org/drawingml/2006/main">
            <a:srgbClr val="7C3AED"/>
          </a:solidFill>
          <a:ln xmlns:a="http://schemas.openxmlformats.org/drawingml/2006/main" w="12700">
            <a:solidFill>
              <a:srgbClr val="7C3AED"/>
            </a:solidFill>
            <a:prstDash val="solid"/>
          </a:ln>
        </p:spPr>
      </p:sp>
      <p:sp>
        <p:nvSpPr>
          <p:cNvPr id="23" name="Shape 21">
            <a:extLst xmlns:a="http://schemas.openxmlformats.org/drawingml/2006/main">
              <a:ext uri="{FF2B5EF4-FFF2-40B4-BE49-F238E27FC236}">
                <a16:creationId xmlns:a16="http://schemas.microsoft.com/office/drawing/2014/main" id="{6810568F-BEF4-4B8D-94FB-6CA1591B9978}"/>
              </a:ext>
            </a:extLst>
          </p:cNvPr>
          <p:cNvSpPr>
            <a:spLocks xmlns:a="http://schemas.openxmlformats.org/drawingml/2006/main" noGrp="1"/>
          </p:cNvSpPr>
          <p:nvPr/>
        </p:nvSpPr>
        <p:spPr>
          <a:xfrm xmlns:a="http://schemas.openxmlformats.org/drawingml/2006/main">
            <a:off x="6300216" y="1005840"/>
            <a:ext cx="475488" cy="475488"/>
          </a:xfrm>
          <a:prstGeom xmlns:a="http://schemas.openxmlformats.org/drawingml/2006/main" prst="ellipse">
            <a:avLst/>
          </a:prstGeom>
          <a:solidFill xmlns:a="http://schemas.openxmlformats.org/drawingml/2006/main">
            <a:srgbClr val="7C3AED"/>
          </a:solidFill>
          <a:ln xmlns:a="http://schemas.openxmlformats.org/drawingml/2006/main" w="12700">
            <a:solidFill>
              <a:srgbClr val="7C3AED"/>
            </a:solidFill>
            <a:prstDash val="solid"/>
          </a:ln>
        </p:spPr>
      </p:sp>
      <p:sp>
        <p:nvSpPr>
          <p:cNvPr id="24" name="Text 22">
            <a:extLst xmlns:a="http://schemas.openxmlformats.org/drawingml/2006/main">
              <a:ext uri="{FF2B5EF4-FFF2-40B4-BE49-F238E27FC236}">
                <a16:creationId xmlns:a16="http://schemas.microsoft.com/office/drawing/2014/main" id="{B978A294-30F2-409B-9096-BC27B2868C13}"/>
              </a:ext>
            </a:extLst>
          </p:cNvPr>
          <p:cNvSpPr>
            <a:spLocks xmlns:a="http://schemas.openxmlformats.org/drawingml/2006/main" noGrp="1"/>
          </p:cNvSpPr>
          <p:nvPr/>
        </p:nvSpPr>
        <p:spPr>
          <a:xfrm xmlns:a="http://schemas.openxmlformats.org/drawingml/2006/main">
            <a:off x="6300216" y="1005840"/>
            <a:ext cx="47548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alibri"/>
                <a:ea typeface="Calibri"/>
                <a:cs typeface="Calibri"/>
              </a:rPr>
              <a:t>3</a:t>
            </a:r>
          </a:p>
        </p:txBody>
      </p:sp>
      <p:sp>
        <p:nvSpPr>
          <p:cNvPr id="25" name="Text 23">
            <a:extLst xmlns:a="http://schemas.openxmlformats.org/drawingml/2006/main">
              <a:ext uri="{FF2B5EF4-FFF2-40B4-BE49-F238E27FC236}">
                <a16:creationId xmlns:a16="http://schemas.microsoft.com/office/drawing/2014/main" id="{6CC6C70A-2725-41DD-873B-AB2C0E143784}"/>
              </a:ext>
            </a:extLst>
          </p:cNvPr>
          <p:cNvSpPr>
            <a:spLocks xmlns:a="http://schemas.openxmlformats.org/drawingml/2006/main" noGrp="1"/>
          </p:cNvSpPr>
          <p:nvPr/>
        </p:nvSpPr>
        <p:spPr>
          <a:xfrm xmlns:a="http://schemas.openxmlformats.org/drawingml/2006/main">
            <a:off x="6867144" y="103327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Stage 3 · Saison</a:t>
            </a:r>
          </a:p>
        </p:txBody>
      </p:sp>
      <p:sp>
        <p:nvSpPr>
          <p:cNvPr id="26" name="Text 24">
            <a:extLst xmlns:a="http://schemas.openxmlformats.org/drawingml/2006/main">
              <a:ext uri="{FF2B5EF4-FFF2-40B4-BE49-F238E27FC236}">
                <a16:creationId xmlns:a16="http://schemas.microsoft.com/office/drawing/2014/main" id="{B5EB2CF7-E91D-4E48-8393-91EBB8906CBA}"/>
              </a:ext>
            </a:extLst>
          </p:cNvPr>
          <p:cNvSpPr>
            <a:spLocks xmlns:a="http://schemas.openxmlformats.org/drawingml/2006/main" noGrp="1"/>
          </p:cNvSpPr>
          <p:nvPr/>
        </p:nvSpPr>
        <p:spPr>
          <a:xfrm xmlns:a="http://schemas.openxmlformats.org/drawingml/2006/main">
            <a:off x="6867144" y="1344168"/>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7C3AED"/>
                </a:solidFill>
                <a:latin typeface="Calibri"/>
                <a:ea typeface="Calibri"/>
                <a:cs typeface="Calibri"/>
              </a:rPr>
              <a:t>Bereinigte Body×Monat-Regel</a:t>
            </a:r>
          </a:p>
        </p:txBody>
      </p:sp>
      <p:sp>
        <p:nvSpPr>
          <p:cNvPr id="27" name="Text 25">
            <a:extLst xmlns:a="http://schemas.openxmlformats.org/drawingml/2006/main">
              <a:ext uri="{FF2B5EF4-FFF2-40B4-BE49-F238E27FC236}">
                <a16:creationId xmlns:a16="http://schemas.microsoft.com/office/drawing/2014/main" id="{54CE87FC-8D74-4BB8-A2C9-98F937F76160}"/>
              </a:ext>
            </a:extLst>
          </p:cNvPr>
          <p:cNvSpPr>
            <a:spLocks xmlns:a="http://schemas.openxmlformats.org/drawingml/2006/main" noGrp="1"/>
          </p:cNvSpPr>
          <p:nvPr/>
        </p:nvSpPr>
        <p:spPr>
          <a:xfrm xmlns:a="http://schemas.openxmlformats.org/drawingml/2006/main">
            <a:off x="6345936" y="1783080"/>
            <a:ext cx="246888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solidFill>
                  <a:srgbClr val="D9E3F0"/>
                </a:solidFill>
              </a:defRPr>
            </a:pPr>
            <a:r>
              <a:rPr sz="1100">
                <a:solidFill>
                  <a:srgbClr val="D9E3F0"/>
                </a:solidFill>
                <a:latin typeface="Calibri"/>
                <a:ea typeface="Calibri"/>
                <a:cs typeface="Calibri"/>
              </a:rPr>
              <a:t>Ergänzt den Timing-Effekt:</a:t>
            </a:r>
          </a:p>
          <a:p xmlns:a="http://schemas.openxmlformats.org/drawingml/2006/main">
            <a:pPr marL="0" indent="0">
              <a:buNone/>
              <a:defRPr>
                <a:solidFill>
                  <a:srgbClr val="D9E3F0"/>
                </a:solidFill>
              </a:defRPr>
            </a:pPr>
            <a:r>
              <a:rPr sz="1100">
                <a:solidFill>
                  <a:srgbClr val="D9E3F0"/>
                </a:solidFill>
                <a:latin typeface="Calibri"/>
                <a:ea typeface="Calibri"/>
                <a:cs typeface="Calibri"/>
              </a:rPr>
              <a:t>× Saisonfaktor nach Body &amp; Monat</a:t>
            </a:r>
          </a:p>
          <a:p xmlns:a="http://schemas.openxmlformats.org/drawingml/2006/main">
            <a:pPr marL="0" indent="0">
              <a:buNone/>
            </a:pPr>
            <a:r>
              <a:rPr sz="1100">
                <a:solidFill>
                  <a:srgbClr val="CBD5E1"/>
                </a:solidFill>
                <a:latin typeface="Calibri"/>
                <a:ea typeface="Calibri"/>
                <a:cs typeface="Calibri"/>
              </a:rPr>
              <a:t/>
            </a:r>
          </a:p>
          <a:p xmlns:a="http://schemas.openxmlformats.org/drawingml/2006/main">
            <a:pPr marL="0" indent="0">
              <a:buNone/>
              <a:defRPr>
                <a:solidFill>
                  <a:srgbClr val="D9E3F0"/>
                </a:solidFill>
              </a:defRPr>
            </a:pPr>
            <a:r>
              <a:rPr sz="1100">
                <a:solidFill>
                  <a:srgbClr val="D9E3F0"/>
                </a:solidFill>
                <a:latin typeface="Calibri"/>
                <a:ea typeface="Calibri"/>
                <a:cs typeface="Calibri"/>
              </a:rPr>
              <a:t>Output: finaler Preis +</a:t>
            </a:r>
          </a:p>
          <a:p xmlns:a="http://schemas.openxmlformats.org/drawingml/2006/main">
            <a:pPr marL="0" indent="0">
              <a:buNone/>
              <a:defRPr>
                <a:solidFill>
                  <a:srgbClr val="D9E3F0"/>
                </a:solidFill>
              </a:defRPr>
            </a:pPr>
            <a:r>
              <a:rPr>
                <a:solidFill>
                  <a:srgbClr val="D9E3F0"/>
                </a:solidFill>
              </a:rPr>
              <a:t>bester beobachteter Monat</a:t>
            </a:r>
          </a:p>
        </p:txBody>
      </p:sp>
      <p:sp>
        <p:nvSpPr>
          <p:cNvPr id="28" name="Shape 26">
            <a:extLst xmlns:a="http://schemas.openxmlformats.org/drawingml/2006/main">
              <a:ext uri="{FF2B5EF4-FFF2-40B4-BE49-F238E27FC236}">
                <a16:creationId xmlns:a16="http://schemas.microsoft.com/office/drawing/2014/main" id="{8E667D66-8A81-4B8C-ACFD-BB630BA9BD70}"/>
              </a:ext>
            </a:extLst>
          </p:cNvPr>
          <p:cNvSpPr>
            <a:spLocks xmlns:a="http://schemas.openxmlformats.org/drawingml/2006/main" noGrp="1"/>
          </p:cNvSpPr>
          <p:nvPr/>
        </p:nvSpPr>
        <p:spPr>
          <a:xfrm xmlns:a="http://schemas.openxmlformats.org/drawingml/2006/main">
            <a:off x="320040" y="4663440"/>
            <a:ext cx="8503920" cy="320040"/>
          </a:xfrm>
          <a:prstGeom xmlns:a="http://schemas.openxmlformats.org/drawingml/2006/main" prst="rect">
            <a:avLst/>
          </a:prstGeom>
          <a:solidFill xmlns:a="http://schemas.openxmlformats.org/drawingml/2006/main">
            <a:srgbClr val="0D1F35"/>
          </a:solidFill>
          <a:ln xmlns:a="http://schemas.openxmlformats.org/drawingml/2006/main" w="12700">
            <a:solidFill>
              <a:srgbClr val="0D1F35"/>
            </a:solidFill>
            <a:prstDash val="solid"/>
          </a:ln>
        </p:spPr>
      </p:sp>
      <p:sp>
        <p:nvSpPr>
          <p:cNvPr id="29" name="Text 27">
            <a:extLst xmlns:a="http://schemas.openxmlformats.org/drawingml/2006/main">
              <a:ext uri="{FF2B5EF4-FFF2-40B4-BE49-F238E27FC236}">
                <a16:creationId xmlns:a16="http://schemas.microsoft.com/office/drawing/2014/main" id="{F94BE29C-5DA5-4377-A9CA-78CEE24B6992}"/>
              </a:ext>
            </a:extLst>
          </p:cNvPr>
          <p:cNvSpPr>
            <a:spLocks xmlns:a="http://schemas.openxmlformats.org/drawingml/2006/main" noGrp="1"/>
          </p:cNvSpPr>
          <p:nvPr/>
        </p:nvSpPr>
        <p:spPr>
          <a:xfrm xmlns:a="http://schemas.openxmlformats.org/drawingml/2006/main">
            <a:off x="457200" y="468172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14B8A6"/>
                </a:solidFill>
                <a:latin typeface="Calibri"/>
                <a:ea typeface="Calibri"/>
                <a:cs typeface="Calibri"/>
              </a:rPr>
              <a:t>Finaler Preis  =  Referenzwert  ×  CPI-Multiplikator  ×  Saisonfaktor</a:t>
            </a:r>
          </a:p>
        </p:txBody>
      </p:sp>
    </p:spTree>
    <p:extLst>
      <p:ext uri="{BB962C8B-B14F-4D97-AF65-F5344CB8AC3E}">
        <p14:creationId xmlns:p14="http://schemas.microsoft.com/office/powerpoint/2010/main" val="4535451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47C516F-4EB3-4D1B-8CD4-16E04B55AED2}"/>
              </a:ext>
            </a:extLst>
          </p:cNvPr>
          <p:cNvSpPr>
            <a:spLocks xmlns:a="http://schemas.openxmlformats.org/drawingml/2006/main" noGrp="1"/>
          </p:cNvSpPr>
          <p:nvPr/>
        </p:nvSpPr>
        <p:spPr>
          <a:xfrm xmlns:a="http://schemas.openxmlformats.org/drawingml/2006/main">
            <a:off x="457200" y="274320"/>
            <a:ext cx="8229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2240"/>
                </a:solidFill>
                <a:latin typeface="Calibri"/>
                <a:ea typeface="Calibri"/>
                <a:cs typeface="Calibri"/>
              </a:rPr>
              <a:t>Stage 2 | CPI als Preissignal, Makros als Kontext</a:t>
            </a:r>
          </a:p>
        </p:txBody>
      </p:sp>
      <p:sp>
        <p:nvSpPr>
          <p:cNvPr id="3" name="Shape 1">
            <a:extLst xmlns:a="http://schemas.openxmlformats.org/drawingml/2006/main">
              <a:ext uri="{FF2B5EF4-FFF2-40B4-BE49-F238E27FC236}">
                <a16:creationId xmlns:a16="http://schemas.microsoft.com/office/drawing/2014/main" id="{F00448EE-FDE7-4627-8893-80C2A30AB2EA}"/>
              </a:ext>
            </a:extLst>
          </p:cNvPr>
          <p:cNvSpPr>
            <a:spLocks xmlns:a="http://schemas.openxmlformats.org/drawingml/2006/main" noGrp="1"/>
          </p:cNvSpPr>
          <p:nvPr/>
        </p:nvSpPr>
        <p:spPr>
          <a:xfrm xmlns:a="http://schemas.openxmlformats.org/drawingml/2006/main">
            <a:off x="365760" y="960120"/>
            <a:ext cx="3931920" cy="3886200"/>
          </a:xfrm>
          <a:prstGeom xmlns:a="http://schemas.openxmlformats.org/drawingml/2006/main" prst="rect">
            <a:avLst/>
          </a:prstGeom>
          <a:solidFill xmlns:a="http://schemas.openxmlformats.org/drawingml/2006/main">
            <a:srgbClr val="EFF6FF"/>
          </a:solidFill>
          <a:ln xmlns:a="http://schemas.openxmlformats.org/drawingml/2006/main" w="12700">
            <a:solidFill>
              <a:srgbClr val="BFDBFE"/>
            </a:solidFill>
            <a:prstDash val="solid"/>
          </a:ln>
          <a:effectLst xmlns:a="http://schemas.openxmlformats.org/drawingml/2006/main">
            <a:outerShdw blurRad="76200" dist="25400" dir="8100000" sx="100000" sy="100000" kx="0" ky="0" algn="bl" rotWithShape="0">
              <a:srgbClr val="000000">
                <a:alpha val="8000"/>
              </a:srgbClr>
            </a:outerShdw>
          </a:effectLst>
        </p:spPr>
      </p:sp>
      <p:sp>
        <p:nvSpPr>
          <p:cNvPr id="4" name="Text 2">
            <a:extLst xmlns:a="http://schemas.openxmlformats.org/drawingml/2006/main">
              <a:ext uri="{FF2B5EF4-FFF2-40B4-BE49-F238E27FC236}">
                <a16:creationId xmlns:a16="http://schemas.microsoft.com/office/drawing/2014/main" id="{E06C2DF2-09B2-4E8D-BE95-1306B93F01E9}"/>
              </a:ext>
            </a:extLst>
          </p:cNvPr>
          <p:cNvSpPr>
            <a:spLocks xmlns:a="http://schemas.openxmlformats.org/drawingml/2006/main" noGrp="1"/>
          </p:cNvSpPr>
          <p:nvPr/>
        </p:nvSpPr>
        <p:spPr>
          <a:xfrm xmlns:a="http://schemas.openxmlformats.org/drawingml/2006/main">
            <a:off x="502920" y="1078992"/>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2240"/>
                </a:solidFill>
                <a:latin typeface="Calibri"/>
                <a:ea typeface="Calibri"/>
                <a:cs typeface="Calibri"/>
              </a:rPr>
              <a:t>PRIMÄRES PREISSIGNAL</a:t>
            </a:r>
          </a:p>
        </p:txBody>
      </p:sp>
      <p:sp>
        <p:nvSpPr>
          <p:cNvPr id="5" name="Text 3">
            <a:extLst xmlns:a="http://schemas.openxmlformats.org/drawingml/2006/main">
              <a:ext uri="{FF2B5EF4-FFF2-40B4-BE49-F238E27FC236}">
                <a16:creationId xmlns:a16="http://schemas.microsoft.com/office/drawing/2014/main" id="{CE6A0ADB-35A7-4EC1-8803-E8BB6B18A8B1}"/>
              </a:ext>
            </a:extLst>
          </p:cNvPr>
          <p:cNvSpPr>
            <a:spLocks xmlns:a="http://schemas.openxmlformats.org/drawingml/2006/main" noGrp="1"/>
          </p:cNvSpPr>
          <p:nvPr/>
        </p:nvSpPr>
        <p:spPr>
          <a:xfrm xmlns:a="http://schemas.openxmlformats.org/drawingml/2006/main">
            <a:off x="502920" y="1508760"/>
            <a:ext cx="3657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64748B"/>
                </a:solidFill>
                <a:latin typeface="Calibri"/>
                <a:ea typeface="Calibri"/>
                <a:cs typeface="Calibri"/>
              </a:rPr>
              <a:t>CPI Used Cars &amp; Trucks · CUSR0000SETA01</a:t>
            </a:r>
          </a:p>
        </p:txBody>
      </p:sp>
      <p:sp>
        <p:nvSpPr>
          <p:cNvPr id="6" name="Text 4">
            <a:extLst xmlns:a="http://schemas.openxmlformats.org/drawingml/2006/main">
              <a:ext uri="{FF2B5EF4-FFF2-40B4-BE49-F238E27FC236}">
                <a16:creationId xmlns:a16="http://schemas.microsoft.com/office/drawing/2014/main" id="{1EC25147-D1CF-4000-8AEC-B0FC3C9E2400}"/>
              </a:ext>
            </a:extLst>
          </p:cNvPr>
          <p:cNvSpPr>
            <a:spLocks xmlns:a="http://schemas.openxmlformats.org/drawingml/2006/main" noGrp="1"/>
          </p:cNvSpPr>
          <p:nvPr/>
        </p:nvSpPr>
        <p:spPr>
          <a:xfrm xmlns:a="http://schemas.openxmlformats.org/drawingml/2006/main">
            <a:off x="548640" y="2103120"/>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buChar char="•"/>
            </a:pPr>
            <a:r>
              <a:rPr sz="1100">
                <a:solidFill>
                  <a:srgbClr val="1E293B"/>
                </a:solidFill>
                <a:latin typeface="Calibri"/>
                <a:ea typeface="Calibri"/>
                <a:cs typeface="Calibri"/>
              </a:rPr>
              <a:t>Misst direkt das relevante Marktpreisniveau</a:t>
            </a:r>
          </a:p>
        </p:txBody>
      </p:sp>
      <p:sp>
        <p:nvSpPr>
          <p:cNvPr id="7" name="Text 5">
            <a:extLst xmlns:a="http://schemas.openxmlformats.org/drawingml/2006/main">
              <a:ext uri="{FF2B5EF4-FFF2-40B4-BE49-F238E27FC236}">
                <a16:creationId xmlns:a16="http://schemas.microsoft.com/office/drawing/2014/main" id="{2144D756-0149-49FC-88EC-1A987CAF096A}"/>
              </a:ext>
            </a:extLst>
          </p:cNvPr>
          <p:cNvSpPr>
            <a:spLocks xmlns:a="http://schemas.openxmlformats.org/drawingml/2006/main" noGrp="1"/>
          </p:cNvSpPr>
          <p:nvPr/>
        </p:nvSpPr>
        <p:spPr>
          <a:xfrm xmlns:a="http://schemas.openxmlformats.org/drawingml/2006/main">
            <a:off x="548640" y="2606040"/>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buChar char="•"/>
            </a:pPr>
            <a:r>
              <a:rPr sz="1100">
                <a:solidFill>
                  <a:srgbClr val="1E293B"/>
                </a:solidFill>
                <a:latin typeface="Calibri"/>
                <a:ea typeface="Calibri"/>
                <a:cs typeface="Calibri"/>
              </a:rPr>
              <a:t>2015-Jahresmittel = neutraler Faktor 1,000</a:t>
            </a:r>
          </a:p>
        </p:txBody>
      </p:sp>
      <p:sp>
        <p:nvSpPr>
          <p:cNvPr id="8" name="Text 6">
            <a:extLst xmlns:a="http://schemas.openxmlformats.org/drawingml/2006/main">
              <a:ext uri="{FF2B5EF4-FFF2-40B4-BE49-F238E27FC236}">
                <a16:creationId xmlns:a16="http://schemas.microsoft.com/office/drawing/2014/main" id="{0FCA64AC-AEA3-4416-97AF-5C8765D9FDA4}"/>
              </a:ext>
            </a:extLst>
          </p:cNvPr>
          <p:cNvSpPr>
            <a:spLocks xmlns:a="http://schemas.openxmlformats.org/drawingml/2006/main" noGrp="1"/>
          </p:cNvSpPr>
          <p:nvPr/>
        </p:nvSpPr>
        <p:spPr>
          <a:xfrm xmlns:a="http://schemas.openxmlformats.org/drawingml/2006/main">
            <a:off x="548640" y="3108960"/>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buChar char="•"/>
            </a:pPr>
            <a:r>
              <a:rPr sz="1100">
                <a:solidFill>
                  <a:srgbClr val="1E293B"/>
                </a:solidFill>
                <a:latin typeface="Calibri"/>
                <a:ea typeface="Calibri"/>
                <a:cs typeface="Calibri"/>
              </a:rPr>
              <a:t>MUVVI proprietär → CPI als freier Proxy</a:t>
            </a:r>
          </a:p>
        </p:txBody>
      </p:sp>
      <p:sp>
        <p:nvSpPr>
          <p:cNvPr id="9" name="Text 7">
            <a:extLst xmlns:a="http://schemas.openxmlformats.org/drawingml/2006/main">
              <a:ext uri="{FF2B5EF4-FFF2-40B4-BE49-F238E27FC236}">
                <a16:creationId xmlns:a16="http://schemas.microsoft.com/office/drawing/2014/main" id="{BB950B1F-CA11-4F9A-AD13-BBC53AD2490E}"/>
              </a:ext>
            </a:extLst>
          </p:cNvPr>
          <p:cNvSpPr>
            <a:spLocks xmlns:a="http://schemas.openxmlformats.org/drawingml/2006/main" noGrp="1"/>
          </p:cNvSpPr>
          <p:nvPr/>
        </p:nvSpPr>
        <p:spPr>
          <a:xfrm xmlns:a="http://schemas.openxmlformats.org/drawingml/2006/main">
            <a:off x="548640" y="3611880"/>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buChar char="•"/>
            </a:pPr>
            <a:r>
              <a:rPr sz="1100">
                <a:solidFill>
                  <a:srgbClr val="1E293B"/>
                </a:solidFill>
                <a:latin typeface="Calibri"/>
                <a:ea typeface="Calibri"/>
                <a:cs typeface="Calibri"/>
              </a:rPr>
              <a:t>Kein Composite-Index ohne trainierte Gewichte</a:t>
            </a:r>
          </a:p>
        </p:txBody>
      </p:sp>
      <p:sp>
        <p:nvSpPr>
          <p:cNvPr id="10" name="Text 8">
            <a:extLst xmlns:a="http://schemas.openxmlformats.org/drawingml/2006/main">
              <a:ext uri="{FF2B5EF4-FFF2-40B4-BE49-F238E27FC236}">
                <a16:creationId xmlns:a16="http://schemas.microsoft.com/office/drawing/2014/main" id="{4FA81B0F-A295-4201-968C-AF70E098DD59}"/>
              </a:ext>
            </a:extLst>
          </p:cNvPr>
          <p:cNvSpPr>
            <a:spLocks xmlns:a="http://schemas.openxmlformats.org/drawingml/2006/main" noGrp="1"/>
          </p:cNvSpPr>
          <p:nvPr/>
        </p:nvSpPr>
        <p:spPr>
          <a:xfrm xmlns:a="http://schemas.openxmlformats.org/drawingml/2006/main">
            <a:off x="548640" y="4114800"/>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buChar char="•"/>
            </a:pPr>
            <a:r>
              <a:rPr sz="1100">
                <a:solidFill>
                  <a:srgbClr val="1E293B"/>
                </a:solidFill>
                <a:latin typeface="Calibri"/>
                <a:ea typeface="Calibri"/>
                <a:cs typeface="Calibri"/>
              </a:rPr>
              <a:t>Fehlende Monate → letzter verfügbarer Wert</a:t>
            </a:r>
          </a:p>
        </p:txBody>
      </p:sp>
      <p:sp>
        <p:nvSpPr>
          <p:cNvPr id="11" name="Shape 9">
            <a:extLst xmlns:a="http://schemas.openxmlformats.org/drawingml/2006/main">
              <a:ext uri="{FF2B5EF4-FFF2-40B4-BE49-F238E27FC236}">
                <a16:creationId xmlns:a16="http://schemas.microsoft.com/office/drawing/2014/main" id="{850D48A5-C383-40FC-8715-B001AEA20470}"/>
              </a:ext>
            </a:extLst>
          </p:cNvPr>
          <p:cNvSpPr>
            <a:spLocks xmlns:a="http://schemas.openxmlformats.org/drawingml/2006/main" noGrp="1"/>
          </p:cNvSpPr>
          <p:nvPr/>
        </p:nvSpPr>
        <p:spPr>
          <a:xfrm xmlns:a="http://schemas.openxmlformats.org/drawingml/2006/main">
            <a:off x="4572000" y="960120"/>
            <a:ext cx="4206240" cy="3886200"/>
          </a:xfrm>
          <a:prstGeom xmlns:a="http://schemas.openxmlformats.org/drawingml/2006/main" prst="rect">
            <a:avLst/>
          </a:prstGeom>
          <a:solidFill xmlns:a="http://schemas.openxmlformats.org/drawingml/2006/main">
            <a:srgbClr val="F0FDFA"/>
          </a:solidFill>
          <a:ln xmlns:a="http://schemas.openxmlformats.org/drawingml/2006/main" w="12700">
            <a:solidFill>
              <a:srgbClr val="99F6E4"/>
            </a:solidFill>
            <a:prstDash val="solid"/>
          </a:ln>
          <a:effectLst xmlns:a="http://schemas.openxmlformats.org/drawingml/2006/main">
            <a:outerShdw blurRad="76200" dist="25400" dir="8100000" sx="100000" sy="100000" kx="0" ky="0" algn="bl" rotWithShape="0">
              <a:srgbClr val="000000">
                <a:alpha val="8000"/>
              </a:srgbClr>
            </a:outerShdw>
          </a:effectLst>
        </p:spPr>
      </p:sp>
      <p:sp>
        <p:nvSpPr>
          <p:cNvPr id="12" name="Text 10">
            <a:extLst xmlns:a="http://schemas.openxmlformats.org/drawingml/2006/main">
              <a:ext uri="{FF2B5EF4-FFF2-40B4-BE49-F238E27FC236}">
                <a16:creationId xmlns:a16="http://schemas.microsoft.com/office/drawing/2014/main" id="{E6B859BB-619A-4EBF-B3A9-72484AF46A92}"/>
              </a:ext>
            </a:extLst>
          </p:cNvPr>
          <p:cNvSpPr>
            <a:spLocks xmlns:a="http://schemas.openxmlformats.org/drawingml/2006/main" noGrp="1"/>
          </p:cNvSpPr>
          <p:nvPr/>
        </p:nvSpPr>
        <p:spPr>
          <a:xfrm xmlns:a="http://schemas.openxmlformats.org/drawingml/2006/main">
            <a:off x="4709160" y="1078992"/>
            <a:ext cx="3931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2240"/>
                </a:solidFill>
                <a:latin typeface="Calibri"/>
                <a:ea typeface="Calibri"/>
                <a:cs typeface="Calibri"/>
              </a:rPr>
              <a:t>KONTEXT FÜR DIE LLM-SCHICHT</a:t>
            </a:r>
          </a:p>
        </p:txBody>
      </p:sp>
      <p:sp>
        <p:nvSpPr>
          <p:cNvPr id="13" name="Text 11">
            <a:extLst xmlns:a="http://schemas.openxmlformats.org/drawingml/2006/main">
              <a:ext uri="{FF2B5EF4-FFF2-40B4-BE49-F238E27FC236}">
                <a16:creationId xmlns:a16="http://schemas.microsoft.com/office/drawing/2014/main" id="{C4374AB7-1E09-41E8-AF78-6C1CADDD2455}"/>
              </a:ext>
            </a:extLst>
          </p:cNvPr>
          <p:cNvSpPr>
            <a:spLocks xmlns:a="http://schemas.openxmlformats.org/drawingml/2006/main" noGrp="1"/>
          </p:cNvSpPr>
          <p:nvPr/>
        </p:nvSpPr>
        <p:spPr>
          <a:xfrm xmlns:a="http://schemas.openxmlformats.org/drawingml/2006/main">
            <a:off x="4709160" y="1508760"/>
            <a:ext cx="3931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64748B"/>
                </a:solidFill>
                <a:latin typeface="Calibri"/>
                <a:ea typeface="Calibri"/>
                <a:cs typeface="Calibri"/>
              </a:rPr>
              <a:t>macro_index.csv · monatlich 1996–2026</a:t>
            </a:r>
          </a:p>
        </p:txBody>
      </p:sp>
      <p:sp>
        <p:nvSpPr>
          <p:cNvPr id="14" name="Shape 12">
            <a:extLst xmlns:a="http://schemas.openxmlformats.org/drawingml/2006/main">
              <a:ext uri="{FF2B5EF4-FFF2-40B4-BE49-F238E27FC236}">
                <a16:creationId xmlns:a16="http://schemas.microsoft.com/office/drawing/2014/main" id="{26788EC8-EBC9-48AC-ABA2-DB0E6BE393C7}"/>
              </a:ext>
            </a:extLst>
          </p:cNvPr>
          <p:cNvSpPr>
            <a:spLocks xmlns:a="http://schemas.openxmlformats.org/drawingml/2006/main" noGrp="1"/>
          </p:cNvSpPr>
          <p:nvPr/>
        </p:nvSpPr>
        <p:spPr>
          <a:xfrm xmlns:a="http://schemas.openxmlformats.org/drawingml/2006/main">
            <a:off x="4663440" y="1901952"/>
            <a:ext cx="36576" cy="274320"/>
          </a:xfrm>
          <a:prstGeom xmlns:a="http://schemas.openxmlformats.org/drawingml/2006/main" prst="rect">
            <a:avLst/>
          </a:prstGeom>
          <a:solidFill xmlns:a="http://schemas.openxmlformats.org/drawingml/2006/main">
            <a:srgbClr val="0D9488"/>
          </a:solidFill>
          <a:ln xmlns:a="http://schemas.openxmlformats.org/drawingml/2006/main" w="12700">
            <a:solidFill>
              <a:srgbClr val="0D9488"/>
            </a:solidFill>
            <a:prstDash val="solid"/>
          </a:ln>
        </p:spPr>
      </p:sp>
      <p:sp>
        <p:nvSpPr>
          <p:cNvPr id="15" name="Text 13">
            <a:extLst xmlns:a="http://schemas.openxmlformats.org/drawingml/2006/main">
              <a:ext uri="{FF2B5EF4-FFF2-40B4-BE49-F238E27FC236}">
                <a16:creationId xmlns:a16="http://schemas.microsoft.com/office/drawing/2014/main" id="{10686300-8956-440E-9CAC-5C314BE32CDA}"/>
              </a:ext>
            </a:extLst>
          </p:cNvPr>
          <p:cNvSpPr>
            <a:spLocks xmlns:a="http://schemas.openxmlformats.org/drawingml/2006/main" noGrp="1"/>
          </p:cNvSpPr>
          <p:nvPr/>
        </p:nvSpPr>
        <p:spPr>
          <a:xfrm xmlns:a="http://schemas.openxmlformats.org/drawingml/2006/main">
            <a:off x="4773168" y="1883664"/>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1E293B"/>
                </a:solidFill>
                <a:latin typeface="Calibri"/>
                <a:ea typeface="Calibri"/>
                <a:cs typeface="Calibri"/>
              </a:rPr>
              <a:t>get_macro_context()</a:t>
            </a:r>
          </a:p>
        </p:txBody>
      </p:sp>
      <p:sp>
        <p:nvSpPr>
          <p:cNvPr id="16" name="Text 14">
            <a:extLst xmlns:a="http://schemas.openxmlformats.org/drawingml/2006/main">
              <a:ext uri="{FF2B5EF4-FFF2-40B4-BE49-F238E27FC236}">
                <a16:creationId xmlns:a16="http://schemas.microsoft.com/office/drawing/2014/main" id="{A8149A01-B55D-44FF-9304-4B8CED7E97A4}"/>
              </a:ext>
            </a:extLst>
          </p:cNvPr>
          <p:cNvSpPr>
            <a:spLocks xmlns:a="http://schemas.openxmlformats.org/drawingml/2006/main" noGrp="1"/>
          </p:cNvSpPr>
          <p:nvPr/>
        </p:nvSpPr>
        <p:spPr>
          <a:xfrm xmlns:a="http://schemas.openxmlformats.org/drawingml/2006/main">
            <a:off x="6583680" y="1883664"/>
            <a:ext cx="2011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4748B"/>
                </a:solidFill>
                <a:latin typeface="Calibri"/>
                <a:ea typeface="Calibri"/>
                <a:cs typeface="Calibri"/>
              </a:rPr>
              <a:t>vollständiger Snapshot des Zielmonats</a:t>
            </a:r>
          </a:p>
        </p:txBody>
      </p:sp>
      <p:sp>
        <p:nvSpPr>
          <p:cNvPr id="17" name="Shape 15">
            <a:extLst xmlns:a="http://schemas.openxmlformats.org/drawingml/2006/main">
              <a:ext uri="{FF2B5EF4-FFF2-40B4-BE49-F238E27FC236}">
                <a16:creationId xmlns:a16="http://schemas.microsoft.com/office/drawing/2014/main" id="{EFB37482-6B80-48C9-B33F-346359EF8A53}"/>
              </a:ext>
            </a:extLst>
          </p:cNvPr>
          <p:cNvSpPr>
            <a:spLocks xmlns:a="http://schemas.openxmlformats.org/drawingml/2006/main" noGrp="1"/>
          </p:cNvSpPr>
          <p:nvPr/>
        </p:nvSpPr>
        <p:spPr>
          <a:xfrm xmlns:a="http://schemas.openxmlformats.org/drawingml/2006/main">
            <a:off x="4663440" y="2322576"/>
            <a:ext cx="36576" cy="274320"/>
          </a:xfrm>
          <a:prstGeom xmlns:a="http://schemas.openxmlformats.org/drawingml/2006/main" prst="rect">
            <a:avLst/>
          </a:prstGeom>
          <a:solidFill xmlns:a="http://schemas.openxmlformats.org/drawingml/2006/main">
            <a:srgbClr val="0D9488"/>
          </a:solidFill>
          <a:ln xmlns:a="http://schemas.openxmlformats.org/drawingml/2006/main" w="12700">
            <a:solidFill>
              <a:srgbClr val="0D9488"/>
            </a:solidFill>
            <a:prstDash val="solid"/>
          </a:ln>
        </p:spPr>
      </p:sp>
      <p:sp>
        <p:nvSpPr>
          <p:cNvPr id="18" name="Text 16">
            <a:extLst xmlns:a="http://schemas.openxmlformats.org/drawingml/2006/main">
              <a:ext uri="{FF2B5EF4-FFF2-40B4-BE49-F238E27FC236}">
                <a16:creationId xmlns:a16="http://schemas.microsoft.com/office/drawing/2014/main" id="{BEB08404-E10F-4521-A325-5A21122DF728}"/>
              </a:ext>
            </a:extLst>
          </p:cNvPr>
          <p:cNvSpPr>
            <a:spLocks xmlns:a="http://schemas.openxmlformats.org/drawingml/2006/main" noGrp="1"/>
          </p:cNvSpPr>
          <p:nvPr/>
        </p:nvSpPr>
        <p:spPr>
          <a:xfrm xmlns:a="http://schemas.openxmlformats.org/drawingml/2006/main">
            <a:off x="4773168" y="2304288"/>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1E293B"/>
                </a:solidFill>
                <a:latin typeface="Calibri"/>
                <a:ea typeface="Calibri"/>
                <a:cs typeface="Calibri"/>
              </a:rPr>
              <a:t>fedfunds</a:t>
            </a:r>
          </a:p>
        </p:txBody>
      </p:sp>
      <p:sp>
        <p:nvSpPr>
          <p:cNvPr id="19" name="Text 17">
            <a:extLst xmlns:a="http://schemas.openxmlformats.org/drawingml/2006/main">
              <a:ext uri="{FF2B5EF4-FFF2-40B4-BE49-F238E27FC236}">
                <a16:creationId xmlns:a16="http://schemas.microsoft.com/office/drawing/2014/main" id="{472D640A-CB53-4EE5-B710-0059087A8E3F}"/>
              </a:ext>
            </a:extLst>
          </p:cNvPr>
          <p:cNvSpPr>
            <a:spLocks xmlns:a="http://schemas.openxmlformats.org/drawingml/2006/main" noGrp="1"/>
          </p:cNvSpPr>
          <p:nvPr/>
        </p:nvSpPr>
        <p:spPr>
          <a:xfrm xmlns:a="http://schemas.openxmlformats.org/drawingml/2006/main">
            <a:off x="6583680" y="2304288"/>
            <a:ext cx="2011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4748B"/>
                </a:solidFill>
                <a:latin typeface="Calibri"/>
                <a:ea typeface="Calibri"/>
                <a:cs typeface="Calibri"/>
              </a:rPr>
              <a:t>Kreditkosten / Nachfrage</a:t>
            </a:r>
          </a:p>
        </p:txBody>
      </p:sp>
      <p:sp>
        <p:nvSpPr>
          <p:cNvPr id="20" name="Shape 18">
            <a:extLst xmlns:a="http://schemas.openxmlformats.org/drawingml/2006/main">
              <a:ext uri="{FF2B5EF4-FFF2-40B4-BE49-F238E27FC236}">
                <a16:creationId xmlns:a16="http://schemas.microsoft.com/office/drawing/2014/main" id="{737F391B-2B97-48F2-8729-55F914C922F9}"/>
              </a:ext>
            </a:extLst>
          </p:cNvPr>
          <p:cNvSpPr>
            <a:spLocks xmlns:a="http://schemas.openxmlformats.org/drawingml/2006/main" noGrp="1"/>
          </p:cNvSpPr>
          <p:nvPr/>
        </p:nvSpPr>
        <p:spPr>
          <a:xfrm xmlns:a="http://schemas.openxmlformats.org/drawingml/2006/main">
            <a:off x="4663440" y="2743200"/>
            <a:ext cx="36576" cy="274320"/>
          </a:xfrm>
          <a:prstGeom xmlns:a="http://schemas.openxmlformats.org/drawingml/2006/main" prst="rect">
            <a:avLst/>
          </a:prstGeom>
          <a:solidFill xmlns:a="http://schemas.openxmlformats.org/drawingml/2006/main">
            <a:srgbClr val="0D9488"/>
          </a:solidFill>
          <a:ln xmlns:a="http://schemas.openxmlformats.org/drawingml/2006/main" w="12700">
            <a:solidFill>
              <a:srgbClr val="0D9488"/>
            </a:solidFill>
            <a:prstDash val="solid"/>
          </a:ln>
        </p:spPr>
      </p:sp>
      <p:sp>
        <p:nvSpPr>
          <p:cNvPr id="21" name="Text 19">
            <a:extLst xmlns:a="http://schemas.openxmlformats.org/drawingml/2006/main">
              <a:ext uri="{FF2B5EF4-FFF2-40B4-BE49-F238E27FC236}">
                <a16:creationId xmlns:a16="http://schemas.microsoft.com/office/drawing/2014/main" id="{61F308AA-8703-452B-9222-24986AA134D4}"/>
              </a:ext>
            </a:extLst>
          </p:cNvPr>
          <p:cNvSpPr>
            <a:spLocks xmlns:a="http://schemas.openxmlformats.org/drawingml/2006/main" noGrp="1"/>
          </p:cNvSpPr>
          <p:nvPr/>
        </p:nvSpPr>
        <p:spPr>
          <a:xfrm xmlns:a="http://schemas.openxmlformats.org/drawingml/2006/main">
            <a:off x="4773168" y="2724912"/>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1E293B"/>
                </a:solidFill>
                <a:latin typeface="Calibri"/>
                <a:ea typeface="Calibri"/>
                <a:cs typeface="Calibri"/>
              </a:rPr>
              <a:t>consumer_sentiment</a:t>
            </a:r>
          </a:p>
        </p:txBody>
      </p:sp>
      <p:sp>
        <p:nvSpPr>
          <p:cNvPr id="22" name="Text 20">
            <a:extLst xmlns:a="http://schemas.openxmlformats.org/drawingml/2006/main">
              <a:ext uri="{FF2B5EF4-FFF2-40B4-BE49-F238E27FC236}">
                <a16:creationId xmlns:a16="http://schemas.microsoft.com/office/drawing/2014/main" id="{39290018-0B4E-498F-B0A4-243EF29CE74B}"/>
              </a:ext>
            </a:extLst>
          </p:cNvPr>
          <p:cNvSpPr>
            <a:spLocks xmlns:a="http://schemas.openxmlformats.org/drawingml/2006/main" noGrp="1"/>
          </p:cNvSpPr>
          <p:nvPr/>
        </p:nvSpPr>
        <p:spPr>
          <a:xfrm xmlns:a="http://schemas.openxmlformats.org/drawingml/2006/main">
            <a:off x="6583680" y="2724912"/>
            <a:ext cx="2011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4748B"/>
                </a:solidFill>
                <a:latin typeface="Calibri"/>
                <a:ea typeface="Calibri"/>
                <a:cs typeface="Calibri"/>
              </a:rPr>
              <a:t>Kaufbereitschaft</a:t>
            </a:r>
          </a:p>
        </p:txBody>
      </p:sp>
      <p:sp>
        <p:nvSpPr>
          <p:cNvPr id="23" name="Shape 21">
            <a:extLst xmlns:a="http://schemas.openxmlformats.org/drawingml/2006/main">
              <a:ext uri="{FF2B5EF4-FFF2-40B4-BE49-F238E27FC236}">
                <a16:creationId xmlns:a16="http://schemas.microsoft.com/office/drawing/2014/main" id="{11391150-2578-489A-A8C7-4AB520E53EC0}"/>
              </a:ext>
            </a:extLst>
          </p:cNvPr>
          <p:cNvSpPr>
            <a:spLocks xmlns:a="http://schemas.openxmlformats.org/drawingml/2006/main" noGrp="1"/>
          </p:cNvSpPr>
          <p:nvPr/>
        </p:nvSpPr>
        <p:spPr>
          <a:xfrm xmlns:a="http://schemas.openxmlformats.org/drawingml/2006/main">
            <a:off x="4663440" y="3163824"/>
            <a:ext cx="36576" cy="274320"/>
          </a:xfrm>
          <a:prstGeom xmlns:a="http://schemas.openxmlformats.org/drawingml/2006/main" prst="rect">
            <a:avLst/>
          </a:prstGeom>
          <a:solidFill xmlns:a="http://schemas.openxmlformats.org/drawingml/2006/main">
            <a:srgbClr val="0D9488"/>
          </a:solidFill>
          <a:ln xmlns:a="http://schemas.openxmlformats.org/drawingml/2006/main" w="12700">
            <a:solidFill>
              <a:srgbClr val="0D9488"/>
            </a:solidFill>
            <a:prstDash val="solid"/>
          </a:ln>
        </p:spPr>
      </p:sp>
      <p:sp>
        <p:nvSpPr>
          <p:cNvPr id="24" name="Text 22">
            <a:extLst xmlns:a="http://schemas.openxmlformats.org/drawingml/2006/main">
              <a:ext uri="{FF2B5EF4-FFF2-40B4-BE49-F238E27FC236}">
                <a16:creationId xmlns:a16="http://schemas.microsoft.com/office/drawing/2014/main" id="{7E1B6E5A-94FA-4313-A8B5-189E6DED605D}"/>
              </a:ext>
            </a:extLst>
          </p:cNvPr>
          <p:cNvSpPr>
            <a:spLocks xmlns:a="http://schemas.openxmlformats.org/drawingml/2006/main" noGrp="1"/>
          </p:cNvSpPr>
          <p:nvPr/>
        </p:nvSpPr>
        <p:spPr>
          <a:xfrm xmlns:a="http://schemas.openxmlformats.org/drawingml/2006/main">
            <a:off x="4773168" y="3145536"/>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1E293B"/>
                </a:solidFill>
                <a:latin typeface="Calibri"/>
                <a:ea typeface="Calibri"/>
                <a:cs typeface="Calibri"/>
              </a:rPr>
              <a:t>unemployment</a:t>
            </a:r>
          </a:p>
        </p:txBody>
      </p:sp>
      <p:sp>
        <p:nvSpPr>
          <p:cNvPr id="25" name="Text 23">
            <a:extLst xmlns:a="http://schemas.openxmlformats.org/drawingml/2006/main">
              <a:ext uri="{FF2B5EF4-FFF2-40B4-BE49-F238E27FC236}">
                <a16:creationId xmlns:a16="http://schemas.microsoft.com/office/drawing/2014/main" id="{7A2D4252-EC1D-4BD5-9239-01FCF7776BC1}"/>
              </a:ext>
            </a:extLst>
          </p:cNvPr>
          <p:cNvSpPr>
            <a:spLocks xmlns:a="http://schemas.openxmlformats.org/drawingml/2006/main" noGrp="1"/>
          </p:cNvSpPr>
          <p:nvPr/>
        </p:nvSpPr>
        <p:spPr>
          <a:xfrm xmlns:a="http://schemas.openxmlformats.org/drawingml/2006/main">
            <a:off x="6583680" y="3145536"/>
            <a:ext cx="2011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4748B"/>
                </a:solidFill>
                <a:latin typeface="Calibri"/>
                <a:ea typeface="Calibri"/>
                <a:cs typeface="Calibri"/>
              </a:rPr>
              <a:t>Kaufkraft der Haushalte</a:t>
            </a:r>
          </a:p>
        </p:txBody>
      </p:sp>
      <p:sp>
        <p:nvSpPr>
          <p:cNvPr id="26" name="Shape 24">
            <a:extLst xmlns:a="http://schemas.openxmlformats.org/drawingml/2006/main">
              <a:ext uri="{FF2B5EF4-FFF2-40B4-BE49-F238E27FC236}">
                <a16:creationId xmlns:a16="http://schemas.microsoft.com/office/drawing/2014/main" id="{A44CDCD8-64FD-4777-BBF6-F1AB24F4F740}"/>
              </a:ext>
            </a:extLst>
          </p:cNvPr>
          <p:cNvSpPr>
            <a:spLocks xmlns:a="http://schemas.openxmlformats.org/drawingml/2006/main" noGrp="1"/>
          </p:cNvSpPr>
          <p:nvPr/>
        </p:nvSpPr>
        <p:spPr>
          <a:xfrm xmlns:a="http://schemas.openxmlformats.org/drawingml/2006/main">
            <a:off x="4663440" y="3584448"/>
            <a:ext cx="36576" cy="274320"/>
          </a:xfrm>
          <a:prstGeom xmlns:a="http://schemas.openxmlformats.org/drawingml/2006/main" prst="rect">
            <a:avLst/>
          </a:prstGeom>
          <a:solidFill xmlns:a="http://schemas.openxmlformats.org/drawingml/2006/main">
            <a:srgbClr val="0D9488"/>
          </a:solidFill>
          <a:ln xmlns:a="http://schemas.openxmlformats.org/drawingml/2006/main" w="12700">
            <a:solidFill>
              <a:srgbClr val="0D9488"/>
            </a:solidFill>
            <a:prstDash val="solid"/>
          </a:ln>
        </p:spPr>
      </p:sp>
      <p:sp>
        <p:nvSpPr>
          <p:cNvPr id="27" name="Text 25">
            <a:extLst xmlns:a="http://schemas.openxmlformats.org/drawingml/2006/main">
              <a:ext uri="{FF2B5EF4-FFF2-40B4-BE49-F238E27FC236}">
                <a16:creationId xmlns:a16="http://schemas.microsoft.com/office/drawing/2014/main" id="{BB4BDCFF-581B-41E7-BCBF-05F1C14975FA}"/>
              </a:ext>
            </a:extLst>
          </p:cNvPr>
          <p:cNvSpPr>
            <a:spLocks xmlns:a="http://schemas.openxmlformats.org/drawingml/2006/main" noGrp="1"/>
          </p:cNvSpPr>
          <p:nvPr/>
        </p:nvSpPr>
        <p:spPr>
          <a:xfrm xmlns:a="http://schemas.openxmlformats.org/drawingml/2006/main">
            <a:off x="4773168" y="3566160"/>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1E293B"/>
                </a:solidFill>
                <a:latin typeface="Calibri"/>
                <a:ea typeface="Calibri"/>
                <a:cs typeface="Calibri"/>
              </a:rPr>
              <a:t>total_vehicle_sales</a:t>
            </a:r>
          </a:p>
        </p:txBody>
      </p:sp>
      <p:sp>
        <p:nvSpPr>
          <p:cNvPr id="28" name="Text 26">
            <a:extLst xmlns:a="http://schemas.openxmlformats.org/drawingml/2006/main">
              <a:ext uri="{FF2B5EF4-FFF2-40B4-BE49-F238E27FC236}">
                <a16:creationId xmlns:a16="http://schemas.microsoft.com/office/drawing/2014/main" id="{0E0868E0-D530-4227-A8B3-386C347CC51D}"/>
              </a:ext>
            </a:extLst>
          </p:cNvPr>
          <p:cNvSpPr>
            <a:spLocks xmlns:a="http://schemas.openxmlformats.org/drawingml/2006/main" noGrp="1"/>
          </p:cNvSpPr>
          <p:nvPr/>
        </p:nvSpPr>
        <p:spPr>
          <a:xfrm xmlns:a="http://schemas.openxmlformats.org/drawingml/2006/main">
            <a:off x="6583680" y="3566160"/>
            <a:ext cx="2011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4748B"/>
                </a:solidFill>
                <a:latin typeface="Calibri"/>
                <a:ea typeface="Calibri"/>
                <a:cs typeface="Calibri"/>
              </a:rPr>
              <a:t>Marktvolumen</a:t>
            </a:r>
          </a:p>
        </p:txBody>
      </p:sp>
      <p:sp>
        <p:nvSpPr>
          <p:cNvPr id="29" name="Shape 27">
            <a:extLst xmlns:a="http://schemas.openxmlformats.org/drawingml/2006/main">
              <a:ext uri="{FF2B5EF4-FFF2-40B4-BE49-F238E27FC236}">
                <a16:creationId xmlns:a16="http://schemas.microsoft.com/office/drawing/2014/main" id="{E8011534-2184-4D0B-A3C4-A140433C210F}"/>
              </a:ext>
            </a:extLst>
          </p:cNvPr>
          <p:cNvSpPr>
            <a:spLocks xmlns:a="http://schemas.openxmlformats.org/drawingml/2006/main" noGrp="1"/>
          </p:cNvSpPr>
          <p:nvPr/>
        </p:nvSpPr>
        <p:spPr>
          <a:xfrm xmlns:a="http://schemas.openxmlformats.org/drawingml/2006/main">
            <a:off x="4663440" y="4005072"/>
            <a:ext cx="36576" cy="274320"/>
          </a:xfrm>
          <a:prstGeom xmlns:a="http://schemas.openxmlformats.org/drawingml/2006/main" prst="rect">
            <a:avLst/>
          </a:prstGeom>
          <a:solidFill xmlns:a="http://schemas.openxmlformats.org/drawingml/2006/main">
            <a:srgbClr val="0D9488"/>
          </a:solidFill>
          <a:ln xmlns:a="http://schemas.openxmlformats.org/drawingml/2006/main" w="12700">
            <a:solidFill>
              <a:srgbClr val="0D9488"/>
            </a:solidFill>
            <a:prstDash val="solid"/>
          </a:ln>
        </p:spPr>
      </p:sp>
      <p:sp>
        <p:nvSpPr>
          <p:cNvPr id="30" name="Text 28">
            <a:extLst xmlns:a="http://schemas.openxmlformats.org/drawingml/2006/main">
              <a:ext uri="{FF2B5EF4-FFF2-40B4-BE49-F238E27FC236}">
                <a16:creationId xmlns:a16="http://schemas.microsoft.com/office/drawing/2014/main" id="{82DC1B62-BD8E-449D-AC98-BB101B4599E4}"/>
              </a:ext>
            </a:extLst>
          </p:cNvPr>
          <p:cNvSpPr>
            <a:spLocks xmlns:a="http://schemas.openxmlformats.org/drawingml/2006/main" noGrp="1"/>
          </p:cNvSpPr>
          <p:nvPr/>
        </p:nvSpPr>
        <p:spPr>
          <a:xfrm xmlns:a="http://schemas.openxmlformats.org/drawingml/2006/main">
            <a:off x="4773168" y="3986784"/>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1E293B"/>
                </a:solidFill>
                <a:latin typeface="Calibri"/>
                <a:ea typeface="Calibri"/>
                <a:cs typeface="Calibri"/>
              </a:rPr>
              <a:t>recession</a:t>
            </a:r>
          </a:p>
        </p:txBody>
      </p:sp>
      <p:sp>
        <p:nvSpPr>
          <p:cNvPr id="31" name="Text 29">
            <a:extLst xmlns:a="http://schemas.openxmlformats.org/drawingml/2006/main">
              <a:ext uri="{FF2B5EF4-FFF2-40B4-BE49-F238E27FC236}">
                <a16:creationId xmlns:a16="http://schemas.microsoft.com/office/drawing/2014/main" id="{FBC392D9-A6F8-40F9-BD42-335D9AEFFCA6}"/>
              </a:ext>
            </a:extLst>
          </p:cNvPr>
          <p:cNvSpPr>
            <a:spLocks xmlns:a="http://schemas.openxmlformats.org/drawingml/2006/main" noGrp="1"/>
          </p:cNvSpPr>
          <p:nvPr/>
        </p:nvSpPr>
        <p:spPr>
          <a:xfrm xmlns:a="http://schemas.openxmlformats.org/drawingml/2006/main">
            <a:off x="6583680" y="3986784"/>
            <a:ext cx="2011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4748B"/>
                </a:solidFill>
                <a:latin typeface="Calibri"/>
                <a:ea typeface="Calibri"/>
                <a:cs typeface="Calibri"/>
              </a:rPr>
              <a:t>Krisenindikator</a:t>
            </a:r>
          </a:p>
        </p:txBody>
      </p:sp>
      <p:sp>
        <p:nvSpPr>
          <p:cNvPr id="32" name="Shape 30">
            <a:extLst xmlns:a="http://schemas.openxmlformats.org/drawingml/2006/main">
              <a:ext uri="{FF2B5EF4-FFF2-40B4-BE49-F238E27FC236}">
                <a16:creationId xmlns:a16="http://schemas.microsoft.com/office/drawing/2014/main" id="{0B1ABC7F-3C73-4F33-BB19-E42BE863E369}"/>
              </a:ext>
            </a:extLst>
          </p:cNvPr>
          <p:cNvSpPr>
            <a:spLocks xmlns:a="http://schemas.openxmlformats.org/drawingml/2006/main" noGrp="1"/>
          </p:cNvSpPr>
          <p:nvPr/>
        </p:nvSpPr>
        <p:spPr>
          <a:xfrm xmlns:a="http://schemas.openxmlformats.org/drawingml/2006/main">
            <a:off x="4663440" y="4425696"/>
            <a:ext cx="36576" cy="274320"/>
          </a:xfrm>
          <a:prstGeom xmlns:a="http://schemas.openxmlformats.org/drawingml/2006/main" prst="rect">
            <a:avLst/>
          </a:prstGeom>
          <a:solidFill xmlns:a="http://schemas.openxmlformats.org/drawingml/2006/main">
            <a:srgbClr val="0D9488"/>
          </a:solidFill>
          <a:ln xmlns:a="http://schemas.openxmlformats.org/drawingml/2006/main" w="12700">
            <a:solidFill>
              <a:srgbClr val="0D9488"/>
            </a:solidFill>
            <a:prstDash val="solid"/>
          </a:ln>
        </p:spPr>
      </p:sp>
      <p:sp>
        <p:nvSpPr>
          <p:cNvPr id="33" name="Text 31">
            <a:extLst xmlns:a="http://schemas.openxmlformats.org/drawingml/2006/main">
              <a:ext uri="{FF2B5EF4-FFF2-40B4-BE49-F238E27FC236}">
                <a16:creationId xmlns:a16="http://schemas.microsoft.com/office/drawing/2014/main" id="{C22CEFFA-0A15-4458-8A24-2FA1627637CC}"/>
              </a:ext>
            </a:extLst>
          </p:cNvPr>
          <p:cNvSpPr>
            <a:spLocks xmlns:a="http://schemas.openxmlformats.org/drawingml/2006/main" noGrp="1"/>
          </p:cNvSpPr>
          <p:nvPr/>
        </p:nvSpPr>
        <p:spPr>
          <a:xfrm xmlns:a="http://schemas.openxmlformats.org/drawingml/2006/main">
            <a:off x="4773168" y="4407408"/>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1E293B"/>
                </a:solidFill>
                <a:latin typeface="Calibri"/>
                <a:ea typeface="Calibri"/>
                <a:cs typeface="Calibri"/>
              </a:rPr>
              <a:t>credit_spread</a:t>
            </a:r>
          </a:p>
        </p:txBody>
      </p:sp>
      <p:sp>
        <p:nvSpPr>
          <p:cNvPr id="34" name="Text 32">
            <a:extLst xmlns:a="http://schemas.openxmlformats.org/drawingml/2006/main">
              <a:ext uri="{FF2B5EF4-FFF2-40B4-BE49-F238E27FC236}">
                <a16:creationId xmlns:a16="http://schemas.microsoft.com/office/drawing/2014/main" id="{64FDA54B-AFD5-4723-85A0-40A1E3EACF35}"/>
              </a:ext>
            </a:extLst>
          </p:cNvPr>
          <p:cNvSpPr>
            <a:spLocks xmlns:a="http://schemas.openxmlformats.org/drawingml/2006/main" noGrp="1"/>
          </p:cNvSpPr>
          <p:nvPr/>
        </p:nvSpPr>
        <p:spPr>
          <a:xfrm xmlns:a="http://schemas.openxmlformats.org/drawingml/2006/main">
            <a:off x="6583680" y="4407408"/>
            <a:ext cx="2011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4748B"/>
                </a:solidFill>
                <a:latin typeface="Calibri"/>
                <a:ea typeface="Calibri"/>
                <a:cs typeface="Calibri"/>
              </a:rPr>
              <a:t>Kreditstress</a:t>
            </a:r>
          </a:p>
        </p:txBody>
      </p:sp>
    </p:spTree>
    <p:extLst>
      <p:ext uri="{BB962C8B-B14F-4D97-AF65-F5344CB8AC3E}">
        <p14:creationId xmlns:p14="http://schemas.microsoft.com/office/powerpoint/2010/main" val="1302737416"/>
      </p:ext>
    </p:extLst>
  </p:cSld>
</p:sld>
</file>

<file path=ppt/slides/slide3.xml><?xml version="1.0" encoding="utf-8"?>
<p:sld xmlns:p="http://schemas.openxmlformats.org/presentationml/2006/main">
  <p:cSld>
    <p:bg>
      <p:bgPr>
        <a:solidFill xmlns:a="http://schemas.openxmlformats.org/drawingml/2006/main">
          <a:srgbClr val="F1F5F9"/>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F3846F5-EAE5-441A-8054-8B957B6A2A19}"/>
              </a:ext>
            </a:extLst>
          </p:cNvPr>
          <p:cNvSpPr>
            <a:spLocks xmlns:a="http://schemas.openxmlformats.org/drawingml/2006/main" noGrp="1"/>
          </p:cNvSpPr>
          <p:nvPr/>
        </p:nvSpPr>
        <p:spPr>
          <a:xfrm xmlns:a="http://schemas.openxmlformats.org/drawingml/2006/main">
            <a:off x="457200" y="320040"/>
            <a:ext cx="8229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2240"/>
                </a:solidFill>
                <a:latin typeface="Calibri"/>
                <a:ea typeface="Calibri"/>
                <a:cs typeface="Calibri"/>
              </a:rPr>
              <a:t>Stage 2 | Backtest neutral, Marktanstieg sichtbar</a:t>
            </a:r>
          </a:p>
        </p:txBody>
      </p:sp>
      <p:sp>
        <p:nvSpPr>
          <p:cNvPr id="3" name="Shape 1">
            <a:extLst xmlns:a="http://schemas.openxmlformats.org/drawingml/2006/main">
              <a:ext uri="{FF2B5EF4-FFF2-40B4-BE49-F238E27FC236}">
                <a16:creationId xmlns:a16="http://schemas.microsoft.com/office/drawing/2014/main" id="{E76CAF98-3FCB-456F-B9DD-6B98CAA93639}"/>
              </a:ext>
            </a:extLst>
          </p:cNvPr>
          <p:cNvSpPr>
            <a:spLocks xmlns:a="http://schemas.openxmlformats.org/drawingml/2006/main" noGrp="1"/>
          </p:cNvSpPr>
          <p:nvPr/>
        </p:nvSpPr>
        <p:spPr>
          <a:xfrm xmlns:a="http://schemas.openxmlformats.org/drawingml/2006/main">
            <a:off x="365760" y="1005840"/>
            <a:ext cx="2606040" cy="32004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a:effectLst xmlns:a="http://schemas.openxmlformats.org/drawingml/2006/main">
            <a:outerShdw blurRad="101600" dist="25400" dir="8100000" sx="100000" sy="100000" kx="0" ky="0" algn="bl" rotWithShape="0">
              <a:srgbClr val="000000">
                <a:alpha val="10000"/>
              </a:srgbClr>
            </a:outerShdw>
          </a:effectLst>
        </p:spPr>
      </p:sp>
      <p:sp>
        <p:nvSpPr>
          <p:cNvPr id="4" name="Text 2">
            <a:extLst xmlns:a="http://schemas.openxmlformats.org/drawingml/2006/main">
              <a:ext uri="{FF2B5EF4-FFF2-40B4-BE49-F238E27FC236}">
                <a16:creationId xmlns:a16="http://schemas.microsoft.com/office/drawing/2014/main" id="{963623C6-BED6-4A35-A585-2AAA665D54B7}"/>
              </a:ext>
            </a:extLst>
          </p:cNvPr>
          <p:cNvSpPr>
            <a:spLocks xmlns:a="http://schemas.openxmlformats.org/drawingml/2006/main" noGrp="1"/>
          </p:cNvSpPr>
          <p:nvPr/>
        </p:nvSpPr>
        <p:spPr>
          <a:xfrm xmlns:a="http://schemas.openxmlformats.org/drawingml/2006/main">
            <a:off x="457200" y="1115568"/>
            <a:ext cx="640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000000"/>
                </a:solidFill>
              </a:rPr>
              <a:t>✓</a:t>
            </a:r>
          </a:p>
        </p:txBody>
      </p:sp>
      <p:sp>
        <p:nvSpPr>
          <p:cNvPr id="5" name="Text 3">
            <a:extLst xmlns:a="http://schemas.openxmlformats.org/drawingml/2006/main">
              <a:ext uri="{FF2B5EF4-FFF2-40B4-BE49-F238E27FC236}">
                <a16:creationId xmlns:a16="http://schemas.microsoft.com/office/drawing/2014/main" id="{45A3E71B-8CF8-48F3-826B-F649D32F65EE}"/>
              </a:ext>
            </a:extLst>
          </p:cNvPr>
          <p:cNvSpPr>
            <a:spLocks xmlns:a="http://schemas.openxmlformats.org/drawingml/2006/main" noGrp="1"/>
          </p:cNvSpPr>
          <p:nvPr/>
        </p:nvSpPr>
        <p:spPr>
          <a:xfrm xmlns:a="http://schemas.openxmlformats.org/drawingml/2006/main">
            <a:off x="475488" y="1755648"/>
            <a:ext cx="23774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2240"/>
                </a:solidFill>
                <a:latin typeface="Calibri"/>
                <a:ea typeface="Calibri"/>
                <a:cs typeface="Calibri"/>
              </a:rPr>
              <a:t>Historisch neutral</a:t>
            </a:r>
          </a:p>
        </p:txBody>
      </p:sp>
      <p:sp>
        <p:nvSpPr>
          <p:cNvPr id="6" name="Text 4">
            <a:extLst xmlns:a="http://schemas.openxmlformats.org/drawingml/2006/main">
              <a:ext uri="{FF2B5EF4-FFF2-40B4-BE49-F238E27FC236}">
                <a16:creationId xmlns:a16="http://schemas.microsoft.com/office/drawing/2014/main" id="{159CC1B4-CFA3-460C-98ED-BBF7611D4B28}"/>
              </a:ext>
            </a:extLst>
          </p:cNvPr>
          <p:cNvSpPr>
            <a:spLocks xmlns:a="http://schemas.openxmlformats.org/drawingml/2006/main" noGrp="1"/>
          </p:cNvSpPr>
          <p:nvPr/>
        </p:nvSpPr>
        <p:spPr>
          <a:xfrm xmlns:a="http://schemas.openxmlformats.org/drawingml/2006/main">
            <a:off x="475488" y="2240280"/>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4748B"/>
                </a:solidFill>
                <a:latin typeface="Calibri"/>
                <a:ea typeface="Calibri"/>
                <a:cs typeface="Calibri"/>
              </a:rPr>
              <a:t>Feste Referenz 2015-02</a:t>
            </a:r>
          </a:p>
          <a:p xmlns:a="http://schemas.openxmlformats.org/drawingml/2006/main">
            <a:pPr marL="0" indent="0">
              <a:buNone/>
            </a:pPr>
            <a:r>
              <a:rPr sz="1100">
                <a:solidFill>
                  <a:srgbClr val="64748B"/>
                </a:solidFill>
                <a:latin typeface="Calibri"/>
                <a:ea typeface="Calibri"/>
                <a:cs typeface="Calibri"/>
              </a:rPr>
              <a:t>MAE 1.890,21 → 1.889,19 $</a:t>
            </a:r>
          </a:p>
        </p:txBody>
      </p:sp>
      <p:sp>
        <p:nvSpPr>
          <p:cNvPr id="7" name="Shape 5">
            <a:extLst xmlns:a="http://schemas.openxmlformats.org/drawingml/2006/main">
              <a:ext uri="{FF2B5EF4-FFF2-40B4-BE49-F238E27FC236}">
                <a16:creationId xmlns:a16="http://schemas.microsoft.com/office/drawing/2014/main" id="{EC6CF391-72F2-413A-804C-9ACC10ECED92}"/>
              </a:ext>
            </a:extLst>
          </p:cNvPr>
          <p:cNvSpPr>
            <a:spLocks xmlns:a="http://schemas.openxmlformats.org/drawingml/2006/main" noGrp="1"/>
          </p:cNvSpPr>
          <p:nvPr/>
        </p:nvSpPr>
        <p:spPr>
          <a:xfrm xmlns:a="http://schemas.openxmlformats.org/drawingml/2006/main">
            <a:off x="3200400" y="1005840"/>
            <a:ext cx="2606040" cy="32004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a:effectLst xmlns:a="http://schemas.openxmlformats.org/drawingml/2006/main">
            <a:outerShdw blurRad="101600" dist="25400" dir="8100000" sx="100000" sy="100000" kx="0" ky="0" algn="bl" rotWithShape="0">
              <a:srgbClr val="000000">
                <a:alpha val="10000"/>
              </a:srgbClr>
            </a:outerShdw>
          </a:effectLst>
        </p:spPr>
      </p:sp>
      <p:sp>
        <p:nvSpPr>
          <p:cNvPr id="8" name="Text 6">
            <a:extLst xmlns:a="http://schemas.openxmlformats.org/drawingml/2006/main">
              <a:ext uri="{FF2B5EF4-FFF2-40B4-BE49-F238E27FC236}">
                <a16:creationId xmlns:a16="http://schemas.microsoft.com/office/drawing/2014/main" id="{7F821784-1AF7-4941-A14B-EA817575F4D4}"/>
              </a:ext>
            </a:extLst>
          </p:cNvPr>
          <p:cNvSpPr>
            <a:spLocks xmlns:a="http://schemas.openxmlformats.org/drawingml/2006/main" noGrp="1"/>
          </p:cNvSpPr>
          <p:nvPr/>
        </p:nvSpPr>
        <p:spPr>
          <a:xfrm xmlns:a="http://schemas.openxmlformats.org/drawingml/2006/main">
            <a:off x="3291840" y="1115568"/>
            <a:ext cx="640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000000"/>
                </a:solidFill>
              </a:rPr>
              <a:t>↗</a:t>
            </a:r>
          </a:p>
        </p:txBody>
      </p:sp>
      <p:sp>
        <p:nvSpPr>
          <p:cNvPr id="9" name="Text 7">
            <a:extLst xmlns:a="http://schemas.openxmlformats.org/drawingml/2006/main">
              <a:ext uri="{FF2B5EF4-FFF2-40B4-BE49-F238E27FC236}">
                <a16:creationId xmlns:a16="http://schemas.microsoft.com/office/drawing/2014/main" id="{D77E7BA1-53AB-4C9C-A66D-CD30B96D44F9}"/>
              </a:ext>
            </a:extLst>
          </p:cNvPr>
          <p:cNvSpPr>
            <a:spLocks xmlns:a="http://schemas.openxmlformats.org/drawingml/2006/main" noGrp="1"/>
          </p:cNvSpPr>
          <p:nvPr/>
        </p:nvSpPr>
        <p:spPr>
          <a:xfrm xmlns:a="http://schemas.openxmlformats.org/drawingml/2006/main">
            <a:off x="3310128" y="1755648"/>
            <a:ext cx="23774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2240"/>
                </a:solidFill>
                <a:latin typeface="Calibri"/>
                <a:ea typeface="Calibri"/>
                <a:cs typeface="Calibri"/>
              </a:rPr>
              <a:t>2026 marktaktuell</a:t>
            </a:r>
          </a:p>
        </p:txBody>
      </p:sp>
      <p:sp>
        <p:nvSpPr>
          <p:cNvPr id="10" name="Text 8">
            <a:extLst xmlns:a="http://schemas.openxmlformats.org/drawingml/2006/main">
              <a:ext uri="{FF2B5EF4-FFF2-40B4-BE49-F238E27FC236}">
                <a16:creationId xmlns:a16="http://schemas.microsoft.com/office/drawing/2014/main" id="{AB5A6C53-B55D-4402-92AA-139C43D09D30}"/>
              </a:ext>
            </a:extLst>
          </p:cNvPr>
          <p:cNvSpPr>
            <a:spLocks xmlns:a="http://schemas.openxmlformats.org/drawingml/2006/main" noGrp="1"/>
          </p:cNvSpPr>
          <p:nvPr/>
        </p:nvSpPr>
        <p:spPr>
          <a:xfrm xmlns:a="http://schemas.openxmlformats.org/drawingml/2006/main">
            <a:off x="3310128" y="2240280"/>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4748B"/>
                </a:solidFill>
                <a:latin typeface="Calibri"/>
                <a:ea typeface="Calibri"/>
                <a:cs typeface="Calibri"/>
              </a:rPr>
              <a:t>Juni 2026*: Faktor 1,2177</a:t>
            </a:r>
          </a:p>
          <a:p xmlns:a="http://schemas.openxmlformats.org/drawingml/2006/main">
            <a:pPr marL="0" indent="0">
              <a:buNone/>
            </a:pPr>
            <a:r>
              <a:rPr sz="1100">
                <a:solidFill>
                  <a:srgbClr val="64748B"/>
                </a:solidFill>
                <a:latin typeface="Calibri"/>
                <a:ea typeface="Calibri"/>
                <a:cs typeface="Calibri"/>
              </a:rPr>
              <a:t>12.717 $ → ca. 15.485 $</a:t>
            </a:r>
          </a:p>
        </p:txBody>
      </p:sp>
      <p:sp>
        <p:nvSpPr>
          <p:cNvPr id="11" name="Shape 9">
            <a:extLst xmlns:a="http://schemas.openxmlformats.org/drawingml/2006/main">
              <a:ext uri="{FF2B5EF4-FFF2-40B4-BE49-F238E27FC236}">
                <a16:creationId xmlns:a16="http://schemas.microsoft.com/office/drawing/2014/main" id="{8D792909-4D9B-4E49-9A26-4008EC378C44}"/>
              </a:ext>
            </a:extLst>
          </p:cNvPr>
          <p:cNvSpPr>
            <a:spLocks xmlns:a="http://schemas.openxmlformats.org/drawingml/2006/main" noGrp="1"/>
          </p:cNvSpPr>
          <p:nvPr/>
        </p:nvSpPr>
        <p:spPr>
          <a:xfrm xmlns:a="http://schemas.openxmlformats.org/drawingml/2006/main">
            <a:off x="6035040" y="1005840"/>
            <a:ext cx="2606040" cy="32004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a:effectLst xmlns:a="http://schemas.openxmlformats.org/drawingml/2006/main">
            <a:outerShdw blurRad="101600" dist="25400" dir="8100000" sx="100000" sy="100000" kx="0" ky="0" algn="bl" rotWithShape="0">
              <a:srgbClr val="000000">
                <a:alpha val="10000"/>
              </a:srgbClr>
            </a:outerShdw>
          </a:effectLst>
        </p:spPr>
      </p:sp>
      <p:sp>
        <p:nvSpPr>
          <p:cNvPr id="12" name="Text 10">
            <a:extLst xmlns:a="http://schemas.openxmlformats.org/drawingml/2006/main">
              <a:ext uri="{FF2B5EF4-FFF2-40B4-BE49-F238E27FC236}">
                <a16:creationId xmlns:a16="http://schemas.microsoft.com/office/drawing/2014/main" id="{91A2117C-59DF-41BF-96C5-484B54134497}"/>
              </a:ext>
            </a:extLst>
          </p:cNvPr>
          <p:cNvSpPr>
            <a:spLocks xmlns:a="http://schemas.openxmlformats.org/drawingml/2006/main" noGrp="1"/>
          </p:cNvSpPr>
          <p:nvPr/>
        </p:nvSpPr>
        <p:spPr>
          <a:xfrm xmlns:a="http://schemas.openxmlformats.org/drawingml/2006/main">
            <a:off x="6126480" y="1115568"/>
            <a:ext cx="640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000000"/>
                </a:solidFill>
              </a:rPr>
              <a:t>!</a:t>
            </a:r>
          </a:p>
        </p:txBody>
      </p:sp>
      <p:sp>
        <p:nvSpPr>
          <p:cNvPr id="13" name="Text 11">
            <a:extLst xmlns:a="http://schemas.openxmlformats.org/drawingml/2006/main">
              <a:ext uri="{FF2B5EF4-FFF2-40B4-BE49-F238E27FC236}">
                <a16:creationId xmlns:a16="http://schemas.microsoft.com/office/drawing/2014/main" id="{4E5D6C0C-9BA5-4975-BBF2-E478E216FEF4}"/>
              </a:ext>
            </a:extLst>
          </p:cNvPr>
          <p:cNvSpPr>
            <a:spLocks xmlns:a="http://schemas.openxmlformats.org/drawingml/2006/main" noGrp="1"/>
          </p:cNvSpPr>
          <p:nvPr/>
        </p:nvSpPr>
        <p:spPr>
          <a:xfrm xmlns:a="http://schemas.openxmlformats.org/drawingml/2006/main">
            <a:off x="6144768" y="1755648"/>
            <a:ext cx="23774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2240"/>
                </a:solidFill>
                <a:latin typeface="Calibri"/>
                <a:ea typeface="Calibri"/>
                <a:cs typeface="Calibri"/>
              </a:rPr>
              <a:t>Bewusst begrenzt</a:t>
            </a:r>
          </a:p>
        </p:txBody>
      </p:sp>
      <p:sp>
        <p:nvSpPr>
          <p:cNvPr id="14" name="Text 12">
            <a:extLst xmlns:a="http://schemas.openxmlformats.org/drawingml/2006/main">
              <a:ext uri="{FF2B5EF4-FFF2-40B4-BE49-F238E27FC236}">
                <a16:creationId xmlns:a16="http://schemas.microsoft.com/office/drawing/2014/main" id="{59D37AAF-FCD1-49F1-AFCF-D84C47F6B8A4}"/>
              </a:ext>
            </a:extLst>
          </p:cNvPr>
          <p:cNvSpPr>
            <a:spLocks xmlns:a="http://schemas.openxmlformats.org/drawingml/2006/main" noGrp="1"/>
          </p:cNvSpPr>
          <p:nvPr/>
        </p:nvSpPr>
        <p:spPr>
          <a:xfrm xmlns:a="http://schemas.openxmlformats.org/drawingml/2006/main">
            <a:off x="6144768" y="2240280"/>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4748B"/>
                </a:solidFill>
                <a:latin typeface="Calibri"/>
                <a:ea typeface="Calibri"/>
                <a:cs typeface="Calibri"/>
              </a:rPr>
              <a:t>CPI skaliert das Preisniveau.</a:t>
            </a:r>
          </a:p>
          <a:p xmlns:a="http://schemas.openxmlformats.org/drawingml/2006/main">
            <a:pPr marL="0" indent="0">
              <a:buNone/>
            </a:pPr>
            <a:r>
              <a:rPr sz="1100">
                <a:solidFill>
                  <a:srgbClr val="64748B"/>
                </a:solidFill>
                <a:latin typeface="Calibri"/>
                <a:ea typeface="Calibri"/>
                <a:cs typeface="Calibri"/>
              </a:rPr>
              <a:t>* CPI aus April fortgeschrieben.</a:t>
            </a:r>
          </a:p>
        </p:txBody>
      </p:sp>
      <p:sp>
        <p:nvSpPr>
          <p:cNvPr id="15" name="Shape 13">
            <a:extLst xmlns:a="http://schemas.openxmlformats.org/drawingml/2006/main">
              <a:ext uri="{FF2B5EF4-FFF2-40B4-BE49-F238E27FC236}">
                <a16:creationId xmlns:a16="http://schemas.microsoft.com/office/drawing/2014/main" id="{323EA32E-7065-4D87-9046-2BBA29E18F1D}"/>
              </a:ext>
            </a:extLst>
          </p:cNvPr>
          <p:cNvSpPr>
            <a:spLocks xmlns:a="http://schemas.openxmlformats.org/drawingml/2006/main" noGrp="1"/>
          </p:cNvSpPr>
          <p:nvPr/>
        </p:nvSpPr>
        <p:spPr>
          <a:xfrm xmlns:a="http://schemas.openxmlformats.org/drawingml/2006/main">
            <a:off x="365760" y="4407408"/>
            <a:ext cx="8412480" cy="502920"/>
          </a:xfrm>
          <a:prstGeom xmlns:a="http://schemas.openxmlformats.org/drawingml/2006/main" prst="rect">
            <a:avLst/>
          </a:prstGeom>
          <a:solidFill xmlns:a="http://schemas.openxmlformats.org/drawingml/2006/main">
            <a:srgbClr val="0D9488"/>
          </a:solidFill>
          <a:ln xmlns:a="http://schemas.openxmlformats.org/drawingml/2006/main" w="12700">
            <a:solidFill>
              <a:srgbClr val="0D9488"/>
            </a:solidFill>
            <a:prstDash val="solid"/>
          </a:ln>
        </p:spPr>
      </p:sp>
      <p:sp>
        <p:nvSpPr>
          <p:cNvPr id="16" name="Text 14">
            <a:extLst xmlns:a="http://schemas.openxmlformats.org/drawingml/2006/main">
              <a:ext uri="{FF2B5EF4-FFF2-40B4-BE49-F238E27FC236}">
                <a16:creationId xmlns:a16="http://schemas.microsoft.com/office/drawing/2014/main" id="{EF1A4A39-DAAC-4A18-8A48-DCA03161849D}"/>
              </a:ext>
            </a:extLst>
          </p:cNvPr>
          <p:cNvSpPr>
            <a:spLocks xmlns:a="http://schemas.openxmlformats.org/drawingml/2006/main" noGrp="1"/>
          </p:cNvSpPr>
          <p:nvPr/>
        </p:nvSpPr>
        <p:spPr>
          <a:xfrm xmlns:a="http://schemas.openxmlformats.org/drawingml/2006/main">
            <a:off x="502920" y="4434840"/>
            <a:ext cx="8229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Stage-2-Preis = Referenzwert × CPI-Faktor  ·  MAE: 1.890,21 → 1.889,19 $</a:t>
            </a:r>
          </a:p>
        </p:txBody>
      </p:sp>
    </p:spTree>
    <p:extLst>
      <p:ext uri="{BB962C8B-B14F-4D97-AF65-F5344CB8AC3E}">
        <p14:creationId xmlns:p14="http://schemas.microsoft.com/office/powerpoint/2010/main" val="1044322907"/>
      </p:ext>
    </p:extLst>
  </p:cSld>
</p:sld>
</file>

<file path=ppt/slides/slide4.xml><?xml version="1.0" encoding="utf-8"?>
<p:sld xmlns:p="http://schemas.openxmlformats.org/presentationml/2006/main">
  <p:cSld>
    <p:bg>
      <p:bgPr>
        <a:solidFill xmlns:a="http://schemas.openxmlformats.org/drawingml/2006/main">
          <a:srgbClr val="0F224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70EF51-4D70-4CDD-A5D7-56C3677E42C0}"/>
              </a:ext>
            </a:extLst>
          </p:cNvPr>
          <p:cNvSpPr>
            <a:spLocks xmlns:a="http://schemas.openxmlformats.org/drawingml/2006/main" noGrp="1"/>
          </p:cNvSpPr>
          <p:nvPr/>
        </p:nvSpPr>
        <p:spPr>
          <a:xfrm xmlns:a="http://schemas.openxmlformats.org/drawingml/2006/main">
            <a:off x="457200" y="228600"/>
            <a:ext cx="8229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FFFFF"/>
                </a:solidFill>
                <a:latin typeface="Calibri"/>
                <a:ea typeface="Calibri"/>
                <a:cs typeface="Calibri"/>
              </a:rPr>
              <a:t>Stage 3 | Bereinigte Saisonregel statt Rohmedian</a:t>
            </a:r>
          </a:p>
        </p:txBody>
      </p:sp>
      <p:sp>
        <p:nvSpPr>
          <p:cNvPr id="3" name="Shape 1">
            <a:extLst xmlns:a="http://schemas.openxmlformats.org/drawingml/2006/main">
              <a:ext uri="{FF2B5EF4-FFF2-40B4-BE49-F238E27FC236}">
                <a16:creationId xmlns:a16="http://schemas.microsoft.com/office/drawing/2014/main" id="{084A96E1-BFD8-475C-825A-089F2E78DAA6}"/>
              </a:ext>
            </a:extLst>
          </p:cNvPr>
          <p:cNvSpPr>
            <a:spLocks xmlns:a="http://schemas.openxmlformats.org/drawingml/2006/main" noGrp="1"/>
          </p:cNvSpPr>
          <p:nvPr/>
        </p:nvSpPr>
        <p:spPr>
          <a:xfrm xmlns:a="http://schemas.openxmlformats.org/drawingml/2006/main">
            <a:off x="320040" y="868680"/>
            <a:ext cx="2743200" cy="3931920"/>
          </a:xfrm>
          <a:prstGeom xmlns:a="http://schemas.openxmlformats.org/drawingml/2006/main" prst="rect">
            <a:avLst/>
          </a:prstGeom>
          <a:solidFill xmlns:a="http://schemas.openxmlformats.org/drawingml/2006/main">
            <a:srgbClr val="162D4A"/>
          </a:solidFill>
          <a:ln xmlns:a="http://schemas.openxmlformats.org/drawingml/2006/main" w="12700">
            <a:solidFill>
              <a:srgbClr val="162D4A"/>
            </a:solidFill>
            <a:prstDash val="solid"/>
          </a:ln>
          <a:effectLst xmlns:a="http://schemas.openxmlformats.org/drawingml/2006/main">
            <a:outerShdw blurRad="152400" dist="50800" dir="8100000" sx="100000" sy="100000" kx="0" ky="0" algn="bl" rotWithShape="0">
              <a:srgbClr val="000000">
                <a:alpha val="35000"/>
              </a:srgbClr>
            </a:outerShdw>
          </a:effectLst>
        </p:spPr>
      </p:sp>
      <p:sp>
        <p:nvSpPr>
          <p:cNvPr id="4" name="Shape 2">
            <a:extLst xmlns:a="http://schemas.openxmlformats.org/drawingml/2006/main">
              <a:ext uri="{FF2B5EF4-FFF2-40B4-BE49-F238E27FC236}">
                <a16:creationId xmlns:a16="http://schemas.microsoft.com/office/drawing/2014/main" id="{639B35E0-B0EF-4BBA-8CC1-2894154D2556}"/>
              </a:ext>
            </a:extLst>
          </p:cNvPr>
          <p:cNvSpPr>
            <a:spLocks xmlns:a="http://schemas.openxmlformats.org/drawingml/2006/main" noGrp="1"/>
          </p:cNvSpPr>
          <p:nvPr/>
        </p:nvSpPr>
        <p:spPr>
          <a:xfrm xmlns:a="http://schemas.openxmlformats.org/drawingml/2006/main">
            <a:off x="320040" y="868680"/>
            <a:ext cx="2743200" cy="73152"/>
          </a:xfrm>
          <a:prstGeom xmlns:a="http://schemas.openxmlformats.org/drawingml/2006/main" prst="rect">
            <a:avLst/>
          </a:prstGeom>
          <a:solidFill xmlns:a="http://schemas.openxmlformats.org/drawingml/2006/main">
            <a:srgbClr val="0D9488"/>
          </a:solidFill>
          <a:ln xmlns:a="http://schemas.openxmlformats.org/drawingml/2006/main" w="12700">
            <a:solidFill>
              <a:srgbClr val="0D9488"/>
            </a:solidFill>
            <a:prstDash val="solid"/>
          </a:ln>
        </p:spPr>
      </p:sp>
      <p:sp>
        <p:nvSpPr>
          <p:cNvPr id="5" name="Shape 3">
            <a:extLst xmlns:a="http://schemas.openxmlformats.org/drawingml/2006/main">
              <a:ext uri="{FF2B5EF4-FFF2-40B4-BE49-F238E27FC236}">
                <a16:creationId xmlns:a16="http://schemas.microsoft.com/office/drawing/2014/main" id="{E7364804-FBBB-4306-A544-282B1BF9F738}"/>
              </a:ext>
            </a:extLst>
          </p:cNvPr>
          <p:cNvSpPr>
            <a:spLocks xmlns:a="http://schemas.openxmlformats.org/drawingml/2006/main" noGrp="1"/>
          </p:cNvSpPr>
          <p:nvPr/>
        </p:nvSpPr>
        <p:spPr>
          <a:xfrm xmlns:a="http://schemas.openxmlformats.org/drawingml/2006/main">
            <a:off x="411480" y="1005840"/>
            <a:ext cx="475488" cy="475488"/>
          </a:xfrm>
          <a:prstGeom xmlns:a="http://schemas.openxmlformats.org/drawingml/2006/main" prst="ellipse">
            <a:avLst/>
          </a:prstGeom>
          <a:solidFill xmlns:a="http://schemas.openxmlformats.org/drawingml/2006/main">
            <a:srgbClr val="0D9488"/>
          </a:solidFill>
          <a:ln xmlns:a="http://schemas.openxmlformats.org/drawingml/2006/main" w="12700">
            <a:solidFill>
              <a:srgbClr val="0D9488"/>
            </a:solidFill>
            <a:prstDash val="solid"/>
          </a:ln>
        </p:spPr>
      </p:sp>
      <p:sp>
        <p:nvSpPr>
          <p:cNvPr id="6" name="Text 4">
            <a:extLst xmlns:a="http://schemas.openxmlformats.org/drawingml/2006/main">
              <a:ext uri="{FF2B5EF4-FFF2-40B4-BE49-F238E27FC236}">
                <a16:creationId xmlns:a16="http://schemas.microsoft.com/office/drawing/2014/main" id="{0B0728AC-4CCB-438B-ADB1-8FD350F8C333}"/>
              </a:ext>
            </a:extLst>
          </p:cNvPr>
          <p:cNvSpPr>
            <a:spLocks xmlns:a="http://schemas.openxmlformats.org/drawingml/2006/main" noGrp="1"/>
          </p:cNvSpPr>
          <p:nvPr/>
        </p:nvSpPr>
        <p:spPr>
          <a:xfrm xmlns:a="http://schemas.openxmlformats.org/drawingml/2006/main">
            <a:off x="411480" y="1005840"/>
            <a:ext cx="47548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alibri"/>
                <a:ea typeface="Calibri"/>
                <a:cs typeface="Calibri"/>
              </a:rPr>
              <a:t>1</a:t>
            </a:r>
          </a:p>
        </p:txBody>
      </p:sp>
      <p:sp>
        <p:nvSpPr>
          <p:cNvPr id="7" name="Text 5">
            <a:extLst xmlns:a="http://schemas.openxmlformats.org/drawingml/2006/main">
              <a:ext uri="{FF2B5EF4-FFF2-40B4-BE49-F238E27FC236}">
                <a16:creationId xmlns:a16="http://schemas.microsoft.com/office/drawing/2014/main" id="{39628EA7-78F8-47B5-AA05-D1F3A17479BB}"/>
              </a:ext>
            </a:extLst>
          </p:cNvPr>
          <p:cNvSpPr>
            <a:spLocks xmlns:a="http://schemas.openxmlformats.org/drawingml/2006/main" noGrp="1"/>
          </p:cNvSpPr>
          <p:nvPr/>
        </p:nvSpPr>
        <p:spPr>
          <a:xfrm xmlns:a="http://schemas.openxmlformats.org/drawingml/2006/main">
            <a:off x="978408" y="103327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1 · Problem erkannt</a:t>
            </a:r>
          </a:p>
        </p:txBody>
      </p:sp>
      <p:sp>
        <p:nvSpPr>
          <p:cNvPr id="8" name="Text 6">
            <a:extLst xmlns:a="http://schemas.openxmlformats.org/drawingml/2006/main">
              <a:ext uri="{FF2B5EF4-FFF2-40B4-BE49-F238E27FC236}">
                <a16:creationId xmlns:a16="http://schemas.microsoft.com/office/drawing/2014/main" id="{A43C8A80-18D1-4313-AC4A-6767A8C4830D}"/>
              </a:ext>
            </a:extLst>
          </p:cNvPr>
          <p:cNvSpPr>
            <a:spLocks xmlns:a="http://schemas.openxmlformats.org/drawingml/2006/main" noGrp="1"/>
          </p:cNvSpPr>
          <p:nvPr/>
        </p:nvSpPr>
        <p:spPr>
          <a:xfrm xmlns:a="http://schemas.openxmlformats.org/drawingml/2006/main">
            <a:off x="978408" y="1344168"/>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0D9488"/>
                </a:solidFill>
                <a:latin typeface="Calibri"/>
                <a:ea typeface="Calibri"/>
                <a:cs typeface="Calibri"/>
              </a:rPr>
              <a:t>Rohe Monatsmediane verworfen</a:t>
            </a:r>
          </a:p>
        </p:txBody>
      </p:sp>
      <p:sp>
        <p:nvSpPr>
          <p:cNvPr id="9" name="Text 7">
            <a:extLst xmlns:a="http://schemas.openxmlformats.org/drawingml/2006/main">
              <a:ext uri="{FF2B5EF4-FFF2-40B4-BE49-F238E27FC236}">
                <a16:creationId xmlns:a16="http://schemas.microsoft.com/office/drawing/2014/main" id="{B0A6BFB4-8088-4D84-AB47-D16A985420ED}"/>
              </a:ext>
            </a:extLst>
          </p:cNvPr>
          <p:cNvSpPr>
            <a:spLocks xmlns:a="http://schemas.openxmlformats.org/drawingml/2006/main" noGrp="1"/>
          </p:cNvSpPr>
          <p:nvPr/>
        </p:nvSpPr>
        <p:spPr>
          <a:xfrm xmlns:a="http://schemas.openxmlformats.org/drawingml/2006/main">
            <a:off x="457200" y="1783080"/>
            <a:ext cx="246888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solidFill>
                  <a:srgbClr val="D9E3F0"/>
                </a:solidFill>
              </a:defRPr>
            </a:pPr>
            <a:r>
              <a:rPr sz="1100">
                <a:solidFill>
                  <a:srgbClr val="D9E3F0"/>
                </a:solidFill>
                <a:latin typeface="Calibri"/>
                <a:ea typeface="Calibri"/>
                <a:cs typeface="Calibri"/>
              </a:rPr>
              <a:t>Fahrzeugmix verzerrt Preise:</a:t>
            </a:r>
          </a:p>
          <a:p xmlns:a="http://schemas.openxmlformats.org/drawingml/2006/main">
            <a:pPr marL="0" indent="0">
              <a:buNone/>
              <a:defRPr>
                <a:solidFill>
                  <a:srgbClr val="D9E3F0"/>
                </a:solidFill>
              </a:defRPr>
            </a:pPr>
            <a:r>
              <a:rPr sz="1100">
                <a:solidFill>
                  <a:srgbClr val="D9E3F0"/>
                </a:solidFill>
                <a:latin typeface="Calibri"/>
                <a:ea typeface="Calibri"/>
                <a:cs typeface="Calibri"/>
              </a:rPr>
              <a:t>Alter, Qualität und Modelle wechseln</a:t>
            </a:r>
          </a:p>
          <a:p xmlns:a="http://schemas.openxmlformats.org/drawingml/2006/main">
            <a:pPr marL="0" indent="0">
              <a:buNone/>
            </a:pPr>
            <a:r>
              <a:rPr sz="1100">
                <a:solidFill>
                  <a:srgbClr val="CBD5E1"/>
                </a:solidFill>
                <a:latin typeface="Calibri"/>
                <a:ea typeface="Calibri"/>
                <a:cs typeface="Calibri"/>
              </a:rPr>
              <a:t/>
            </a:r>
          </a:p>
          <a:p xmlns:a="http://schemas.openxmlformats.org/drawingml/2006/main">
            <a:pPr marL="0" indent="0">
              <a:buNone/>
              <a:defRPr>
                <a:solidFill>
                  <a:srgbClr val="D9E3F0"/>
                </a:solidFill>
              </a:defRPr>
            </a:pPr>
            <a:r>
              <a:rPr>
                <a:solidFill>
                  <a:srgbClr val="D9E3F0"/>
                </a:solidFill>
              </a:rPr>
              <a:t>Zielmonat drohte</a:t>
            </a:r>
          </a:p>
          <a:p xmlns:a="http://schemas.openxmlformats.org/drawingml/2006/main">
            <a:pPr marL="0" indent="0">
              <a:buNone/>
              <a:defRPr>
                <a:solidFill>
                  <a:srgbClr val="D9E3F0"/>
                </a:solidFill>
              </a:defRPr>
            </a:pPr>
            <a:r>
              <a:rPr sz="1100">
                <a:solidFill>
                  <a:srgbClr val="D9E3F0"/>
                </a:solidFill>
                <a:latin typeface="Calibri"/>
                <a:ea typeface="Calibri"/>
                <a:cs typeface="Calibri"/>
              </a:rPr>
              <a:t>doppelt zu wirken</a:t>
            </a:r>
          </a:p>
        </p:txBody>
      </p:sp>
      <p:sp>
        <p:nvSpPr>
          <p:cNvPr id="10" name="Shape 8">
            <a:extLst xmlns:a="http://schemas.openxmlformats.org/drawingml/2006/main">
              <a:ext uri="{FF2B5EF4-FFF2-40B4-BE49-F238E27FC236}">
                <a16:creationId xmlns:a16="http://schemas.microsoft.com/office/drawing/2014/main" id="{3A6BF995-98AA-4277-AE2F-B1F8CD16F72E}"/>
              </a:ext>
            </a:extLst>
          </p:cNvPr>
          <p:cNvSpPr>
            <a:spLocks xmlns:a="http://schemas.openxmlformats.org/drawingml/2006/main" noGrp="1"/>
          </p:cNvSpPr>
          <p:nvPr/>
        </p:nvSpPr>
        <p:spPr>
          <a:xfrm xmlns:a="http://schemas.openxmlformats.org/drawingml/2006/main">
            <a:off x="3090672" y="2880360"/>
            <a:ext cx="164592" cy="0"/>
          </a:xfrm>
          <a:prstGeom xmlns:a="http://schemas.openxmlformats.org/drawingml/2006/main" prst="line">
            <a:avLst/>
          </a:prstGeom>
          <a:noFill xmlns:a="http://schemas.openxmlformats.org/drawingml/2006/main"/>
          <a:ln xmlns:a="http://schemas.openxmlformats.org/drawingml/2006/main" w="25400">
            <a:solidFill>
              <a:srgbClr val="0D9488"/>
            </a:solidFill>
            <a:prstDash val="solid"/>
          </a:ln>
        </p:spPr>
      </p:sp>
      <p:sp>
        <p:nvSpPr>
          <p:cNvPr id="11" name="Text 9">
            <a:extLst xmlns:a="http://schemas.openxmlformats.org/drawingml/2006/main">
              <a:ext uri="{FF2B5EF4-FFF2-40B4-BE49-F238E27FC236}">
                <a16:creationId xmlns:a16="http://schemas.microsoft.com/office/drawing/2014/main" id="{0CA883F3-7704-4AEF-8145-D5872731DB8B}"/>
              </a:ext>
            </a:extLst>
          </p:cNvPr>
          <p:cNvSpPr>
            <a:spLocks xmlns:a="http://schemas.openxmlformats.org/drawingml/2006/main" noGrp="1"/>
          </p:cNvSpPr>
          <p:nvPr/>
        </p:nvSpPr>
        <p:spPr>
          <a:xfrm xmlns:a="http://schemas.openxmlformats.org/drawingml/2006/main">
            <a:off x="3072384" y="2743200"/>
            <a:ext cx="2011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D9488"/>
                </a:solidFill>
                <a:latin typeface="Calibri"/>
                <a:ea typeface="Calibri"/>
                <a:cs typeface="Calibri"/>
              </a:rPr>
              <a:t>→</a:t>
            </a:r>
          </a:p>
        </p:txBody>
      </p:sp>
      <p:sp>
        <p:nvSpPr>
          <p:cNvPr id="12" name="Shape 10">
            <a:extLst xmlns:a="http://schemas.openxmlformats.org/drawingml/2006/main">
              <a:ext uri="{FF2B5EF4-FFF2-40B4-BE49-F238E27FC236}">
                <a16:creationId xmlns:a16="http://schemas.microsoft.com/office/drawing/2014/main" id="{02EC944B-5116-4E47-AA00-55D145376764}"/>
              </a:ext>
            </a:extLst>
          </p:cNvPr>
          <p:cNvSpPr>
            <a:spLocks xmlns:a="http://schemas.openxmlformats.org/drawingml/2006/main" noGrp="1"/>
          </p:cNvSpPr>
          <p:nvPr/>
        </p:nvSpPr>
        <p:spPr>
          <a:xfrm xmlns:a="http://schemas.openxmlformats.org/drawingml/2006/main">
            <a:off x="3264408" y="868680"/>
            <a:ext cx="2743200" cy="3931920"/>
          </a:xfrm>
          <a:prstGeom xmlns:a="http://schemas.openxmlformats.org/drawingml/2006/main" prst="rect">
            <a:avLst/>
          </a:prstGeom>
          <a:solidFill xmlns:a="http://schemas.openxmlformats.org/drawingml/2006/main">
            <a:srgbClr val="162D4A"/>
          </a:solidFill>
          <a:ln xmlns:a="http://schemas.openxmlformats.org/drawingml/2006/main" w="12700">
            <a:solidFill>
              <a:srgbClr val="162D4A"/>
            </a:solidFill>
            <a:prstDash val="solid"/>
          </a:ln>
          <a:effectLst xmlns:a="http://schemas.openxmlformats.org/drawingml/2006/main">
            <a:outerShdw blurRad="152400" dist="50800" dir="8100000" sx="100000" sy="100000" kx="0" ky="0" algn="bl" rotWithShape="0">
              <a:srgbClr val="000000">
                <a:alpha val="35000"/>
              </a:srgbClr>
            </a:outerShdw>
          </a:effectLst>
        </p:spPr>
      </p:sp>
      <p:sp>
        <p:nvSpPr>
          <p:cNvPr id="13" name="Shape 11">
            <a:extLst xmlns:a="http://schemas.openxmlformats.org/drawingml/2006/main">
              <a:ext uri="{FF2B5EF4-FFF2-40B4-BE49-F238E27FC236}">
                <a16:creationId xmlns:a16="http://schemas.microsoft.com/office/drawing/2014/main" id="{462A1061-A8E6-4816-BD08-55414A4D4FFF}"/>
              </a:ext>
            </a:extLst>
          </p:cNvPr>
          <p:cNvSpPr>
            <a:spLocks xmlns:a="http://schemas.openxmlformats.org/drawingml/2006/main" noGrp="1"/>
          </p:cNvSpPr>
          <p:nvPr/>
        </p:nvSpPr>
        <p:spPr>
          <a:xfrm xmlns:a="http://schemas.openxmlformats.org/drawingml/2006/main">
            <a:off x="3264408" y="868680"/>
            <a:ext cx="2743200" cy="73152"/>
          </a:xfrm>
          <a:prstGeom xmlns:a="http://schemas.openxmlformats.org/drawingml/2006/main" prst="rect">
            <a:avLst/>
          </a:prstGeom>
          <a:solidFill xmlns:a="http://schemas.openxmlformats.org/drawingml/2006/main">
            <a:srgbClr val="0891B2"/>
          </a:solidFill>
          <a:ln xmlns:a="http://schemas.openxmlformats.org/drawingml/2006/main" w="12700">
            <a:solidFill>
              <a:srgbClr val="0891B2"/>
            </a:solidFill>
            <a:prstDash val="solid"/>
          </a:ln>
        </p:spPr>
      </p:sp>
      <p:sp>
        <p:nvSpPr>
          <p:cNvPr id="14" name="Shape 12">
            <a:extLst xmlns:a="http://schemas.openxmlformats.org/drawingml/2006/main">
              <a:ext uri="{FF2B5EF4-FFF2-40B4-BE49-F238E27FC236}">
                <a16:creationId xmlns:a16="http://schemas.microsoft.com/office/drawing/2014/main" id="{E6FD8D1B-C78C-4A0B-9F6D-6A60A0E3E43A}"/>
              </a:ext>
            </a:extLst>
          </p:cNvPr>
          <p:cNvSpPr>
            <a:spLocks xmlns:a="http://schemas.openxmlformats.org/drawingml/2006/main" noGrp="1"/>
          </p:cNvSpPr>
          <p:nvPr/>
        </p:nvSpPr>
        <p:spPr>
          <a:xfrm xmlns:a="http://schemas.openxmlformats.org/drawingml/2006/main">
            <a:off x="3355848" y="1005840"/>
            <a:ext cx="475488" cy="475488"/>
          </a:xfrm>
          <a:prstGeom xmlns:a="http://schemas.openxmlformats.org/drawingml/2006/main" prst="ellipse">
            <a:avLst/>
          </a:prstGeom>
          <a:solidFill xmlns:a="http://schemas.openxmlformats.org/drawingml/2006/main">
            <a:srgbClr val="0891B2"/>
          </a:solidFill>
          <a:ln xmlns:a="http://schemas.openxmlformats.org/drawingml/2006/main" w="12700">
            <a:solidFill>
              <a:srgbClr val="0891B2"/>
            </a:solidFill>
            <a:prstDash val="solid"/>
          </a:ln>
        </p:spPr>
      </p:sp>
      <p:sp>
        <p:nvSpPr>
          <p:cNvPr id="15" name="Text 13">
            <a:extLst xmlns:a="http://schemas.openxmlformats.org/drawingml/2006/main">
              <a:ext uri="{FF2B5EF4-FFF2-40B4-BE49-F238E27FC236}">
                <a16:creationId xmlns:a16="http://schemas.microsoft.com/office/drawing/2014/main" id="{003299C3-358D-4253-8340-0B677F14F370}"/>
              </a:ext>
            </a:extLst>
          </p:cNvPr>
          <p:cNvSpPr>
            <a:spLocks xmlns:a="http://schemas.openxmlformats.org/drawingml/2006/main" noGrp="1"/>
          </p:cNvSpPr>
          <p:nvPr/>
        </p:nvSpPr>
        <p:spPr>
          <a:xfrm xmlns:a="http://schemas.openxmlformats.org/drawingml/2006/main">
            <a:off x="3355848" y="1005840"/>
            <a:ext cx="47548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alibri"/>
                <a:ea typeface="Calibri"/>
                <a:cs typeface="Calibri"/>
              </a:rPr>
              <a:t>2</a:t>
            </a:r>
          </a:p>
        </p:txBody>
      </p:sp>
      <p:sp>
        <p:nvSpPr>
          <p:cNvPr id="16" name="Text 14">
            <a:extLst xmlns:a="http://schemas.openxmlformats.org/drawingml/2006/main">
              <a:ext uri="{FF2B5EF4-FFF2-40B4-BE49-F238E27FC236}">
                <a16:creationId xmlns:a16="http://schemas.microsoft.com/office/drawing/2014/main" id="{84CC535F-9BAF-42DB-A157-A0BE372D5DEE}"/>
              </a:ext>
            </a:extLst>
          </p:cNvPr>
          <p:cNvSpPr>
            <a:spLocks xmlns:a="http://schemas.openxmlformats.org/drawingml/2006/main" noGrp="1"/>
          </p:cNvSpPr>
          <p:nvPr/>
        </p:nvSpPr>
        <p:spPr>
          <a:xfrm xmlns:a="http://schemas.openxmlformats.org/drawingml/2006/main">
            <a:off x="3922776" y="103327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2 · Mix kontrolliert</a:t>
            </a:r>
          </a:p>
        </p:txBody>
      </p:sp>
      <p:sp>
        <p:nvSpPr>
          <p:cNvPr id="17" name="Text 15">
            <a:extLst xmlns:a="http://schemas.openxmlformats.org/drawingml/2006/main">
              <a:ext uri="{FF2B5EF4-FFF2-40B4-BE49-F238E27FC236}">
                <a16:creationId xmlns:a16="http://schemas.microsoft.com/office/drawing/2014/main" id="{8121061B-1FCC-4697-9DD2-273A577C8387}"/>
              </a:ext>
            </a:extLst>
          </p:cNvPr>
          <p:cNvSpPr>
            <a:spLocks xmlns:a="http://schemas.openxmlformats.org/drawingml/2006/main" noGrp="1"/>
          </p:cNvSpPr>
          <p:nvPr/>
        </p:nvSpPr>
        <p:spPr>
          <a:xfrm xmlns:a="http://schemas.openxmlformats.org/drawingml/2006/main">
            <a:off x="3922776" y="1344168"/>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0891B2"/>
                </a:solidFill>
                <a:latin typeface="Calibri"/>
                <a:ea typeface="Calibri"/>
                <a:cs typeface="Calibri"/>
              </a:rPr>
              <a:t>CPI-normalisierte Modellresiduen</a:t>
            </a:r>
          </a:p>
        </p:txBody>
      </p:sp>
      <p:sp>
        <p:nvSpPr>
          <p:cNvPr id="18" name="Text 16">
            <a:extLst xmlns:a="http://schemas.openxmlformats.org/drawingml/2006/main">
              <a:ext uri="{FF2B5EF4-FFF2-40B4-BE49-F238E27FC236}">
                <a16:creationId xmlns:a16="http://schemas.microsoft.com/office/drawing/2014/main" id="{0624F79D-6967-4C04-A2F1-BE0B9B4BF732}"/>
              </a:ext>
            </a:extLst>
          </p:cNvPr>
          <p:cNvSpPr>
            <a:spLocks xmlns:a="http://schemas.openxmlformats.org/drawingml/2006/main" noGrp="1"/>
          </p:cNvSpPr>
          <p:nvPr/>
        </p:nvSpPr>
        <p:spPr>
          <a:xfrm xmlns:a="http://schemas.openxmlformats.org/drawingml/2006/main">
            <a:off x="3401568" y="1783080"/>
            <a:ext cx="246888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solidFill>
                  <a:srgbClr val="D9E3F0"/>
                </a:solidFill>
              </a:defRPr>
            </a:pPr>
            <a:r>
              <a:rPr sz="1100">
                <a:solidFill>
                  <a:srgbClr val="D9E3F0"/>
                </a:solidFill>
                <a:latin typeface="Calibri"/>
                <a:ea typeface="Calibri"/>
                <a:cs typeface="Calibri"/>
              </a:rPr>
              <a:t>Verkaufspreis ÷ CPI</a:t>
            </a:r>
          </a:p>
          <a:p xmlns:a="http://schemas.openxmlformats.org/drawingml/2006/main">
            <a:pPr marL="0" indent="0">
              <a:buNone/>
              <a:defRPr>
                <a:solidFill>
                  <a:srgbClr val="D9E3F0"/>
                </a:solidFill>
              </a:defRPr>
            </a:pPr>
            <a:r>
              <a:rPr sz="1100">
                <a:solidFill>
                  <a:srgbClr val="D9E3F0"/>
                </a:solidFill>
                <a:latin typeface="Calibri"/>
                <a:ea typeface="Calibri"/>
                <a:cs typeface="Calibri"/>
              </a:rPr>
              <a:t>÷ Stage-1-Prognose bei 2015-02</a:t>
            </a:r>
          </a:p>
          <a:p xmlns:a="http://schemas.openxmlformats.org/drawingml/2006/main">
            <a:pPr marL="0" indent="0">
              <a:buNone/>
            </a:pPr>
            <a:r>
              <a:rPr sz="1100">
                <a:solidFill>
                  <a:srgbClr val="CBD5E1"/>
                </a:solidFill>
                <a:latin typeface="Calibri"/>
                <a:ea typeface="Calibri"/>
                <a:cs typeface="Calibri"/>
              </a:rPr>
              <a:t/>
            </a:r>
          </a:p>
          <a:p xmlns:a="http://schemas.openxmlformats.org/drawingml/2006/main">
            <a:pPr marL="0" indent="0">
              <a:buNone/>
              <a:defRPr>
                <a:solidFill>
                  <a:srgbClr val="D9E3F0"/>
                </a:solidFill>
              </a:defRPr>
            </a:pPr>
            <a:r>
              <a:rPr>
                <a:solidFill>
                  <a:srgbClr val="D9E3F0"/>
                </a:solidFill>
              </a:rPr>
              <a:t>Median je Body×Monat</a:t>
            </a:r>
          </a:p>
          <a:p xmlns:a="http://schemas.openxmlformats.org/drawingml/2006/main">
            <a:pPr marL="0" indent="0">
              <a:buNone/>
              <a:defRPr>
                <a:solidFill>
                  <a:srgbClr val="D9E3F0"/>
                </a:solidFill>
              </a:defRPr>
            </a:pPr>
            <a:r>
              <a:rPr sz="1100">
                <a:solidFill>
                  <a:srgbClr val="D9E3F0"/>
                </a:solidFill>
                <a:latin typeface="Calibri"/>
                <a:ea typeface="Calibri"/>
                <a:cs typeface="Calibri"/>
              </a:rPr>
              <a:t>relativ zum Body-Median</a:t>
            </a:r>
          </a:p>
        </p:txBody>
      </p:sp>
      <p:sp>
        <p:nvSpPr>
          <p:cNvPr id="19" name="Shape 17">
            <a:extLst xmlns:a="http://schemas.openxmlformats.org/drawingml/2006/main">
              <a:ext uri="{FF2B5EF4-FFF2-40B4-BE49-F238E27FC236}">
                <a16:creationId xmlns:a16="http://schemas.microsoft.com/office/drawing/2014/main" id="{51DCE24C-FA32-401F-888B-7BF381330396}"/>
              </a:ext>
            </a:extLst>
          </p:cNvPr>
          <p:cNvSpPr>
            <a:spLocks xmlns:a="http://schemas.openxmlformats.org/drawingml/2006/main" noGrp="1"/>
          </p:cNvSpPr>
          <p:nvPr/>
        </p:nvSpPr>
        <p:spPr>
          <a:xfrm xmlns:a="http://schemas.openxmlformats.org/drawingml/2006/main">
            <a:off x="6035040" y="2880360"/>
            <a:ext cx="164592" cy="0"/>
          </a:xfrm>
          <a:prstGeom xmlns:a="http://schemas.openxmlformats.org/drawingml/2006/main" prst="line">
            <a:avLst/>
          </a:prstGeom>
          <a:noFill xmlns:a="http://schemas.openxmlformats.org/drawingml/2006/main"/>
          <a:ln xmlns:a="http://schemas.openxmlformats.org/drawingml/2006/main" w="25400">
            <a:solidFill>
              <a:srgbClr val="0D9488"/>
            </a:solidFill>
            <a:prstDash val="solid"/>
          </a:ln>
        </p:spPr>
      </p:sp>
      <p:sp>
        <p:nvSpPr>
          <p:cNvPr id="20" name="Text 18">
            <a:extLst xmlns:a="http://schemas.openxmlformats.org/drawingml/2006/main">
              <a:ext uri="{FF2B5EF4-FFF2-40B4-BE49-F238E27FC236}">
                <a16:creationId xmlns:a16="http://schemas.microsoft.com/office/drawing/2014/main" id="{99C2241D-9F94-48FC-9479-B739D37B6CBD}"/>
              </a:ext>
            </a:extLst>
          </p:cNvPr>
          <p:cNvSpPr>
            <a:spLocks xmlns:a="http://schemas.openxmlformats.org/drawingml/2006/main" noGrp="1"/>
          </p:cNvSpPr>
          <p:nvPr/>
        </p:nvSpPr>
        <p:spPr>
          <a:xfrm xmlns:a="http://schemas.openxmlformats.org/drawingml/2006/main">
            <a:off x="6016752" y="2743200"/>
            <a:ext cx="2011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D9488"/>
                </a:solidFill>
                <a:latin typeface="Calibri"/>
                <a:ea typeface="Calibri"/>
                <a:cs typeface="Calibri"/>
              </a:rPr>
              <a:t>→</a:t>
            </a:r>
          </a:p>
        </p:txBody>
      </p:sp>
      <p:sp>
        <p:nvSpPr>
          <p:cNvPr id="21" name="Shape 19">
            <a:extLst xmlns:a="http://schemas.openxmlformats.org/drawingml/2006/main">
              <a:ext uri="{FF2B5EF4-FFF2-40B4-BE49-F238E27FC236}">
                <a16:creationId xmlns:a16="http://schemas.microsoft.com/office/drawing/2014/main" id="{A2D92F29-1EC4-4AFC-90F7-6FA6416F91F6}"/>
              </a:ext>
            </a:extLst>
          </p:cNvPr>
          <p:cNvSpPr>
            <a:spLocks xmlns:a="http://schemas.openxmlformats.org/drawingml/2006/main" noGrp="1"/>
          </p:cNvSpPr>
          <p:nvPr/>
        </p:nvSpPr>
        <p:spPr>
          <a:xfrm xmlns:a="http://schemas.openxmlformats.org/drawingml/2006/main">
            <a:off x="6208776" y="868680"/>
            <a:ext cx="2743200" cy="3931920"/>
          </a:xfrm>
          <a:prstGeom xmlns:a="http://schemas.openxmlformats.org/drawingml/2006/main" prst="rect">
            <a:avLst/>
          </a:prstGeom>
          <a:solidFill xmlns:a="http://schemas.openxmlformats.org/drawingml/2006/main">
            <a:srgbClr val="162D4A"/>
          </a:solidFill>
          <a:ln xmlns:a="http://schemas.openxmlformats.org/drawingml/2006/main" w="12700">
            <a:solidFill>
              <a:srgbClr val="162D4A"/>
            </a:solidFill>
            <a:prstDash val="solid"/>
          </a:ln>
          <a:effectLst xmlns:a="http://schemas.openxmlformats.org/drawingml/2006/main">
            <a:outerShdw blurRad="152400" dist="50800" dir="8100000" sx="100000" sy="100000" kx="0" ky="0" algn="bl" rotWithShape="0">
              <a:srgbClr val="000000">
                <a:alpha val="35000"/>
              </a:srgbClr>
            </a:outerShdw>
          </a:effectLst>
        </p:spPr>
      </p:sp>
      <p:sp>
        <p:nvSpPr>
          <p:cNvPr id="22" name="Shape 20">
            <a:extLst xmlns:a="http://schemas.openxmlformats.org/drawingml/2006/main">
              <a:ext uri="{FF2B5EF4-FFF2-40B4-BE49-F238E27FC236}">
                <a16:creationId xmlns:a16="http://schemas.microsoft.com/office/drawing/2014/main" id="{3D546811-2EE0-4DDB-9D63-3DD23B8097FD}"/>
              </a:ext>
            </a:extLst>
          </p:cNvPr>
          <p:cNvSpPr>
            <a:spLocks xmlns:a="http://schemas.openxmlformats.org/drawingml/2006/main" noGrp="1"/>
          </p:cNvSpPr>
          <p:nvPr/>
        </p:nvSpPr>
        <p:spPr>
          <a:xfrm xmlns:a="http://schemas.openxmlformats.org/drawingml/2006/main">
            <a:off x="6208776" y="868680"/>
            <a:ext cx="2743200" cy="73152"/>
          </a:xfrm>
          <a:prstGeom xmlns:a="http://schemas.openxmlformats.org/drawingml/2006/main" prst="rect">
            <a:avLst/>
          </a:prstGeom>
          <a:solidFill xmlns:a="http://schemas.openxmlformats.org/drawingml/2006/main">
            <a:srgbClr val="7C3AED"/>
          </a:solidFill>
          <a:ln xmlns:a="http://schemas.openxmlformats.org/drawingml/2006/main" w="12700">
            <a:solidFill>
              <a:srgbClr val="7C3AED"/>
            </a:solidFill>
            <a:prstDash val="solid"/>
          </a:ln>
        </p:spPr>
      </p:sp>
      <p:sp>
        <p:nvSpPr>
          <p:cNvPr id="23" name="Shape 21">
            <a:extLst xmlns:a="http://schemas.openxmlformats.org/drawingml/2006/main">
              <a:ext uri="{FF2B5EF4-FFF2-40B4-BE49-F238E27FC236}">
                <a16:creationId xmlns:a16="http://schemas.microsoft.com/office/drawing/2014/main" id="{6810568F-BEF4-4B8D-94FB-6CA1591B9978}"/>
              </a:ext>
            </a:extLst>
          </p:cNvPr>
          <p:cNvSpPr>
            <a:spLocks xmlns:a="http://schemas.openxmlformats.org/drawingml/2006/main" noGrp="1"/>
          </p:cNvSpPr>
          <p:nvPr/>
        </p:nvSpPr>
        <p:spPr>
          <a:xfrm xmlns:a="http://schemas.openxmlformats.org/drawingml/2006/main">
            <a:off x="6300216" y="1005840"/>
            <a:ext cx="475488" cy="475488"/>
          </a:xfrm>
          <a:prstGeom xmlns:a="http://schemas.openxmlformats.org/drawingml/2006/main" prst="ellipse">
            <a:avLst/>
          </a:prstGeom>
          <a:solidFill xmlns:a="http://schemas.openxmlformats.org/drawingml/2006/main">
            <a:srgbClr val="7C3AED"/>
          </a:solidFill>
          <a:ln xmlns:a="http://schemas.openxmlformats.org/drawingml/2006/main" w="12700">
            <a:solidFill>
              <a:srgbClr val="7C3AED"/>
            </a:solidFill>
            <a:prstDash val="solid"/>
          </a:ln>
        </p:spPr>
      </p:sp>
      <p:sp>
        <p:nvSpPr>
          <p:cNvPr id="24" name="Text 22">
            <a:extLst xmlns:a="http://schemas.openxmlformats.org/drawingml/2006/main">
              <a:ext uri="{FF2B5EF4-FFF2-40B4-BE49-F238E27FC236}">
                <a16:creationId xmlns:a16="http://schemas.microsoft.com/office/drawing/2014/main" id="{B978A294-30F2-409B-9096-BC27B2868C13}"/>
              </a:ext>
            </a:extLst>
          </p:cNvPr>
          <p:cNvSpPr>
            <a:spLocks xmlns:a="http://schemas.openxmlformats.org/drawingml/2006/main" noGrp="1"/>
          </p:cNvSpPr>
          <p:nvPr/>
        </p:nvSpPr>
        <p:spPr>
          <a:xfrm xmlns:a="http://schemas.openxmlformats.org/drawingml/2006/main">
            <a:off x="6300216" y="1005840"/>
            <a:ext cx="47548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Calibri"/>
                <a:ea typeface="Calibri"/>
                <a:cs typeface="Calibri"/>
              </a:rPr>
              <a:t>3</a:t>
            </a:r>
          </a:p>
        </p:txBody>
      </p:sp>
      <p:sp>
        <p:nvSpPr>
          <p:cNvPr id="25" name="Text 23">
            <a:extLst xmlns:a="http://schemas.openxmlformats.org/drawingml/2006/main">
              <a:ext uri="{FF2B5EF4-FFF2-40B4-BE49-F238E27FC236}">
                <a16:creationId xmlns:a16="http://schemas.microsoft.com/office/drawing/2014/main" id="{6CC6C70A-2725-41DD-873B-AB2C0E143784}"/>
              </a:ext>
            </a:extLst>
          </p:cNvPr>
          <p:cNvSpPr>
            <a:spLocks xmlns:a="http://schemas.openxmlformats.org/drawingml/2006/main" noGrp="1"/>
          </p:cNvSpPr>
          <p:nvPr/>
        </p:nvSpPr>
        <p:spPr>
          <a:xfrm xmlns:a="http://schemas.openxmlformats.org/drawingml/2006/main">
            <a:off x="6867144" y="103327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3 · Konservativ gemacht</a:t>
            </a:r>
          </a:p>
        </p:txBody>
      </p:sp>
      <p:sp>
        <p:nvSpPr>
          <p:cNvPr id="26" name="Text 24">
            <a:extLst xmlns:a="http://schemas.openxmlformats.org/drawingml/2006/main">
              <a:ext uri="{FF2B5EF4-FFF2-40B4-BE49-F238E27FC236}">
                <a16:creationId xmlns:a16="http://schemas.microsoft.com/office/drawing/2014/main" id="{B5EB2CF7-E91D-4E48-8393-91EBB8906CBA}"/>
              </a:ext>
            </a:extLst>
          </p:cNvPr>
          <p:cNvSpPr>
            <a:spLocks xmlns:a="http://schemas.openxmlformats.org/drawingml/2006/main" noGrp="1"/>
          </p:cNvSpPr>
          <p:nvPr/>
        </p:nvSpPr>
        <p:spPr>
          <a:xfrm xmlns:a="http://schemas.openxmlformats.org/drawingml/2006/main">
            <a:off x="6867144" y="1344168"/>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7C3AED"/>
                </a:solidFill>
                <a:latin typeface="Calibri"/>
                <a:ea typeface="Calibri"/>
                <a:cs typeface="Calibri"/>
              </a:rPr>
              <a:t>Dämpfung + Datenregeln</a:t>
            </a:r>
          </a:p>
        </p:txBody>
      </p:sp>
      <p:sp>
        <p:nvSpPr>
          <p:cNvPr id="27" name="Text 25">
            <a:extLst xmlns:a="http://schemas.openxmlformats.org/drawingml/2006/main">
              <a:ext uri="{FF2B5EF4-FFF2-40B4-BE49-F238E27FC236}">
                <a16:creationId xmlns:a16="http://schemas.microsoft.com/office/drawing/2014/main" id="{54CE87FC-8D74-4BB8-A2C9-98F937F76160}"/>
              </a:ext>
            </a:extLst>
          </p:cNvPr>
          <p:cNvSpPr>
            <a:spLocks xmlns:a="http://schemas.openxmlformats.org/drawingml/2006/main" noGrp="1"/>
          </p:cNvSpPr>
          <p:nvPr/>
        </p:nvSpPr>
        <p:spPr>
          <a:xfrm xmlns:a="http://schemas.openxmlformats.org/drawingml/2006/main">
            <a:off x="6345936" y="1783080"/>
            <a:ext cx="246888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solidFill>
                  <a:srgbClr val="D9E3F0"/>
                </a:solidFill>
              </a:defRPr>
            </a:pPr>
            <a:r>
              <a:rPr sz="1100">
                <a:solidFill>
                  <a:srgbClr val="D9E3F0"/>
                </a:solidFill>
                <a:latin typeface="Calibri"/>
                <a:ea typeface="Calibri"/>
                <a:cs typeface="Calibri"/>
              </a:rPr>
              <a:t>Priorstärke: 1.000 Beobachtungen</a:t>
            </a:r>
          </a:p>
          <a:p xmlns:a="http://schemas.openxmlformats.org/drawingml/2006/main">
            <a:pPr marL="0" indent="0">
              <a:buNone/>
              <a:defRPr>
                <a:solidFill>
                  <a:srgbClr val="D9E3F0"/>
                </a:solidFill>
              </a:defRPr>
            </a:pPr>
            <a:r>
              <a:rPr sz="1100">
                <a:solidFill>
                  <a:srgbClr val="D9E3F0"/>
                </a:solidFill>
                <a:latin typeface="Calibri"/>
                <a:ea typeface="Calibri"/>
                <a:cs typeface="Calibri"/>
              </a:rPr>
              <a:t>Grenzen: 0,85 bis 1,15</a:t>
            </a:r>
          </a:p>
          <a:p xmlns:a="http://schemas.openxmlformats.org/drawingml/2006/main">
            <a:pPr marL="0" indent="0">
              <a:buNone/>
            </a:pPr>
            <a:r>
              <a:rPr sz="1100">
                <a:solidFill>
                  <a:srgbClr val="CBD5E1"/>
                </a:solidFill>
                <a:latin typeface="Calibri"/>
                <a:ea typeface="Calibri"/>
                <a:cs typeface="Calibri"/>
              </a:rPr>
              <a:t/>
            </a:r>
          </a:p>
          <a:p xmlns:a="http://schemas.openxmlformats.org/drawingml/2006/main">
            <a:pPr marL="0" indent="0">
              <a:buNone/>
              <a:defRPr>
                <a:solidFill>
                  <a:srgbClr val="D9E3F0"/>
                </a:solidFill>
              </a:defRPr>
            </a:pPr>
            <a:r>
              <a:rPr sz="1100">
                <a:solidFill>
                  <a:srgbClr val="D9E3F0"/>
                </a:solidFill>
                <a:latin typeface="Calibri"/>
                <a:ea typeface="Calibri"/>
                <a:cs typeface="Calibri"/>
              </a:rPr>
              <a:t>Best/Worst: ≥2 Monate je n ≥ 100</a:t>
            </a:r>
          </a:p>
          <a:p xmlns:a="http://schemas.openxmlformats.org/drawingml/2006/main">
            <a:pPr marL="0" indent="0">
              <a:buNone/>
              <a:defRPr>
                <a:solidFill>
                  <a:srgbClr val="D9E3F0"/>
                </a:solidFill>
              </a:defRPr>
            </a:pPr>
            <a:r>
              <a:rPr>
                <a:solidFill>
                  <a:srgbClr val="D9E3F0"/>
                </a:solidFill>
              </a:rPr>
              <a:t>Keine Daten → Faktor 1,0000</a:t>
            </a:r>
          </a:p>
        </p:txBody>
      </p:sp>
      <p:sp>
        <p:nvSpPr>
          <p:cNvPr id="28" name="Shape 26">
            <a:extLst xmlns:a="http://schemas.openxmlformats.org/drawingml/2006/main">
              <a:ext uri="{FF2B5EF4-FFF2-40B4-BE49-F238E27FC236}">
                <a16:creationId xmlns:a16="http://schemas.microsoft.com/office/drawing/2014/main" id="{8E667D66-8A81-4B8C-ACFD-BB630BA9BD70}"/>
              </a:ext>
            </a:extLst>
          </p:cNvPr>
          <p:cNvSpPr>
            <a:spLocks xmlns:a="http://schemas.openxmlformats.org/drawingml/2006/main" noGrp="1"/>
          </p:cNvSpPr>
          <p:nvPr/>
        </p:nvSpPr>
        <p:spPr>
          <a:xfrm xmlns:a="http://schemas.openxmlformats.org/drawingml/2006/main">
            <a:off x="320040" y="4663440"/>
            <a:ext cx="8503920" cy="320040"/>
          </a:xfrm>
          <a:prstGeom xmlns:a="http://schemas.openxmlformats.org/drawingml/2006/main" prst="rect">
            <a:avLst/>
          </a:prstGeom>
          <a:solidFill xmlns:a="http://schemas.openxmlformats.org/drawingml/2006/main">
            <a:srgbClr val="0D1F35"/>
          </a:solidFill>
          <a:ln xmlns:a="http://schemas.openxmlformats.org/drawingml/2006/main" w="12700">
            <a:solidFill>
              <a:srgbClr val="0D1F35"/>
            </a:solidFill>
            <a:prstDash val="solid"/>
          </a:ln>
        </p:spPr>
      </p:sp>
      <p:sp>
        <p:nvSpPr>
          <p:cNvPr id="29" name="Text 27">
            <a:extLst xmlns:a="http://schemas.openxmlformats.org/drawingml/2006/main">
              <a:ext uri="{FF2B5EF4-FFF2-40B4-BE49-F238E27FC236}">
                <a16:creationId xmlns:a16="http://schemas.microsoft.com/office/drawing/2014/main" id="{F94BE29C-5DA5-4377-A9CA-78CEE24B6992}"/>
              </a:ext>
            </a:extLst>
          </p:cNvPr>
          <p:cNvSpPr>
            <a:spLocks xmlns:a="http://schemas.openxmlformats.org/drawingml/2006/main" noGrp="1"/>
          </p:cNvSpPr>
          <p:nvPr/>
        </p:nvSpPr>
        <p:spPr>
          <a:xfrm xmlns:a="http://schemas.openxmlformats.org/drawingml/2006/main">
            <a:off x="457200" y="468172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14B8A6"/>
                </a:solidFill>
                <a:latin typeface="Calibri"/>
                <a:ea typeface="Calibri"/>
                <a:cs typeface="Calibri"/>
              </a:rPr>
              <a:t>Stage 3 behauptet nur einen Effekt, wenn die historische Datenbasis ihn trägt.</a:t>
            </a:r>
          </a:p>
        </p:txBody>
      </p:sp>
    </p:spTree>
    <p:extLst>
      <p:ext uri="{BB962C8B-B14F-4D97-AF65-F5344CB8AC3E}">
        <p14:creationId xmlns:p14="http://schemas.microsoft.com/office/powerpoint/2010/main" val="453545168"/>
      </p:ext>
    </p:extLst>
  </p:cSld>
</p:sld>
</file>

<file path=ppt/slides/slide5.xml><?xml version="1.0" encoding="utf-8"?>
<p:sld xmlns:p="http://schemas.openxmlformats.org/presentationml/2006/main">
  <p:cSld>
    <p:bg>
      <p:bgPr>
        <a:solidFill xmlns:a="http://schemas.openxmlformats.org/drawingml/2006/main">
          <a:srgbClr val="F1F5F9"/>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F3846F5-EAE5-441A-8054-8B957B6A2A19}"/>
              </a:ext>
            </a:extLst>
          </p:cNvPr>
          <p:cNvSpPr>
            <a:spLocks xmlns:a="http://schemas.openxmlformats.org/drawingml/2006/main" noGrp="1"/>
          </p:cNvSpPr>
          <p:nvPr/>
        </p:nvSpPr>
        <p:spPr>
          <a:xfrm xmlns:a="http://schemas.openxmlformats.org/drawingml/2006/main">
            <a:off x="457200" y="320040"/>
            <a:ext cx="8229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2240"/>
                </a:solidFill>
                <a:latin typeface="Calibri"/>
                <a:ea typeface="Calibri"/>
                <a:cs typeface="Calibri"/>
              </a:rPr>
              <a:t>Stage 3 | Ergebnis und Grenzen</a:t>
            </a:r>
          </a:p>
        </p:txBody>
      </p:sp>
      <p:sp>
        <p:nvSpPr>
          <p:cNvPr id="3" name="Shape 1">
            <a:extLst xmlns:a="http://schemas.openxmlformats.org/drawingml/2006/main">
              <a:ext uri="{FF2B5EF4-FFF2-40B4-BE49-F238E27FC236}">
                <a16:creationId xmlns:a16="http://schemas.microsoft.com/office/drawing/2014/main" id="{E76CAF98-3FCB-456F-B9DD-6B98CAA93639}"/>
              </a:ext>
            </a:extLst>
          </p:cNvPr>
          <p:cNvSpPr>
            <a:spLocks xmlns:a="http://schemas.openxmlformats.org/drawingml/2006/main" noGrp="1"/>
          </p:cNvSpPr>
          <p:nvPr/>
        </p:nvSpPr>
        <p:spPr>
          <a:xfrm xmlns:a="http://schemas.openxmlformats.org/drawingml/2006/main">
            <a:off x="365760" y="1005840"/>
            <a:ext cx="2606040" cy="32004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a:effectLst xmlns:a="http://schemas.openxmlformats.org/drawingml/2006/main">
            <a:outerShdw blurRad="101600" dist="25400" dir="8100000" sx="100000" sy="100000" kx="0" ky="0" algn="bl" rotWithShape="0">
              <a:srgbClr val="000000">
                <a:alpha val="10000"/>
              </a:srgbClr>
            </a:outerShdw>
          </a:effectLst>
        </p:spPr>
      </p:sp>
      <p:sp>
        <p:nvSpPr>
          <p:cNvPr id="4" name="Text 2">
            <a:extLst xmlns:a="http://schemas.openxmlformats.org/drawingml/2006/main">
              <a:ext uri="{FF2B5EF4-FFF2-40B4-BE49-F238E27FC236}">
                <a16:creationId xmlns:a16="http://schemas.microsoft.com/office/drawing/2014/main" id="{963623C6-BED6-4A35-A585-2AAA665D54B7}"/>
              </a:ext>
            </a:extLst>
          </p:cNvPr>
          <p:cNvSpPr>
            <a:spLocks xmlns:a="http://schemas.openxmlformats.org/drawingml/2006/main" noGrp="1"/>
          </p:cNvSpPr>
          <p:nvPr/>
        </p:nvSpPr>
        <p:spPr>
          <a:xfrm xmlns:a="http://schemas.openxmlformats.org/drawingml/2006/main">
            <a:off x="457200" y="1115568"/>
            <a:ext cx="640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000000"/>
                </a:solidFill>
              </a:rPr>
              <a:t>✓</a:t>
            </a:r>
          </a:p>
        </p:txBody>
      </p:sp>
      <p:sp>
        <p:nvSpPr>
          <p:cNvPr id="5" name="Text 3">
            <a:extLst xmlns:a="http://schemas.openxmlformats.org/drawingml/2006/main">
              <a:ext uri="{FF2B5EF4-FFF2-40B4-BE49-F238E27FC236}">
                <a16:creationId xmlns:a16="http://schemas.microsoft.com/office/drawing/2014/main" id="{45A3E71B-8CF8-48F3-826B-F649D32F65EE}"/>
              </a:ext>
            </a:extLst>
          </p:cNvPr>
          <p:cNvSpPr>
            <a:spLocks xmlns:a="http://schemas.openxmlformats.org/drawingml/2006/main" noGrp="1"/>
          </p:cNvSpPr>
          <p:nvPr/>
        </p:nvSpPr>
        <p:spPr>
          <a:xfrm xmlns:a="http://schemas.openxmlformats.org/drawingml/2006/main">
            <a:off x="475488" y="1755648"/>
            <a:ext cx="23774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2240"/>
                </a:solidFill>
                <a:latin typeface="Calibri"/>
                <a:ea typeface="Calibri"/>
                <a:cs typeface="Calibri"/>
              </a:rPr>
              <a:t>Holdout verbessert</a:t>
            </a:r>
          </a:p>
        </p:txBody>
      </p:sp>
      <p:sp>
        <p:nvSpPr>
          <p:cNvPr id="6" name="Text 4">
            <a:extLst xmlns:a="http://schemas.openxmlformats.org/drawingml/2006/main">
              <a:ext uri="{FF2B5EF4-FFF2-40B4-BE49-F238E27FC236}">
                <a16:creationId xmlns:a16="http://schemas.microsoft.com/office/drawing/2014/main" id="{159CC1B4-CFA3-460C-98ED-BBF7611D4B28}"/>
              </a:ext>
            </a:extLst>
          </p:cNvPr>
          <p:cNvSpPr>
            <a:spLocks xmlns:a="http://schemas.openxmlformats.org/drawingml/2006/main" noGrp="1"/>
          </p:cNvSpPr>
          <p:nvPr/>
        </p:nvSpPr>
        <p:spPr>
          <a:xfrm xmlns:a="http://schemas.openxmlformats.org/drawingml/2006/main">
            <a:off x="475488" y="2240280"/>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4748B"/>
                </a:solidFill>
                <a:latin typeface="Calibri"/>
                <a:ea typeface="Calibri"/>
                <a:cs typeface="Calibri"/>
              </a:rPr>
              <a:t>MAE 1.895,03 → 1.870,20 $</a:t>
            </a:r>
          </a:p>
          <a:p xmlns:a="http://schemas.openxmlformats.org/drawingml/2006/main">
            <a:pPr marL="0" indent="0">
              <a:buNone/>
            </a:pPr>
            <a:r>
              <a:rPr sz="1100">
                <a:solidFill>
                  <a:srgbClr val="64748B"/>
                </a:solidFill>
                <a:latin typeface="Calibri"/>
                <a:ea typeface="Calibri"/>
                <a:cs typeface="Calibri"/>
              </a:rPr>
              <a:t>−24,82 $ beziehungsweise −1,31 %</a:t>
            </a:r>
          </a:p>
        </p:txBody>
      </p:sp>
      <p:sp>
        <p:nvSpPr>
          <p:cNvPr id="7" name="Shape 5">
            <a:extLst xmlns:a="http://schemas.openxmlformats.org/drawingml/2006/main">
              <a:ext uri="{FF2B5EF4-FFF2-40B4-BE49-F238E27FC236}">
                <a16:creationId xmlns:a16="http://schemas.microsoft.com/office/drawing/2014/main" id="{EC6CF391-72F2-413A-804C-9ACC10ECED92}"/>
              </a:ext>
            </a:extLst>
          </p:cNvPr>
          <p:cNvSpPr>
            <a:spLocks xmlns:a="http://schemas.openxmlformats.org/drawingml/2006/main" noGrp="1"/>
          </p:cNvSpPr>
          <p:nvPr/>
        </p:nvSpPr>
        <p:spPr>
          <a:xfrm xmlns:a="http://schemas.openxmlformats.org/drawingml/2006/main">
            <a:off x="3200400" y="1005840"/>
            <a:ext cx="2606040" cy="32004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a:effectLst xmlns:a="http://schemas.openxmlformats.org/drawingml/2006/main">
            <a:outerShdw blurRad="101600" dist="25400" dir="8100000" sx="100000" sy="100000" kx="0" ky="0" algn="bl" rotWithShape="0">
              <a:srgbClr val="000000">
                <a:alpha val="10000"/>
              </a:srgbClr>
            </a:outerShdw>
          </a:effectLst>
        </p:spPr>
      </p:sp>
      <p:sp>
        <p:nvSpPr>
          <p:cNvPr id="8" name="Text 6">
            <a:extLst xmlns:a="http://schemas.openxmlformats.org/drawingml/2006/main">
              <a:ext uri="{FF2B5EF4-FFF2-40B4-BE49-F238E27FC236}">
                <a16:creationId xmlns:a16="http://schemas.microsoft.com/office/drawing/2014/main" id="{7F821784-1AF7-4941-A14B-EA817575F4D4}"/>
              </a:ext>
            </a:extLst>
          </p:cNvPr>
          <p:cNvSpPr>
            <a:spLocks xmlns:a="http://schemas.openxmlformats.org/drawingml/2006/main" noGrp="1"/>
          </p:cNvSpPr>
          <p:nvPr/>
        </p:nvSpPr>
        <p:spPr>
          <a:xfrm xmlns:a="http://schemas.openxmlformats.org/drawingml/2006/main">
            <a:off x="3291840" y="1115568"/>
            <a:ext cx="640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000000"/>
                </a:solidFill>
              </a:rPr>
              <a:t>↕</a:t>
            </a:r>
          </a:p>
        </p:txBody>
      </p:sp>
      <p:sp>
        <p:nvSpPr>
          <p:cNvPr id="9" name="Text 7">
            <a:extLst xmlns:a="http://schemas.openxmlformats.org/drawingml/2006/main">
              <a:ext uri="{FF2B5EF4-FFF2-40B4-BE49-F238E27FC236}">
                <a16:creationId xmlns:a16="http://schemas.microsoft.com/office/drawing/2014/main" id="{D77E7BA1-53AB-4C9C-A66D-CD30B96D44F9}"/>
              </a:ext>
            </a:extLst>
          </p:cNvPr>
          <p:cNvSpPr>
            <a:spLocks xmlns:a="http://schemas.openxmlformats.org/drawingml/2006/main" noGrp="1"/>
          </p:cNvSpPr>
          <p:nvPr/>
        </p:nvSpPr>
        <p:spPr>
          <a:xfrm xmlns:a="http://schemas.openxmlformats.org/drawingml/2006/main">
            <a:off x="3310128" y="1755648"/>
            <a:ext cx="23774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2240"/>
                </a:solidFill>
                <a:latin typeface="Calibri"/>
                <a:ea typeface="Calibri"/>
                <a:cs typeface="Calibri"/>
              </a:rPr>
              <a:t>Plausible Muster</a:t>
            </a:r>
          </a:p>
        </p:txBody>
      </p:sp>
      <p:sp>
        <p:nvSpPr>
          <p:cNvPr id="10" name="Text 8">
            <a:extLst xmlns:a="http://schemas.openxmlformats.org/drawingml/2006/main">
              <a:ext uri="{FF2B5EF4-FFF2-40B4-BE49-F238E27FC236}">
                <a16:creationId xmlns:a16="http://schemas.microsoft.com/office/drawing/2014/main" id="{AB5A6C53-B55D-4402-92AA-139C43D09D30}"/>
              </a:ext>
            </a:extLst>
          </p:cNvPr>
          <p:cNvSpPr>
            <a:spLocks xmlns:a="http://schemas.openxmlformats.org/drawingml/2006/main" noGrp="1"/>
          </p:cNvSpPr>
          <p:nvPr/>
        </p:nvSpPr>
        <p:spPr>
          <a:xfrm xmlns:a="http://schemas.openxmlformats.org/drawingml/2006/main">
            <a:off x="3310128" y="2240280"/>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4748B"/>
                </a:solidFill>
                <a:latin typeface="Calibri"/>
                <a:ea typeface="Calibri"/>
                <a:cs typeface="Calibri"/>
              </a:rPr>
              <a:t>Sedan: März +3,8 %, Dez −7,1 %</a:t>
            </a:r>
          </a:p>
          <a:p xmlns:a="http://schemas.openxmlformats.org/drawingml/2006/main">
            <a:pPr marL="0" indent="0">
              <a:buNone/>
            </a:pPr>
            <a:r>
              <a:rPr sz="1100">
                <a:solidFill>
                  <a:srgbClr val="64748B"/>
                </a:solidFill>
                <a:latin typeface="Calibri"/>
                <a:ea typeface="Calibri"/>
                <a:cs typeface="Calibri"/>
              </a:rPr>
              <a:t>SUV: März +2,9 %, Dez −8,4 %</a:t>
            </a:r>
          </a:p>
        </p:txBody>
      </p:sp>
      <p:sp>
        <p:nvSpPr>
          <p:cNvPr id="11" name="Shape 9">
            <a:extLst xmlns:a="http://schemas.openxmlformats.org/drawingml/2006/main">
              <a:ext uri="{FF2B5EF4-FFF2-40B4-BE49-F238E27FC236}">
                <a16:creationId xmlns:a16="http://schemas.microsoft.com/office/drawing/2014/main" id="{8D792909-4D9B-4E49-9A26-4008EC378C44}"/>
              </a:ext>
            </a:extLst>
          </p:cNvPr>
          <p:cNvSpPr>
            <a:spLocks xmlns:a="http://schemas.openxmlformats.org/drawingml/2006/main" noGrp="1"/>
          </p:cNvSpPr>
          <p:nvPr/>
        </p:nvSpPr>
        <p:spPr>
          <a:xfrm xmlns:a="http://schemas.openxmlformats.org/drawingml/2006/main">
            <a:off x="6035040" y="1005840"/>
            <a:ext cx="2606040" cy="32004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a:effectLst xmlns:a="http://schemas.openxmlformats.org/drawingml/2006/main">
            <a:outerShdw blurRad="101600" dist="25400" dir="8100000" sx="100000" sy="100000" kx="0" ky="0" algn="bl" rotWithShape="0">
              <a:srgbClr val="000000">
                <a:alpha val="10000"/>
              </a:srgbClr>
            </a:outerShdw>
          </a:effectLst>
        </p:spPr>
      </p:sp>
      <p:sp>
        <p:nvSpPr>
          <p:cNvPr id="12" name="Text 10">
            <a:extLst xmlns:a="http://schemas.openxmlformats.org/drawingml/2006/main">
              <a:ext uri="{FF2B5EF4-FFF2-40B4-BE49-F238E27FC236}">
                <a16:creationId xmlns:a16="http://schemas.microsoft.com/office/drawing/2014/main" id="{91A2117C-59DF-41BF-96C5-484B54134497}"/>
              </a:ext>
            </a:extLst>
          </p:cNvPr>
          <p:cNvSpPr>
            <a:spLocks xmlns:a="http://schemas.openxmlformats.org/drawingml/2006/main" noGrp="1"/>
          </p:cNvSpPr>
          <p:nvPr/>
        </p:nvSpPr>
        <p:spPr>
          <a:xfrm xmlns:a="http://schemas.openxmlformats.org/drawingml/2006/main">
            <a:off x="6126480" y="1115568"/>
            <a:ext cx="640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000000"/>
                </a:solidFill>
              </a:rPr>
              <a:t>!</a:t>
            </a:r>
          </a:p>
        </p:txBody>
      </p:sp>
      <p:sp>
        <p:nvSpPr>
          <p:cNvPr id="13" name="Text 11">
            <a:extLst xmlns:a="http://schemas.openxmlformats.org/drawingml/2006/main">
              <a:ext uri="{FF2B5EF4-FFF2-40B4-BE49-F238E27FC236}">
                <a16:creationId xmlns:a16="http://schemas.microsoft.com/office/drawing/2014/main" id="{4E5D6C0C-9BA5-4975-BBF2-E478E216FEF4}"/>
              </a:ext>
            </a:extLst>
          </p:cNvPr>
          <p:cNvSpPr>
            <a:spLocks xmlns:a="http://schemas.openxmlformats.org/drawingml/2006/main" noGrp="1"/>
          </p:cNvSpPr>
          <p:nvPr/>
        </p:nvSpPr>
        <p:spPr>
          <a:xfrm xmlns:a="http://schemas.openxmlformats.org/drawingml/2006/main">
            <a:off x="6144768" y="1755648"/>
            <a:ext cx="23774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2240"/>
                </a:solidFill>
                <a:latin typeface="Calibri"/>
                <a:ea typeface="Calibri"/>
                <a:cs typeface="Calibri"/>
              </a:rPr>
              <a:t>Datenlücke sichtbar</a:t>
            </a:r>
          </a:p>
        </p:txBody>
      </p:sp>
      <p:sp>
        <p:nvSpPr>
          <p:cNvPr id="14" name="Text 12">
            <a:extLst xmlns:a="http://schemas.openxmlformats.org/drawingml/2006/main">
              <a:ext uri="{FF2B5EF4-FFF2-40B4-BE49-F238E27FC236}">
                <a16:creationId xmlns:a16="http://schemas.microsoft.com/office/drawing/2014/main" id="{59D37AAF-FCD1-49F1-AFCF-D84C47F6B8A4}"/>
              </a:ext>
            </a:extLst>
          </p:cNvPr>
          <p:cNvSpPr>
            <a:spLocks xmlns:a="http://schemas.openxmlformats.org/drawingml/2006/main" noGrp="1"/>
          </p:cNvSpPr>
          <p:nvPr/>
        </p:nvSpPr>
        <p:spPr>
          <a:xfrm xmlns:a="http://schemas.openxmlformats.org/drawingml/2006/main">
            <a:off x="6144768" y="2240280"/>
            <a:ext cx="23774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4748B"/>
                </a:solidFill>
                <a:latin typeface="Calibri"/>
                <a:ea typeface="Calibri"/>
                <a:cs typeface="Calibri"/>
              </a:rPr>
              <a:t>Nur Jan–Jul und Dez beobachtet.</a:t>
            </a:r>
          </a:p>
          <a:p xmlns:a="http://schemas.openxmlformats.org/drawingml/2006/main">
            <a:pPr marL="0" indent="0">
              <a:buNone/>
            </a:pPr>
            <a:r>
              <a:rPr sz="1100">
                <a:solidFill>
                  <a:srgbClr val="64748B"/>
                </a:solidFill>
                <a:latin typeface="Calibri"/>
                <a:ea typeface="Calibri"/>
                <a:cs typeface="Calibri"/>
              </a:rPr>
              <a:t>Aug–Nov: exakt 1,0000 und no_data.</a:t>
            </a:r>
          </a:p>
        </p:txBody>
      </p:sp>
      <p:sp>
        <p:nvSpPr>
          <p:cNvPr id="15" name="Shape 13">
            <a:extLst xmlns:a="http://schemas.openxmlformats.org/drawingml/2006/main">
              <a:ext uri="{FF2B5EF4-FFF2-40B4-BE49-F238E27FC236}">
                <a16:creationId xmlns:a16="http://schemas.microsoft.com/office/drawing/2014/main" id="{323EA32E-7065-4D87-9046-2BBA29E18F1D}"/>
              </a:ext>
            </a:extLst>
          </p:cNvPr>
          <p:cNvSpPr>
            <a:spLocks xmlns:a="http://schemas.openxmlformats.org/drawingml/2006/main" noGrp="1"/>
          </p:cNvSpPr>
          <p:nvPr/>
        </p:nvSpPr>
        <p:spPr>
          <a:xfrm xmlns:a="http://schemas.openxmlformats.org/drawingml/2006/main">
            <a:off x="365760" y="4407408"/>
            <a:ext cx="8412480" cy="502920"/>
          </a:xfrm>
          <a:prstGeom xmlns:a="http://schemas.openxmlformats.org/drawingml/2006/main" prst="rect">
            <a:avLst/>
          </a:prstGeom>
          <a:solidFill xmlns:a="http://schemas.openxmlformats.org/drawingml/2006/main">
            <a:srgbClr val="0D9488"/>
          </a:solidFill>
          <a:ln xmlns:a="http://schemas.openxmlformats.org/drawingml/2006/main" w="12700">
            <a:solidFill>
              <a:srgbClr val="0D9488"/>
            </a:solidFill>
            <a:prstDash val="solid"/>
          </a:ln>
        </p:spPr>
      </p:sp>
      <p:sp>
        <p:nvSpPr>
          <p:cNvPr id="16" name="Text 14">
            <a:extLst xmlns:a="http://schemas.openxmlformats.org/drawingml/2006/main">
              <a:ext uri="{FF2B5EF4-FFF2-40B4-BE49-F238E27FC236}">
                <a16:creationId xmlns:a16="http://schemas.microsoft.com/office/drawing/2014/main" id="{EF1A4A39-DAAC-4A18-8A48-DCA03161849D}"/>
              </a:ext>
            </a:extLst>
          </p:cNvPr>
          <p:cNvSpPr>
            <a:spLocks xmlns:a="http://schemas.openxmlformats.org/drawingml/2006/main" noGrp="1"/>
          </p:cNvSpPr>
          <p:nvPr/>
        </p:nvSpPr>
        <p:spPr>
          <a:xfrm xmlns:a="http://schemas.openxmlformats.org/drawingml/2006/main">
            <a:off x="502920" y="4434840"/>
            <a:ext cx="8229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529.790 Verkäufe  ·  Best/Worst nur für 20/45 Bodies  ·  Heuristik, kein Kausalnachweis</a:t>
            </a:r>
          </a:p>
        </p:txBody>
      </p:sp>
    </p:spTree>
    <p:extLst>
      <p:ext uri="{BB962C8B-B14F-4D97-AF65-F5344CB8AC3E}">
        <p14:creationId xmlns:p14="http://schemas.microsoft.com/office/powerpoint/2010/main" val="10443229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D33BD0-5B2A-4390-BD56-6376194A523F}"/>
              </a:ext>
            </a:extLst>
          </p:cNvPr>
          <p:cNvSpPr>
            <a:spLocks xmlns:a="http://schemas.openxmlformats.org/drawingml/2006/main" noGrp="1"/>
          </p:cNvSpPr>
          <p:nvPr/>
        </p:nvSpPr>
        <p:spPr>
          <a:xfrm xmlns:a="http://schemas.openxmlformats.org/drawingml/2006/main">
            <a:off x="457200" y="274320"/>
            <a:ext cx="8229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2240"/>
                </a:solidFill>
                <a:latin typeface="Calibri"/>
                <a:ea typeface="Calibri"/>
                <a:cs typeface="Calibri"/>
              </a:rPr>
              <a:t>Stage 2 + 3 | Arbeitsstand und nächste Schritte</a:t>
            </a:r>
          </a:p>
        </p:txBody>
      </p:sp>
      <p:sp>
        <p:nvSpPr>
          <p:cNvPr id="3" name="Shape 1">
            <a:extLst xmlns:a="http://schemas.openxmlformats.org/drawingml/2006/main">
              <a:ext uri="{FF2B5EF4-FFF2-40B4-BE49-F238E27FC236}">
                <a16:creationId xmlns:a16="http://schemas.microsoft.com/office/drawing/2014/main" id="{626F1062-8AE3-4B86-93E7-AA1119F6F68F}"/>
              </a:ext>
            </a:extLst>
          </p:cNvPr>
          <p:cNvSpPr>
            <a:spLocks xmlns:a="http://schemas.openxmlformats.org/drawingml/2006/main" noGrp="1"/>
          </p:cNvSpPr>
          <p:nvPr/>
        </p:nvSpPr>
        <p:spPr>
          <a:xfrm xmlns:a="http://schemas.openxmlformats.org/drawingml/2006/main">
            <a:off x="365760" y="960120"/>
            <a:ext cx="3931920" cy="347472"/>
          </a:xfrm>
          <a:prstGeom xmlns:a="http://schemas.openxmlformats.org/drawingml/2006/main" prst="rect">
            <a:avLst/>
          </a:prstGeom>
          <a:solidFill xmlns:a="http://schemas.openxmlformats.org/drawingml/2006/main">
            <a:srgbClr val="DCFCE7"/>
          </a:solidFill>
          <a:ln xmlns:a="http://schemas.openxmlformats.org/drawingml/2006/main" w="12700">
            <a:solidFill>
              <a:srgbClr val="86EFAC"/>
            </a:solidFill>
            <a:prstDash val="solid"/>
          </a:ln>
        </p:spPr>
      </p:sp>
      <p:sp>
        <p:nvSpPr>
          <p:cNvPr id="4" name="Text 2">
            <a:extLst xmlns:a="http://schemas.openxmlformats.org/drawingml/2006/main">
              <a:ext uri="{FF2B5EF4-FFF2-40B4-BE49-F238E27FC236}">
                <a16:creationId xmlns:a16="http://schemas.microsoft.com/office/drawing/2014/main" id="{2B7BA016-168D-4F5A-BEE7-8A0375C3C68A}"/>
              </a:ext>
            </a:extLst>
          </p:cNvPr>
          <p:cNvSpPr>
            <a:spLocks xmlns:a="http://schemas.openxmlformats.org/drawingml/2006/main" noGrp="1"/>
          </p:cNvSpPr>
          <p:nvPr/>
        </p:nvSpPr>
        <p:spPr>
          <a:xfrm xmlns:a="http://schemas.openxmlformats.org/drawingml/2006/main">
            <a:off x="502920" y="9875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5803D"/>
                </a:solidFill>
                <a:latin typeface="Calibri"/>
                <a:ea typeface="Calibri"/>
                <a:cs typeface="Calibri"/>
              </a:rPr>
              <a:t>✅  Fertig und geprüft</a:t>
            </a:r>
          </a:p>
        </p:txBody>
      </p:sp>
      <p:sp>
        <p:nvSpPr>
          <p:cNvPr id="5" name="Shape 3">
            <a:extLst xmlns:a="http://schemas.openxmlformats.org/drawingml/2006/main">
              <a:ext uri="{FF2B5EF4-FFF2-40B4-BE49-F238E27FC236}">
                <a16:creationId xmlns:a16="http://schemas.microsoft.com/office/drawing/2014/main" id="{BC4F8732-3D8D-4A93-85B2-90A4817C6CEE}"/>
              </a:ext>
            </a:extLst>
          </p:cNvPr>
          <p:cNvSpPr>
            <a:spLocks xmlns:a="http://schemas.openxmlformats.org/drawingml/2006/main" noGrp="1"/>
          </p:cNvSpPr>
          <p:nvPr/>
        </p:nvSpPr>
        <p:spPr>
          <a:xfrm xmlns:a="http://schemas.openxmlformats.org/drawingml/2006/main">
            <a:off x="365760" y="1417320"/>
            <a:ext cx="3931920" cy="530352"/>
          </a:xfrm>
          <a:prstGeom xmlns:a="http://schemas.openxmlformats.org/drawingml/2006/main" prst="rect">
            <a:avLst/>
          </a:prstGeom>
          <a:solidFill xmlns:a="http://schemas.openxmlformats.org/drawingml/2006/main">
            <a:srgbClr val="F0FDF4"/>
          </a:solidFill>
          <a:ln xmlns:a="http://schemas.openxmlformats.org/drawingml/2006/main" w="12700">
            <a:solidFill>
              <a:srgbClr val="E2E8F0"/>
            </a:solidFill>
            <a:prstDash val="solid"/>
          </a:ln>
        </p:spPr>
      </p:sp>
      <p:sp>
        <p:nvSpPr>
          <p:cNvPr id="6" name="Text 4">
            <a:extLst xmlns:a="http://schemas.openxmlformats.org/drawingml/2006/main">
              <a:ext uri="{FF2B5EF4-FFF2-40B4-BE49-F238E27FC236}">
                <a16:creationId xmlns:a16="http://schemas.microsoft.com/office/drawing/2014/main" id="{9F4FEFCB-2EDD-4C25-A0CE-EC1FF19840DD}"/>
              </a:ext>
            </a:extLst>
          </p:cNvPr>
          <p:cNvSpPr>
            <a:spLocks xmlns:a="http://schemas.openxmlformats.org/drawingml/2006/main" noGrp="1"/>
          </p:cNvSpPr>
          <p:nvPr/>
        </p:nvSpPr>
        <p:spPr>
          <a:xfrm xmlns:a="http://schemas.openxmlformats.org/drawingml/2006/main">
            <a:off x="502920" y="1444752"/>
            <a:ext cx="36576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buChar char="•"/>
            </a:pPr>
            <a:r>
              <a:rPr sz="1100">
                <a:solidFill>
                  <a:srgbClr val="1E293B"/>
                </a:solidFill>
                <a:latin typeface="Calibri"/>
                <a:ea typeface="Calibri"/>
                <a:cs typeface="Calibri"/>
              </a:rPr>
              <a:t>Stage 2: CPI-Modul + Backtest + Projektion</a:t>
            </a:r>
          </a:p>
        </p:txBody>
      </p:sp>
      <p:sp>
        <p:nvSpPr>
          <p:cNvPr id="7" name="Shape 5">
            <a:extLst xmlns:a="http://schemas.openxmlformats.org/drawingml/2006/main">
              <a:ext uri="{FF2B5EF4-FFF2-40B4-BE49-F238E27FC236}">
                <a16:creationId xmlns:a16="http://schemas.microsoft.com/office/drawing/2014/main" id="{52D0ABE1-1D3A-4E9C-8786-C56EE0E56121}"/>
              </a:ext>
            </a:extLst>
          </p:cNvPr>
          <p:cNvSpPr>
            <a:spLocks xmlns:a="http://schemas.openxmlformats.org/drawingml/2006/main" noGrp="1"/>
          </p:cNvSpPr>
          <p:nvPr/>
        </p:nvSpPr>
        <p:spPr>
          <a:xfrm xmlns:a="http://schemas.openxmlformats.org/drawingml/2006/main">
            <a:off x="365760" y="2039112"/>
            <a:ext cx="3931920" cy="530352"/>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8" name="Text 6">
            <a:extLst xmlns:a="http://schemas.openxmlformats.org/drawingml/2006/main">
              <a:ext uri="{FF2B5EF4-FFF2-40B4-BE49-F238E27FC236}">
                <a16:creationId xmlns:a16="http://schemas.microsoft.com/office/drawing/2014/main" id="{E27CB898-B19A-4B22-9EA6-75F5EF4A6649}"/>
              </a:ext>
            </a:extLst>
          </p:cNvPr>
          <p:cNvSpPr>
            <a:spLocks xmlns:a="http://schemas.openxmlformats.org/drawingml/2006/main" noGrp="1"/>
          </p:cNvSpPr>
          <p:nvPr/>
        </p:nvSpPr>
        <p:spPr>
          <a:xfrm xmlns:a="http://schemas.openxmlformats.org/drawingml/2006/main">
            <a:off x="502920" y="2066544"/>
            <a:ext cx="36576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buChar char="•"/>
            </a:pPr>
            <a:r>
              <a:rPr sz="1100">
                <a:solidFill>
                  <a:srgbClr val="1E293B"/>
                </a:solidFill>
                <a:latin typeface="Calibri"/>
                <a:ea typeface="Calibri"/>
                <a:cs typeface="Calibri"/>
              </a:rPr>
              <a:t>Stage 3: 540 Faktoren für 45 Karosserieformen</a:t>
            </a:r>
          </a:p>
        </p:txBody>
      </p:sp>
      <p:sp>
        <p:nvSpPr>
          <p:cNvPr id="9" name="Shape 7">
            <a:extLst xmlns:a="http://schemas.openxmlformats.org/drawingml/2006/main">
              <a:ext uri="{FF2B5EF4-FFF2-40B4-BE49-F238E27FC236}">
                <a16:creationId xmlns:a16="http://schemas.microsoft.com/office/drawing/2014/main" id="{2CBB3631-A743-476D-A62B-AE1626116785}"/>
              </a:ext>
            </a:extLst>
          </p:cNvPr>
          <p:cNvSpPr>
            <a:spLocks xmlns:a="http://schemas.openxmlformats.org/drawingml/2006/main" noGrp="1"/>
          </p:cNvSpPr>
          <p:nvPr/>
        </p:nvSpPr>
        <p:spPr>
          <a:xfrm xmlns:a="http://schemas.openxmlformats.org/drawingml/2006/main">
            <a:off x="365760" y="2660904"/>
            <a:ext cx="3931920" cy="530352"/>
          </a:xfrm>
          <a:prstGeom xmlns:a="http://schemas.openxmlformats.org/drawingml/2006/main" prst="rect">
            <a:avLst/>
          </a:prstGeom>
          <a:solidFill xmlns:a="http://schemas.openxmlformats.org/drawingml/2006/main">
            <a:srgbClr val="F0FDF4"/>
          </a:solidFill>
          <a:ln xmlns:a="http://schemas.openxmlformats.org/drawingml/2006/main" w="12700">
            <a:solidFill>
              <a:srgbClr val="E2E8F0"/>
            </a:solidFill>
            <a:prstDash val="solid"/>
          </a:ln>
        </p:spPr>
      </p:sp>
      <p:sp>
        <p:nvSpPr>
          <p:cNvPr id="10" name="Text 8">
            <a:extLst xmlns:a="http://schemas.openxmlformats.org/drawingml/2006/main">
              <a:ext uri="{FF2B5EF4-FFF2-40B4-BE49-F238E27FC236}">
                <a16:creationId xmlns:a16="http://schemas.microsoft.com/office/drawing/2014/main" id="{D6CE3222-DD00-4D51-9189-918C78D6C1A8}"/>
              </a:ext>
            </a:extLst>
          </p:cNvPr>
          <p:cNvSpPr>
            <a:spLocks xmlns:a="http://schemas.openxmlformats.org/drawingml/2006/main" noGrp="1"/>
          </p:cNvSpPr>
          <p:nvPr/>
        </p:nvSpPr>
        <p:spPr>
          <a:xfrm xmlns:a="http://schemas.openxmlformats.org/drawingml/2006/main">
            <a:off x="502920" y="2688336"/>
            <a:ext cx="36576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buChar char="•"/>
            </a:pPr>
            <a:r>
              <a:rPr sz="1100">
                <a:solidFill>
                  <a:srgbClr val="1E293B"/>
                </a:solidFill>
                <a:latin typeface="Calibri"/>
                <a:ea typeface="Calibri"/>
                <a:cs typeface="Calibri"/>
              </a:rPr>
              <a:t>Streamlit: Referenz-, Markt-, Saison- und Finalpreis</a:t>
            </a:r>
          </a:p>
        </p:txBody>
      </p:sp>
      <p:sp>
        <p:nvSpPr>
          <p:cNvPr id="11" name="Shape 9">
            <a:extLst xmlns:a="http://schemas.openxmlformats.org/drawingml/2006/main">
              <a:ext uri="{FF2B5EF4-FFF2-40B4-BE49-F238E27FC236}">
                <a16:creationId xmlns:a16="http://schemas.microsoft.com/office/drawing/2014/main" id="{89BE4D59-8732-451F-A9A4-D7DDEF9142DD}"/>
              </a:ext>
            </a:extLst>
          </p:cNvPr>
          <p:cNvSpPr>
            <a:spLocks xmlns:a="http://schemas.openxmlformats.org/drawingml/2006/main" noGrp="1"/>
          </p:cNvSpPr>
          <p:nvPr/>
        </p:nvSpPr>
        <p:spPr>
          <a:xfrm xmlns:a="http://schemas.openxmlformats.org/drawingml/2006/main">
            <a:off x="365760" y="3282696"/>
            <a:ext cx="3931920" cy="530352"/>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2" name="Text 10">
            <a:extLst xmlns:a="http://schemas.openxmlformats.org/drawingml/2006/main">
              <a:ext uri="{FF2B5EF4-FFF2-40B4-BE49-F238E27FC236}">
                <a16:creationId xmlns:a16="http://schemas.microsoft.com/office/drawing/2014/main" id="{A37369D9-13F4-4774-82BD-BB1504B25EA0}"/>
              </a:ext>
            </a:extLst>
          </p:cNvPr>
          <p:cNvSpPr>
            <a:spLocks xmlns:a="http://schemas.openxmlformats.org/drawingml/2006/main" noGrp="1"/>
          </p:cNvSpPr>
          <p:nvPr/>
        </p:nvSpPr>
        <p:spPr>
          <a:xfrm xmlns:a="http://schemas.openxmlformats.org/drawingml/2006/main">
            <a:off x="502920" y="3310128"/>
            <a:ext cx="36576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buChar char="•"/>
            </a:pPr>
            <a:r>
              <a:rPr sz="1100">
                <a:solidFill>
                  <a:srgbClr val="1E293B"/>
                </a:solidFill>
                <a:latin typeface="Calibri"/>
                <a:ea typeface="Calibri"/>
                <a:cs typeface="Calibri"/>
              </a:rPr>
              <a:t>Best Month nur bei belastbarer Datenbasis</a:t>
            </a:r>
          </a:p>
        </p:txBody>
      </p:sp>
      <p:sp>
        <p:nvSpPr>
          <p:cNvPr id="13" name="Shape 11">
            <a:extLst xmlns:a="http://schemas.openxmlformats.org/drawingml/2006/main">
              <a:ext uri="{FF2B5EF4-FFF2-40B4-BE49-F238E27FC236}">
                <a16:creationId xmlns:a16="http://schemas.microsoft.com/office/drawing/2014/main" id="{8543D819-448F-430E-BD87-25B3F16FF6BC}"/>
              </a:ext>
            </a:extLst>
          </p:cNvPr>
          <p:cNvSpPr>
            <a:spLocks xmlns:a="http://schemas.openxmlformats.org/drawingml/2006/main" noGrp="1"/>
          </p:cNvSpPr>
          <p:nvPr/>
        </p:nvSpPr>
        <p:spPr>
          <a:xfrm xmlns:a="http://schemas.openxmlformats.org/drawingml/2006/main">
            <a:off x="365760" y="3904488"/>
            <a:ext cx="3931920" cy="530352"/>
          </a:xfrm>
          <a:prstGeom xmlns:a="http://schemas.openxmlformats.org/drawingml/2006/main" prst="rect">
            <a:avLst/>
          </a:prstGeom>
          <a:solidFill xmlns:a="http://schemas.openxmlformats.org/drawingml/2006/main">
            <a:srgbClr val="F0FDF4"/>
          </a:solidFill>
          <a:ln xmlns:a="http://schemas.openxmlformats.org/drawingml/2006/main" w="12700">
            <a:solidFill>
              <a:srgbClr val="E2E8F0"/>
            </a:solidFill>
            <a:prstDash val="solid"/>
          </a:ln>
        </p:spPr>
      </p:sp>
      <p:sp>
        <p:nvSpPr>
          <p:cNvPr id="14" name="Text 12">
            <a:extLst xmlns:a="http://schemas.openxmlformats.org/drawingml/2006/main">
              <a:ext uri="{FF2B5EF4-FFF2-40B4-BE49-F238E27FC236}">
                <a16:creationId xmlns:a16="http://schemas.microsoft.com/office/drawing/2014/main" id="{C9C459A2-A5C8-4389-BD31-314E34195124}"/>
              </a:ext>
            </a:extLst>
          </p:cNvPr>
          <p:cNvSpPr>
            <a:spLocks xmlns:a="http://schemas.openxmlformats.org/drawingml/2006/main" noGrp="1"/>
          </p:cNvSpPr>
          <p:nvPr/>
        </p:nvSpPr>
        <p:spPr>
          <a:xfrm xmlns:a="http://schemas.openxmlformats.org/drawingml/2006/main">
            <a:off x="502920" y="3931920"/>
            <a:ext cx="36576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buChar char="•"/>
            </a:pPr>
            <a:r>
              <a:rPr sz="1100">
                <a:solidFill>
                  <a:srgbClr val="1E293B"/>
                </a:solidFill>
                <a:latin typeface="Calibri"/>
                <a:ea typeface="Calibri"/>
                <a:cs typeface="Calibri"/>
              </a:rPr>
              <a:t>App- und August-Test bestanden (1,0000, no_data)</a:t>
            </a:r>
          </a:p>
        </p:txBody>
      </p:sp>
      <p:sp>
        <p:nvSpPr>
          <p:cNvPr id="15" name="Shape 13">
            <a:extLst xmlns:a="http://schemas.openxmlformats.org/drawingml/2006/main">
              <a:ext uri="{FF2B5EF4-FFF2-40B4-BE49-F238E27FC236}">
                <a16:creationId xmlns:a16="http://schemas.microsoft.com/office/drawing/2014/main" id="{7560E758-F27B-4F84-84DA-B9506ACF892F}"/>
              </a:ext>
            </a:extLst>
          </p:cNvPr>
          <p:cNvSpPr>
            <a:spLocks xmlns:a="http://schemas.openxmlformats.org/drawingml/2006/main" noGrp="1"/>
          </p:cNvSpPr>
          <p:nvPr/>
        </p:nvSpPr>
        <p:spPr>
          <a:xfrm xmlns:a="http://schemas.openxmlformats.org/drawingml/2006/main">
            <a:off x="4572000" y="960120"/>
            <a:ext cx="4206240" cy="347472"/>
          </a:xfrm>
          <a:prstGeom xmlns:a="http://schemas.openxmlformats.org/drawingml/2006/main" prst="rect">
            <a:avLst/>
          </a:prstGeom>
          <a:solidFill xmlns:a="http://schemas.openxmlformats.org/drawingml/2006/main">
            <a:srgbClr val="FEF3C7"/>
          </a:solidFill>
          <a:ln xmlns:a="http://schemas.openxmlformats.org/drawingml/2006/main" w="12700">
            <a:solidFill>
              <a:srgbClr val="FCD34D"/>
            </a:solidFill>
            <a:prstDash val="solid"/>
          </a:ln>
        </p:spPr>
      </p:sp>
      <p:sp>
        <p:nvSpPr>
          <p:cNvPr id="16" name="Text 14">
            <a:extLst xmlns:a="http://schemas.openxmlformats.org/drawingml/2006/main">
              <a:ext uri="{FF2B5EF4-FFF2-40B4-BE49-F238E27FC236}">
                <a16:creationId xmlns:a16="http://schemas.microsoft.com/office/drawing/2014/main" id="{CA32431E-AE8A-4586-876E-8DEFE47D2A69}"/>
              </a:ext>
            </a:extLst>
          </p:cNvPr>
          <p:cNvSpPr>
            <a:spLocks xmlns:a="http://schemas.openxmlformats.org/drawingml/2006/main" noGrp="1"/>
          </p:cNvSpPr>
          <p:nvPr/>
        </p:nvSpPr>
        <p:spPr>
          <a:xfrm xmlns:a="http://schemas.openxmlformats.org/drawingml/2006/main">
            <a:off x="4709160" y="987552"/>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92400E"/>
                </a:solidFill>
                <a:latin typeface="Calibri"/>
                <a:ea typeface="Calibri"/>
                <a:cs typeface="Calibri"/>
              </a:rPr>
              <a:t>🔜  Noch offen</a:t>
            </a:r>
          </a:p>
        </p:txBody>
      </p:sp>
      <p:sp>
        <p:nvSpPr>
          <p:cNvPr id="17" name="Shape 15">
            <a:extLst xmlns:a="http://schemas.openxmlformats.org/drawingml/2006/main">
              <a:ext uri="{FF2B5EF4-FFF2-40B4-BE49-F238E27FC236}">
                <a16:creationId xmlns:a16="http://schemas.microsoft.com/office/drawing/2014/main" id="{45C898DF-2808-4588-95C5-52F2886E5C94}"/>
              </a:ext>
            </a:extLst>
          </p:cNvPr>
          <p:cNvSpPr>
            <a:spLocks xmlns:a="http://schemas.openxmlformats.org/drawingml/2006/main" noGrp="1"/>
          </p:cNvSpPr>
          <p:nvPr/>
        </p:nvSpPr>
        <p:spPr>
          <a:xfrm xmlns:a="http://schemas.openxmlformats.org/drawingml/2006/main">
            <a:off x="4572000" y="1417320"/>
            <a:ext cx="4206240" cy="530352"/>
          </a:xfrm>
          <a:prstGeom xmlns:a="http://schemas.openxmlformats.org/drawingml/2006/main" prst="rect">
            <a:avLst/>
          </a:prstGeom>
          <a:solidFill xmlns:a="http://schemas.openxmlformats.org/drawingml/2006/main">
            <a:srgbClr val="FFFBEB"/>
          </a:solidFill>
          <a:ln xmlns:a="http://schemas.openxmlformats.org/drawingml/2006/main" w="12700">
            <a:solidFill>
              <a:srgbClr val="E2E8F0"/>
            </a:solidFill>
            <a:prstDash val="solid"/>
          </a:ln>
        </p:spPr>
      </p:sp>
      <p:sp>
        <p:nvSpPr>
          <p:cNvPr id="18" name="Text 16">
            <a:extLst xmlns:a="http://schemas.openxmlformats.org/drawingml/2006/main">
              <a:ext uri="{FF2B5EF4-FFF2-40B4-BE49-F238E27FC236}">
                <a16:creationId xmlns:a16="http://schemas.microsoft.com/office/drawing/2014/main" id="{A41D02D4-437A-4052-8818-C14FCA2A5CE4}"/>
              </a:ext>
            </a:extLst>
          </p:cNvPr>
          <p:cNvSpPr>
            <a:spLocks xmlns:a="http://schemas.openxmlformats.org/drawingml/2006/main" noGrp="1"/>
          </p:cNvSpPr>
          <p:nvPr/>
        </p:nvSpPr>
        <p:spPr>
          <a:xfrm xmlns:a="http://schemas.openxmlformats.org/drawingml/2006/main">
            <a:off x="4709160" y="1444752"/>
            <a:ext cx="3931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buChar char="•"/>
            </a:pPr>
            <a:r>
              <a:rPr sz="1100">
                <a:solidFill>
                  <a:srgbClr val="1E293B"/>
                </a:solidFill>
                <a:latin typeface="Calibri"/>
                <a:ea typeface="Calibri"/>
                <a:cs typeface="Calibri"/>
              </a:rPr>
              <a:t>Preisrange statt nur eines Punktwerts</a:t>
            </a:r>
          </a:p>
        </p:txBody>
      </p:sp>
      <p:sp>
        <p:nvSpPr>
          <p:cNvPr id="19" name="Shape 17">
            <a:extLst xmlns:a="http://schemas.openxmlformats.org/drawingml/2006/main">
              <a:ext uri="{FF2B5EF4-FFF2-40B4-BE49-F238E27FC236}">
                <a16:creationId xmlns:a16="http://schemas.microsoft.com/office/drawing/2014/main" id="{A3F957C3-7D14-47C9-8CE7-F265B6E09427}"/>
              </a:ext>
            </a:extLst>
          </p:cNvPr>
          <p:cNvSpPr>
            <a:spLocks xmlns:a="http://schemas.openxmlformats.org/drawingml/2006/main" noGrp="1"/>
          </p:cNvSpPr>
          <p:nvPr/>
        </p:nvSpPr>
        <p:spPr>
          <a:xfrm xmlns:a="http://schemas.openxmlformats.org/drawingml/2006/main">
            <a:off x="4572000" y="2039112"/>
            <a:ext cx="4206240" cy="530352"/>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0" name="Text 18">
            <a:extLst xmlns:a="http://schemas.openxmlformats.org/drawingml/2006/main">
              <a:ext uri="{FF2B5EF4-FFF2-40B4-BE49-F238E27FC236}">
                <a16:creationId xmlns:a16="http://schemas.microsoft.com/office/drawing/2014/main" id="{627A2675-BA2E-4410-87F5-CD9095E204E8}"/>
              </a:ext>
            </a:extLst>
          </p:cNvPr>
          <p:cNvSpPr>
            <a:spLocks xmlns:a="http://schemas.openxmlformats.org/drawingml/2006/main" noGrp="1"/>
          </p:cNvSpPr>
          <p:nvPr/>
        </p:nvSpPr>
        <p:spPr>
          <a:xfrm xmlns:a="http://schemas.openxmlformats.org/drawingml/2006/main">
            <a:off x="4709160" y="2066544"/>
            <a:ext cx="3931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buChar char="•"/>
            </a:pPr>
            <a:r>
              <a:rPr sz="1100">
                <a:solidFill>
                  <a:srgbClr val="1E293B"/>
                </a:solidFill>
                <a:latin typeface="Calibri"/>
                <a:ea typeface="Calibri"/>
                <a:cs typeface="Calibri"/>
              </a:rPr>
              <a:t>Stage 1 auf allen 534.318 Feature-Zeilen trainieren</a:t>
            </a:r>
          </a:p>
        </p:txBody>
      </p:sp>
      <p:sp>
        <p:nvSpPr>
          <p:cNvPr id="21" name="Shape 19">
            <a:extLst xmlns:a="http://schemas.openxmlformats.org/drawingml/2006/main">
              <a:ext uri="{FF2B5EF4-FFF2-40B4-BE49-F238E27FC236}">
                <a16:creationId xmlns:a16="http://schemas.microsoft.com/office/drawing/2014/main" id="{6F5B7259-8DCC-4627-967D-D2358AD30CC8}"/>
              </a:ext>
            </a:extLst>
          </p:cNvPr>
          <p:cNvSpPr>
            <a:spLocks xmlns:a="http://schemas.openxmlformats.org/drawingml/2006/main" noGrp="1"/>
          </p:cNvSpPr>
          <p:nvPr/>
        </p:nvSpPr>
        <p:spPr>
          <a:xfrm xmlns:a="http://schemas.openxmlformats.org/drawingml/2006/main">
            <a:off x="4572000" y="2660904"/>
            <a:ext cx="4206240" cy="530352"/>
          </a:xfrm>
          <a:prstGeom xmlns:a="http://schemas.openxmlformats.org/drawingml/2006/main" prst="rect">
            <a:avLst/>
          </a:prstGeom>
          <a:solidFill xmlns:a="http://schemas.openxmlformats.org/drawingml/2006/main">
            <a:srgbClr val="FFFBEB"/>
          </a:solidFill>
          <a:ln xmlns:a="http://schemas.openxmlformats.org/drawingml/2006/main" w="12700">
            <a:solidFill>
              <a:srgbClr val="E2E8F0"/>
            </a:solidFill>
            <a:prstDash val="solid"/>
          </a:ln>
        </p:spPr>
      </p:sp>
      <p:sp>
        <p:nvSpPr>
          <p:cNvPr id="22" name="Text 20">
            <a:extLst xmlns:a="http://schemas.openxmlformats.org/drawingml/2006/main">
              <a:ext uri="{FF2B5EF4-FFF2-40B4-BE49-F238E27FC236}">
                <a16:creationId xmlns:a16="http://schemas.microsoft.com/office/drawing/2014/main" id="{3FAF490C-28E4-47C2-927F-427F1B0DD7C7}"/>
              </a:ext>
            </a:extLst>
          </p:cNvPr>
          <p:cNvSpPr>
            <a:spLocks xmlns:a="http://schemas.openxmlformats.org/drawingml/2006/main" noGrp="1"/>
          </p:cNvSpPr>
          <p:nvPr/>
        </p:nvSpPr>
        <p:spPr>
          <a:xfrm xmlns:a="http://schemas.openxmlformats.org/drawingml/2006/main">
            <a:off x="4709160" y="2688336"/>
            <a:ext cx="3931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buChar char="•"/>
            </a:pPr>
            <a:r>
              <a:rPr sz="1100">
                <a:solidFill>
                  <a:srgbClr val="1E293B"/>
                </a:solidFill>
                <a:latin typeface="Calibri"/>
                <a:ea typeface="Calibri"/>
                <a:cs typeface="Calibri"/>
              </a:rPr>
              <a:t>LLM erklärt Stage 1–3 + Makrokontext</a:t>
            </a:r>
          </a:p>
        </p:txBody>
      </p:sp>
      <p:sp>
        <p:nvSpPr>
          <p:cNvPr id="23" name="Shape 21">
            <a:extLst xmlns:a="http://schemas.openxmlformats.org/drawingml/2006/main">
              <a:ext uri="{FF2B5EF4-FFF2-40B4-BE49-F238E27FC236}">
                <a16:creationId xmlns:a16="http://schemas.microsoft.com/office/drawing/2014/main" id="{09397692-DD4B-4E57-AB63-3359A6D5CACD}"/>
              </a:ext>
            </a:extLst>
          </p:cNvPr>
          <p:cNvSpPr>
            <a:spLocks xmlns:a="http://schemas.openxmlformats.org/drawingml/2006/main" noGrp="1"/>
          </p:cNvSpPr>
          <p:nvPr/>
        </p:nvSpPr>
        <p:spPr>
          <a:xfrm xmlns:a="http://schemas.openxmlformats.org/drawingml/2006/main">
            <a:off x="4572000" y="3282696"/>
            <a:ext cx="4206240" cy="530352"/>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4" name="Text 22">
            <a:extLst xmlns:a="http://schemas.openxmlformats.org/drawingml/2006/main">
              <a:ext uri="{FF2B5EF4-FFF2-40B4-BE49-F238E27FC236}">
                <a16:creationId xmlns:a16="http://schemas.microsoft.com/office/drawing/2014/main" id="{5E694AD0-BD15-4BC5-8AD3-908E2818CE0E}"/>
              </a:ext>
            </a:extLst>
          </p:cNvPr>
          <p:cNvSpPr>
            <a:spLocks xmlns:a="http://schemas.openxmlformats.org/drawingml/2006/main" noGrp="1"/>
          </p:cNvSpPr>
          <p:nvPr/>
        </p:nvSpPr>
        <p:spPr>
          <a:xfrm xmlns:a="http://schemas.openxmlformats.org/drawingml/2006/main">
            <a:off x="4709160" y="3310128"/>
            <a:ext cx="3931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buChar char="•"/>
            </a:pPr>
            <a:r>
              <a:rPr sz="1100">
                <a:solidFill>
                  <a:srgbClr val="1E293B"/>
                </a:solidFill>
                <a:latin typeface="Calibri"/>
                <a:ea typeface="Calibri"/>
                <a:cs typeface="Calibri"/>
              </a:rPr>
              <a:t>Ergebnisse und Architektur ins LNCS-Paper</a:t>
            </a:r>
          </a:p>
        </p:txBody>
      </p:sp>
      <p:sp>
        <p:nvSpPr>
          <p:cNvPr id="25" name="Shape 23">
            <a:extLst xmlns:a="http://schemas.openxmlformats.org/drawingml/2006/main">
              <a:ext uri="{FF2B5EF4-FFF2-40B4-BE49-F238E27FC236}">
                <a16:creationId xmlns:a16="http://schemas.microsoft.com/office/drawing/2014/main" id="{0ABC75C6-8104-4D3F-B865-5B326E049451}"/>
              </a:ext>
            </a:extLst>
          </p:cNvPr>
          <p:cNvSpPr>
            <a:spLocks xmlns:a="http://schemas.openxmlformats.org/drawingml/2006/main" noGrp="1"/>
          </p:cNvSpPr>
          <p:nvPr/>
        </p:nvSpPr>
        <p:spPr>
          <a:xfrm xmlns:a="http://schemas.openxmlformats.org/drawingml/2006/main">
            <a:off x="4572000" y="3904488"/>
            <a:ext cx="4206240" cy="530352"/>
          </a:xfrm>
          <a:prstGeom xmlns:a="http://schemas.openxmlformats.org/drawingml/2006/main" prst="rect">
            <a:avLst/>
          </a:prstGeom>
          <a:solidFill xmlns:a="http://schemas.openxmlformats.org/drawingml/2006/main">
            <a:srgbClr val="FFFBEB"/>
          </a:solidFill>
          <a:ln xmlns:a="http://schemas.openxmlformats.org/drawingml/2006/main" w="12700">
            <a:solidFill>
              <a:srgbClr val="E2E8F0"/>
            </a:solidFill>
            <a:prstDash val="solid"/>
          </a:ln>
        </p:spPr>
      </p:sp>
      <p:sp>
        <p:nvSpPr>
          <p:cNvPr id="26" name="Text 24">
            <a:extLst xmlns:a="http://schemas.openxmlformats.org/drawingml/2006/main">
              <a:ext uri="{FF2B5EF4-FFF2-40B4-BE49-F238E27FC236}">
                <a16:creationId xmlns:a16="http://schemas.microsoft.com/office/drawing/2014/main" id="{AF09B36A-48BF-4AEF-BE3B-B1E7AA1329B2}"/>
              </a:ext>
            </a:extLst>
          </p:cNvPr>
          <p:cNvSpPr>
            <a:spLocks xmlns:a="http://schemas.openxmlformats.org/drawingml/2006/main" noGrp="1"/>
          </p:cNvSpPr>
          <p:nvPr/>
        </p:nvSpPr>
        <p:spPr>
          <a:xfrm xmlns:a="http://schemas.openxmlformats.org/drawingml/2006/main">
            <a:off x="4709160" y="3931920"/>
            <a:ext cx="3931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buChar char="•"/>
            </a:pPr>
            <a:r>
              <a:rPr sz="1100">
                <a:solidFill>
                  <a:srgbClr val="1E293B"/>
                </a:solidFill>
                <a:latin typeface="Calibri"/>
                <a:ea typeface="Calibri"/>
                <a:cs typeface="Calibri"/>
              </a:rPr>
              <a:t>Mehrjährige Datenbasis für belastbarere Saisonmuster</a:t>
            </a:r>
          </a:p>
        </p:txBody>
      </p:sp>
      <p:sp>
        <p:nvSpPr>
          <p:cNvPr id="27" name="Shape 25">
            <a:extLst xmlns:a="http://schemas.openxmlformats.org/drawingml/2006/main">
              <a:ext uri="{FF2B5EF4-FFF2-40B4-BE49-F238E27FC236}">
                <a16:creationId xmlns:a16="http://schemas.microsoft.com/office/drawing/2014/main" id="{217B3DDA-F2C1-4008-B60E-65F9273DF28E}"/>
              </a:ext>
            </a:extLst>
          </p:cNvPr>
          <p:cNvSpPr>
            <a:spLocks xmlns:a="http://schemas.openxmlformats.org/drawingml/2006/main" noGrp="1"/>
          </p:cNvSpPr>
          <p:nvPr/>
        </p:nvSpPr>
        <p:spPr>
          <a:xfrm xmlns:a="http://schemas.openxmlformats.org/drawingml/2006/main">
            <a:off x="365760" y="4663440"/>
            <a:ext cx="8412480" cy="292608"/>
          </a:xfrm>
          <a:prstGeom xmlns:a="http://schemas.openxmlformats.org/drawingml/2006/main" prst="rect">
            <a:avLst/>
          </a:prstGeom>
          <a:solidFill xmlns:a="http://schemas.openxmlformats.org/drawingml/2006/main">
            <a:srgbClr val="0F2240"/>
          </a:solidFill>
          <a:ln xmlns:a="http://schemas.openxmlformats.org/drawingml/2006/main" w="12700">
            <a:solidFill>
              <a:srgbClr val="0F2240"/>
            </a:solidFill>
            <a:prstDash val="solid"/>
          </a:ln>
        </p:spPr>
      </p:sp>
      <p:sp>
        <p:nvSpPr>
          <p:cNvPr id="28" name="Text 26">
            <a:extLst xmlns:a="http://schemas.openxmlformats.org/drawingml/2006/main">
              <a:ext uri="{FF2B5EF4-FFF2-40B4-BE49-F238E27FC236}">
                <a16:creationId xmlns:a16="http://schemas.microsoft.com/office/drawing/2014/main" id="{DBAACD07-E073-426E-8953-CC4DE2E06E5F}"/>
              </a:ext>
            </a:extLst>
          </p:cNvPr>
          <p:cNvSpPr>
            <a:spLocks xmlns:a="http://schemas.openxmlformats.org/drawingml/2006/main" noGrp="1"/>
          </p:cNvSpPr>
          <p:nvPr/>
        </p:nvSpPr>
        <p:spPr>
          <a:xfrm xmlns:a="http://schemas.openxmlformats.org/drawingml/2006/main">
            <a:off x="502920" y="4690872"/>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94A3B8"/>
                </a:solidFill>
                <a:latin typeface="Calibri"/>
                <a:ea typeface="Calibri"/>
                <a:cs typeface="Calibri"/>
              </a:rPr>
              <a:t>Deadline: 31. Juli 2026   ·   Deliverables: Python Pipeline · 12-page LNCS Paper · This Presentation Deck</a:t>
            </a:r>
          </a:p>
        </p:txBody>
      </p:sp>
    </p:spTree>
    <p:extLst>
      <p:ext uri="{BB962C8B-B14F-4D97-AF65-F5344CB8AC3E}">
        <p14:creationId xmlns:p14="http://schemas.microsoft.com/office/powerpoint/2010/main" val="189456694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2026-06-23T21:38:47.4480000Z</dcterms:created>
  <dcterms:modified xsi:type="dcterms:W3CDTF">2026-06-23T21:38:47.4480000Z</dcterms:modified>
</coreProperties>
</file>
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Importance</c:v>
                </c:pt>
              </c:strCache>
            </c:strRef>
          </c:tx>
          <c:spPr>
            <a:solidFill>
              <a:srgbClr val="0D9488"/>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Sheet1!$A$2:$A$7</c:f>
              <c:multiLvlStrCache>
                <c:ptCount val="6"/>
                <c:lvl>
                  <c:pt idx="0">
                    <c:v>Odometer</c:v>
                  </c:pt>
                  <c:pt idx="1">
                    <c:v>Vehicle Age</c:v>
                  </c:pt>
                  <c:pt idx="2">
                    <c:v>Make</c:v>
                  </c:pt>
                  <c:pt idx="3">
                    <c:v>Body</c:v>
                  </c:pt>
                  <c:pt idx="4">
                    <c:v>Condition</c:v>
                  </c:pt>
                  <c:pt idx="5">
                    <c:v>Transmission</c:v>
                  </c:pt>
                </c:lvl>
              </c:multiLvlStrCache>
            </c:multiLvlStrRef>
          </c:cat>
          <c:val>
            <c:numRef>
              <c:f>Sheet1!$B$2:$B$7</c:f>
              <c:numCache>
                <c:formatCode>General</c:formatCode>
                <c:ptCount val="6"/>
                <c:pt idx="0">
                  <c:v>27</c:v>
                </c:pt>
                <c:pt idx="1">
                  <c:v>25</c:v>
                </c:pt>
                <c:pt idx="2">
                  <c:v>20</c:v>
                </c:pt>
                <c:pt idx="3">
                  <c:v>17</c:v>
                </c:pt>
                <c:pt idx="4">
                  <c:v>9</c:v>
                </c:pt>
                <c:pt idx="5">
                  <c:v>1</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3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Herzlich willkommen. Wir sind Team MAIL – Moritz, Johanna, Pasca und Tara – und präsentieren heute unseren aktuellen Projektstand im Kurs BIS5522 AI &amp; Machine Learning an der HS Pforzheim.
Unser Thema: ein hybrider KI-Agent für dynamische Gebrauchtwagenpreisgestaltung. Das klingt komplex – ist es auch – aber der Kerngedanke ist einfach: aktuelle Gebrauchtwagenpreisbewertungen sind meistens statisch, ignorieren Makroökonomie und saisonale Nachfrageverschiebungen. Das wollen wir ändern.
EN: Welcome. We are Team MAIL – Moritz, Johanna, Pasca, and Tara – and today we're presenting our current project status in the course BIS5522 AI &amp; Machine Learning at HS Pforzheim.
Our topic: a hybrid AI agent for dynamic used car pricing. The idea is simple: most existing pricing tools give a static snapshot. They ignore macroeconomic shifts and seasonal demand patterns. We want to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Warum braucht es dieses Projekt überhaupt? Drei konkrete Probleme.
Erstens: Bestehende Tools liefern einen Momentaufnahme-Wert – ohne Berücksichtigung von Inflation, Zinserhöhungen oder Nachfrageveränderungen.
Zweitens: Makroökonomische Schocks werden ignoriert. Das extremste Beispiel: In der Chip-Krise 2021 stiegen Gebrauchtwagenpreise um über 35 Prozent. Ein Modell, das auf 2019er Daten trainiert wurde, hätte komplett versagt.
Drittens: Saisonalität. Ein Cabrio im Juli ist mehrere Tausend Dollar mehr wert als dasselbe Fahrzeug im November – weil die Nachfrage temperaturgetrieben ist. Modelle, die das glätten, verlieren diese Information.
Unsere Vision fasst das unten zusammen: Ein live-fähiger, makrobewusster Agent, der nicht nur einen Tagespreis berechnet, sondern auch eine 12-Monats-Verkaufsstrategie empfiehlt.
EN: Why does this project need to exist? Three concrete problems.
First: Existing tools give a point-in-time value — ignoring inflation, rate hikes, or structural demand shifts.
Second: Macroeconomic shocks are invisible to static models. The clearest example: during the 2021 chip shortage, used car prices surged over 35%. A model trained on pre-COVID data would have been completely off.
Third: Seasonality. A convertible in July is worth several thousand dollars more than the same car in November — because demand is temperature-driven. Models that smooth this signal lose critical information.
Our vision, summarized at the bottom: a live, macro-aware pricing agent that not only computes a daily fair value, but also recommends a 12-month sell-timing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Unser System fußt auf zwei Datenschichten – Mikro und Makro.
Auf der Mikro-Seite: der Manheim B2B-Auktionsdatensatz mit 558.743 echten Wholesale-Transaktionen aus den USA, Zeitraum 2014 bis 2015. Wichtig: das sind keine Angebots- oder Listenpreise, sondern tatsächliche Auktionsabschlüsse – unverfälscht vom Händleraufschlag. Tara hat die Pipeline gebaut und den Datensatz bereinigt.
Auf der Makro-Seite: neun Zeitreihen direkt von der US-Notenbank FRED, von 1996 bis heute. Kern davon ist der CPI für Gebrauchtwagen und Trucks – unser Proxy für den proprietären MUVVI-Index von Manheim. Dazu kommen der Federal Funds Rate, Verbraucherstimmung, Arbeitslosenquote, Fahrzeugverkäufe, ein Rezessionsindikator und der High-Yield Credit Spread.
EN: Our system is built on two data layers — micro and macro.
On the micro side: the Manheim B2B auction dataset with 558,743 real wholesale transactions from the US, covering 2014 to 2015. Crucially, these are not listing prices — they are actual auction closing prices, free from dealer markup. Tara built the cleaning pipeline.
On the macro side: nine time series directly from the US Federal Reserve's FRED database, from 1996 to today. The core is the CPI for used cars and trucks — our proxy for the proprietary Manheim MUVVI index. We also include the Federal Funds Rate, consumer sentiment, unemployment, total vehicle sales, a recession indicator, and the high-yield credit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Herzstück unseres Projekts ist die Drei-Stufen-Ensemble-Architektur.
Stage 1 ist das Mikro-Modell: ein XGBoost-Regressor, der rein auf Fahrzeugeigenschaften trainiert ist – Kilometerstand, Fahrzeugalter, Marke, Karosserieform, Zustand und Getriebe. Er liefert einen Basispreis in 2015-Dollar, also bereinigt von Inflation und Marktschocks.
Stage 2 ist das Makro-Modell: ein deterministisches Expertensystem, das den Basispreis mit einem Marktmultiplikator skaliert. Dieser Multiplikator basiert auf dem CPI für Gebrauchtwagen als MUVVI-Proxy, dem Federal Funds Rate und dem Rezessionsindikator. Klassisches ML scheitert hier wegen struktureller Brüche – zum Beispiel der Pandemie – weshalb wir bewusst einen regelbasierten Ansatz gewählt haben.
Stage 3 ist das Strategie-Modell: eine regelbasierte Saisonalitätsschicht, die nach Karosserietyp differenziert. Cabrios folgen anderen Nachfragekurven als SUVs oder günstige Limousinen.
Das Endprodukt ist die Multiplikation aller drei Stufen – zu sehen in der Formel am unteren Rand.
EN: The heart of our project is the three-stage ensemble architecture.
Stage 1 is the micro-model: an XGBoost regressor trained purely on vehicle attributes — odometer, vehicle age, make, body type, condition, and transmission. It outputs a baseline price in 2015 dollars, stripped of inflation and market shocks.
Stage 2 is the macro-model: a deterministic expert system that scales the baseline price with a market multiplier. This multiplier is derived from the CPI for used cars as a MUVVI proxy, the Federal Funds Rate, and the recession indicator. We deliberately chose a rule-based approach here because classic ML fails due to structural breaks — for example the pandemic.
Stage 3 is the strategy model: a rule-based seasonality layer that differentiates by body type. Convertibles follow very different demand curves than SUVs or budget sedans.
The final output is the product of all three stages — as shown in the formula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Kommen wir zu den konkreten Ergebnissen von Stage 1.
Der MAE – der mittlere absolute Fehler – liegt bei 2.451 Dollar, was 17,6 Prozent des durchschnittlichen Verkaufspreises von 13.947 Dollar entspricht. Das RMSE liegt bei 3.951 Dollar. Trainiert wurde auf 423.000 Zeilen, getestet auf rund 106.000.
Wichtig für die methodische Einordnung: Wir haben bewusst auf das MMR-Feature verzichtet – den Manheim Market Report, den Händlerschätzwert. Mit MMR wären unter 5 Prozent MAE erreichbar – aber das wäre methodisch unehrlich, weil MMR selbst schon eine Preisschätzung für dasselbe Fahrzeug ist. Unser Modell lernt stattdessen echte Fahrzeugeigenschaften.
Die Feature-Importance-Analyse zeigt plausible Ergebnisse: Kilometerstand und Fahrzeugalter dominieren mit zusammen 52 Prozent. Marke und Karosserieform folgen. Das stimmt mit dem überein, was man intuitiv erwarten würde.
EN: Now for the concrete results from Stage 1.
The MAE — mean absolute error — is $2,451, which corresponds to 17.6% of the average selling price of $13,947. The RMSE is $3,951. We trained on 423,000 rows and tested on roughly 106,000.
One important methodological note: we deliberately excluded the MMR feature — the Manheim Market Report dealer estimate. With MMR, we could achieve under 5% MAE — but that would be methodologically dishonest, because MMR itself is already a price estimate for that same vehicle. Our model instead learns true vehicle physics.
The feature importance analysis shows plausible results: odometer and vehicle age together dominate at 52%. Make and body type follow. This aligns with what you'd intuitively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Zum Abschluss ein kurzer Blick auf unseren aktuellen Stand. Grün markiert ist alles, was bereits fertig ist: Tara hat die Datenpipeline aufgebaut und den Manheim-Datensatz auf 558.000 Zeilen bereinigt. Ich habe die Makrodaten-Pipeline mit neun FRED-Serien implementiert und den cpi_multiplier als MUVVI-Proxy berechnet. Das XGBoost-Modell in Stage 1 ist trainiert und gespeichert – mit einem MAE von 2.451 Dollar.
Was noch aussteht: In Stage 2 wenden wir den Multiplikator auf den Stage-1-Output an. Stage 3 ergänzt die Saisonalitätsfaktoren je nach Karosserietyp. Danach bauen wir die Streamlit-App mit dem LLM-Orchestrator. Und wie gerade besprochen: Wir klären mit Ihnen, ob wir den echten MUVVI von Cox Automotive einbinden können oder ob unser CPI-Proxy ausreicht.
EN: To wrap up, a quick look at where we stand. Everything in green is already done: Tara built the data pipeline and cleaned the Manheim dataset down to 558k rows. I implemented the macro data pipeline with nine FRED series and computed the cpi_multiplier as our MUVVI proxy. The Stage 1 XGBoost model is trained and saved — with an MAE of $2,451.
What's still ahead: Stage 2 applies the multiplier to Stage 1 output. Stage 3 adds body-type seasonality factors. Then we build the Streamlit app with the LLM orchestrator. And as just discussed: we'll clarify with you whether we can integrate the real MUVVI from Cox Automotive, or whether our CPI proxy is sufficient.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240"/>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347472" y="457200"/>
            <a:ext cx="8412480" cy="320040"/>
          </a:xfrm>
          <a:prstGeom prst="rect">
            <a:avLst/>
          </a:prstGeom>
          <a:noFill/>
          <a:ln/>
        </p:spPr>
        <p:txBody>
          <a:bodyPr wrap="square" lIns="0" tIns="0" rIns="0" bIns="0" rtlCol="0" anchor="ctr"/>
          <a:lstStyle/>
          <a:p>
            <a:pPr indent="0" marL="0">
              <a:buNone/>
            </a:pPr>
            <a:r>
              <a:rPr lang="en-US" sz="1100" dirty="0">
                <a:solidFill>
                  <a:srgbClr val="14B8A6"/>
                </a:solidFill>
                <a:latin typeface="Calibri" pitchFamily="34" charset="0"/>
                <a:ea typeface="Calibri" pitchFamily="34" charset="-122"/>
                <a:cs typeface="Calibri" pitchFamily="34" charset="-120"/>
              </a:rPr>
              <a:t>BIS5522 — AI &amp; Machine Learning · Team MAIL</a:t>
            </a:r>
            <a:endParaRPr lang="en-US" sz="1100" dirty="0"/>
          </a:p>
        </p:txBody>
      </p:sp>
      <p:sp>
        <p:nvSpPr>
          <p:cNvPr id="4" name="Text 2"/>
          <p:cNvSpPr/>
          <p:nvPr/>
        </p:nvSpPr>
        <p:spPr>
          <a:xfrm>
            <a:off x="347472" y="914400"/>
            <a:ext cx="5669280" cy="25603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Hybrid AI Agent</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for Dynamic Used</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Car Pricing</a:t>
            </a:r>
            <a:endParaRPr lang="en-US" sz="4400" dirty="0"/>
          </a:p>
        </p:txBody>
      </p:sp>
      <p:sp>
        <p:nvSpPr>
          <p:cNvPr id="5" name="Text 3"/>
          <p:cNvSpPr/>
          <p:nvPr/>
        </p:nvSpPr>
        <p:spPr>
          <a:xfrm>
            <a:off x="347472" y="3566160"/>
            <a:ext cx="5669280" cy="8229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 3-Stage Ensemble combining XGBoost, Macro-Economics</a:t>
            </a:r>
            <a:endParaRPr lang="en-US" sz="1300" dirty="0"/>
          </a:p>
          <a:p>
            <a:pPr indent="0" marL="0">
              <a:buNone/>
            </a:pPr>
            <a:r>
              <a:rPr lang="en-US" sz="1300" dirty="0">
                <a:solidFill>
                  <a:srgbClr val="64748B"/>
                </a:solidFill>
                <a:latin typeface="Calibri" pitchFamily="34" charset="0"/>
                <a:ea typeface="Calibri" pitchFamily="34" charset="-122"/>
                <a:cs typeface="Calibri" pitchFamily="34" charset="-120"/>
              </a:rPr>
              <a:t>&amp; Seasonality to price any used vehicle — live.</a:t>
            </a:r>
            <a:endParaRPr lang="en-US" sz="1300" dirty="0"/>
          </a:p>
        </p:txBody>
      </p:sp>
      <p:sp>
        <p:nvSpPr>
          <p:cNvPr id="6" name="Shape 4"/>
          <p:cNvSpPr/>
          <p:nvPr/>
        </p:nvSpPr>
        <p:spPr>
          <a:xfrm>
            <a:off x="6400800" y="1097280"/>
            <a:ext cx="2468880" cy="2926080"/>
          </a:xfrm>
          <a:prstGeom prst="rect">
            <a:avLst/>
          </a:prstGeom>
          <a:solidFill>
            <a:srgbClr val="162D4A"/>
          </a:solidFill>
          <a:ln w="12700">
            <a:solidFill>
              <a:srgbClr val="162D4A"/>
            </a:solidFill>
            <a:prstDash val="solid"/>
          </a:ln>
          <a:effectLst>
            <a:outerShdw sx="100000" sy="100000" kx="0" ky="0" algn="bl" rotWithShape="0" blurRad="127000" dist="38100" dir="8100000">
              <a:srgbClr val="000000">
                <a:alpha val="30000"/>
              </a:srgbClr>
            </a:outerShdw>
          </a:effectLst>
        </p:spPr>
      </p:sp>
      <p:sp>
        <p:nvSpPr>
          <p:cNvPr id="7" name="Text 5"/>
          <p:cNvSpPr/>
          <p:nvPr/>
        </p:nvSpPr>
        <p:spPr>
          <a:xfrm>
            <a:off x="6492240" y="1234440"/>
            <a:ext cx="2286000" cy="365760"/>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Team MAIL</a:t>
            </a:r>
            <a:endParaRPr lang="en-US" sz="1300" dirty="0"/>
          </a:p>
        </p:txBody>
      </p:sp>
      <p:sp>
        <p:nvSpPr>
          <p:cNvPr id="8" name="Text 6"/>
          <p:cNvSpPr/>
          <p:nvPr/>
        </p:nvSpPr>
        <p:spPr>
          <a:xfrm>
            <a:off x="6492240" y="1691640"/>
            <a:ext cx="2286000" cy="411480"/>
          </a:xfrm>
          <a:prstGeom prst="rect">
            <a:avLst/>
          </a:prstGeom>
          <a:noFill/>
          <a:ln/>
        </p:spPr>
        <p:txBody>
          <a:bodyPr wrap="square" lIns="0" tIns="0" rIns="0" bIns="0" rtlCol="0" anchor="ctr"/>
          <a:lstStyle/>
          <a:p>
            <a:pPr indent="0" marL="0">
              <a:buNone/>
            </a:pPr>
            <a:r>
              <a:rPr lang="en-US" sz="1200" dirty="0">
                <a:solidFill>
                  <a:srgbClr val="F1F5F9"/>
                </a:solidFill>
                <a:latin typeface="Calibri" pitchFamily="34" charset="0"/>
                <a:ea typeface="Calibri" pitchFamily="34" charset="-122"/>
                <a:cs typeface="Calibri" pitchFamily="34" charset="-120"/>
              </a:rPr>
              <a:t>Moritz Binder</a:t>
            </a:r>
            <a:endParaRPr lang="en-US" sz="1200" dirty="0"/>
          </a:p>
        </p:txBody>
      </p:sp>
      <p:sp>
        <p:nvSpPr>
          <p:cNvPr id="9" name="Text 7"/>
          <p:cNvSpPr/>
          <p:nvPr/>
        </p:nvSpPr>
        <p:spPr>
          <a:xfrm>
            <a:off x="6492240" y="2194560"/>
            <a:ext cx="2286000" cy="411480"/>
          </a:xfrm>
          <a:prstGeom prst="rect">
            <a:avLst/>
          </a:prstGeom>
          <a:noFill/>
          <a:ln/>
        </p:spPr>
        <p:txBody>
          <a:bodyPr wrap="square" lIns="0" tIns="0" rIns="0" bIns="0" rtlCol="0" anchor="ctr"/>
          <a:lstStyle/>
          <a:p>
            <a:pPr indent="0" marL="0">
              <a:buNone/>
            </a:pPr>
            <a:r>
              <a:rPr lang="en-US" sz="1200" dirty="0">
                <a:solidFill>
                  <a:srgbClr val="F1F5F9"/>
                </a:solidFill>
                <a:latin typeface="Calibri" pitchFamily="34" charset="0"/>
                <a:ea typeface="Calibri" pitchFamily="34" charset="-122"/>
                <a:cs typeface="Calibri" pitchFamily="34" charset="-120"/>
              </a:rPr>
              <a:t>Johanna Thiele</a:t>
            </a:r>
            <a:endParaRPr lang="en-US" sz="1200" dirty="0"/>
          </a:p>
        </p:txBody>
      </p:sp>
      <p:sp>
        <p:nvSpPr>
          <p:cNvPr id="10" name="Text 8"/>
          <p:cNvSpPr/>
          <p:nvPr/>
        </p:nvSpPr>
        <p:spPr>
          <a:xfrm>
            <a:off x="6492240" y="2697480"/>
            <a:ext cx="2286000" cy="411480"/>
          </a:xfrm>
          <a:prstGeom prst="rect">
            <a:avLst/>
          </a:prstGeom>
          <a:noFill/>
          <a:ln/>
        </p:spPr>
        <p:txBody>
          <a:bodyPr wrap="square" lIns="0" tIns="0" rIns="0" bIns="0" rtlCol="0" anchor="ctr"/>
          <a:lstStyle/>
          <a:p>
            <a:pPr indent="0" marL="0">
              <a:buNone/>
            </a:pPr>
            <a:r>
              <a:rPr lang="en-US" sz="1200" dirty="0">
                <a:solidFill>
                  <a:srgbClr val="F1F5F9"/>
                </a:solidFill>
                <a:latin typeface="Calibri" pitchFamily="34" charset="0"/>
                <a:ea typeface="Calibri" pitchFamily="34" charset="-122"/>
                <a:cs typeface="Calibri" pitchFamily="34" charset="-120"/>
              </a:rPr>
              <a:t>Pasca Muller</a:t>
            </a:r>
            <a:endParaRPr lang="en-US" sz="1200" dirty="0"/>
          </a:p>
        </p:txBody>
      </p:sp>
      <p:sp>
        <p:nvSpPr>
          <p:cNvPr id="11" name="Text 9"/>
          <p:cNvSpPr/>
          <p:nvPr/>
        </p:nvSpPr>
        <p:spPr>
          <a:xfrm>
            <a:off x="6492240" y="3200400"/>
            <a:ext cx="2286000" cy="411480"/>
          </a:xfrm>
          <a:prstGeom prst="rect">
            <a:avLst/>
          </a:prstGeom>
          <a:noFill/>
          <a:ln/>
        </p:spPr>
        <p:txBody>
          <a:bodyPr wrap="square" lIns="0" tIns="0" rIns="0" bIns="0" rtlCol="0" anchor="ctr"/>
          <a:lstStyle/>
          <a:p>
            <a:pPr indent="0" marL="0">
              <a:buNone/>
            </a:pPr>
            <a:r>
              <a:rPr lang="en-US" sz="1200" dirty="0">
                <a:solidFill>
                  <a:srgbClr val="F1F5F9"/>
                </a:solidFill>
                <a:latin typeface="Calibri" pitchFamily="34" charset="0"/>
                <a:ea typeface="Calibri" pitchFamily="34" charset="-122"/>
                <a:cs typeface="Calibri" pitchFamily="34" charset="-120"/>
              </a:rPr>
              <a:t>Tara Golle</a:t>
            </a:r>
            <a:endParaRPr lang="en-US" sz="1200" dirty="0"/>
          </a:p>
        </p:txBody>
      </p:sp>
      <p:sp>
        <p:nvSpPr>
          <p:cNvPr id="12" name="Text 10"/>
          <p:cNvSpPr/>
          <p:nvPr/>
        </p:nvSpPr>
        <p:spPr>
          <a:xfrm>
            <a:off x="347472" y="4663440"/>
            <a:ext cx="3657600" cy="274320"/>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Deadline: 31. Juli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indent="0" marL="0">
              <a:buNone/>
            </a:pPr>
            <a:r>
              <a:rPr lang="en-US" sz="3000" b="1" dirty="0">
                <a:solidFill>
                  <a:srgbClr val="0F2240"/>
                </a:solidFill>
                <a:latin typeface="Calibri" pitchFamily="34" charset="0"/>
                <a:ea typeface="Calibri" pitchFamily="34" charset="-122"/>
                <a:cs typeface="Calibri" pitchFamily="34" charset="-120"/>
              </a:rPr>
              <a:t>The Problem</a:t>
            </a:r>
            <a:endParaRPr lang="en-US" sz="3000" dirty="0"/>
          </a:p>
        </p:txBody>
      </p:sp>
      <p:sp>
        <p:nvSpPr>
          <p:cNvPr id="3" name="Shape 1"/>
          <p:cNvSpPr/>
          <p:nvPr/>
        </p:nvSpPr>
        <p:spPr>
          <a:xfrm>
            <a:off x="365760" y="1005840"/>
            <a:ext cx="2606040" cy="320040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4" name="Text 2"/>
          <p:cNvSpPr/>
          <p:nvPr/>
        </p:nvSpPr>
        <p:spPr>
          <a:xfrm>
            <a:off x="457200" y="1115568"/>
            <a:ext cx="640080" cy="54864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5" name="Text 3"/>
          <p:cNvSpPr/>
          <p:nvPr/>
        </p:nvSpPr>
        <p:spPr>
          <a:xfrm>
            <a:off x="475488" y="1755648"/>
            <a:ext cx="2377440" cy="411480"/>
          </a:xfrm>
          <a:prstGeom prst="rect">
            <a:avLst/>
          </a:prstGeom>
          <a:noFill/>
          <a:ln/>
        </p:spPr>
        <p:txBody>
          <a:bodyPr wrap="square" lIns="0" tIns="0" rIns="0" bIns="0" rtlCol="0" anchor="ctr"/>
          <a:lstStyle/>
          <a:p>
            <a:pPr indent="0" marL="0">
              <a:buNone/>
            </a:pPr>
            <a:r>
              <a:rPr lang="en-US" sz="1300" b="1" dirty="0">
                <a:solidFill>
                  <a:srgbClr val="0F2240"/>
                </a:solidFill>
                <a:latin typeface="Calibri" pitchFamily="34" charset="0"/>
                <a:ea typeface="Calibri" pitchFamily="34" charset="-122"/>
                <a:cs typeface="Calibri" pitchFamily="34" charset="-120"/>
              </a:rPr>
              <a:t>Static Snapshots</a:t>
            </a:r>
            <a:endParaRPr lang="en-US" sz="1300" dirty="0"/>
          </a:p>
        </p:txBody>
      </p:sp>
      <p:sp>
        <p:nvSpPr>
          <p:cNvPr id="6" name="Text 4"/>
          <p:cNvSpPr/>
          <p:nvPr/>
        </p:nvSpPr>
        <p:spPr>
          <a:xfrm>
            <a:off x="475488" y="2240280"/>
            <a:ext cx="2377440" cy="18288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Existing tools give a point-in-time value — ignoring inflation, rate hikes, or demand shifts.</a:t>
            </a:r>
            <a:endParaRPr lang="en-US" sz="1100" dirty="0"/>
          </a:p>
        </p:txBody>
      </p:sp>
      <p:sp>
        <p:nvSpPr>
          <p:cNvPr id="7" name="Shape 5"/>
          <p:cNvSpPr/>
          <p:nvPr/>
        </p:nvSpPr>
        <p:spPr>
          <a:xfrm>
            <a:off x="3200400" y="1005840"/>
            <a:ext cx="2606040" cy="320040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8" name="Text 6"/>
          <p:cNvSpPr/>
          <p:nvPr/>
        </p:nvSpPr>
        <p:spPr>
          <a:xfrm>
            <a:off x="3291840" y="1115568"/>
            <a:ext cx="640080" cy="54864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9" name="Text 7"/>
          <p:cNvSpPr/>
          <p:nvPr/>
        </p:nvSpPr>
        <p:spPr>
          <a:xfrm>
            <a:off x="3310128" y="1755648"/>
            <a:ext cx="2377440" cy="411480"/>
          </a:xfrm>
          <a:prstGeom prst="rect">
            <a:avLst/>
          </a:prstGeom>
          <a:noFill/>
          <a:ln/>
        </p:spPr>
        <p:txBody>
          <a:bodyPr wrap="square" lIns="0" tIns="0" rIns="0" bIns="0" rtlCol="0" anchor="ctr"/>
          <a:lstStyle/>
          <a:p>
            <a:pPr indent="0" marL="0">
              <a:buNone/>
            </a:pPr>
            <a:r>
              <a:rPr lang="en-US" sz="1300" b="1" dirty="0">
                <a:solidFill>
                  <a:srgbClr val="0F2240"/>
                </a:solidFill>
                <a:latin typeface="Calibri" pitchFamily="34" charset="0"/>
                <a:ea typeface="Calibri" pitchFamily="34" charset="-122"/>
                <a:cs typeface="Calibri" pitchFamily="34" charset="-120"/>
              </a:rPr>
              <a:t>Macro Blind Spots</a:t>
            </a:r>
            <a:endParaRPr lang="en-US" sz="1300" dirty="0"/>
          </a:p>
        </p:txBody>
      </p:sp>
      <p:sp>
        <p:nvSpPr>
          <p:cNvPr id="10" name="Text 8"/>
          <p:cNvSpPr/>
          <p:nvPr/>
        </p:nvSpPr>
        <p:spPr>
          <a:xfrm>
            <a:off x="3310128" y="2240280"/>
            <a:ext cx="2377440" cy="18288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Chip shortage 2021: prices surged +35% while models trained on pre-COVID data gave wrong estimates.</a:t>
            </a:r>
            <a:endParaRPr lang="en-US" sz="1100" dirty="0"/>
          </a:p>
        </p:txBody>
      </p:sp>
      <p:sp>
        <p:nvSpPr>
          <p:cNvPr id="11" name="Shape 9"/>
          <p:cNvSpPr/>
          <p:nvPr/>
        </p:nvSpPr>
        <p:spPr>
          <a:xfrm>
            <a:off x="6035040" y="1005840"/>
            <a:ext cx="2606040" cy="320040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2" name="Text 10"/>
          <p:cNvSpPr/>
          <p:nvPr/>
        </p:nvSpPr>
        <p:spPr>
          <a:xfrm>
            <a:off x="6126480" y="1115568"/>
            <a:ext cx="640080" cy="54864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3" name="Text 11"/>
          <p:cNvSpPr/>
          <p:nvPr/>
        </p:nvSpPr>
        <p:spPr>
          <a:xfrm>
            <a:off x="6144768" y="1755648"/>
            <a:ext cx="2377440" cy="411480"/>
          </a:xfrm>
          <a:prstGeom prst="rect">
            <a:avLst/>
          </a:prstGeom>
          <a:noFill/>
          <a:ln/>
        </p:spPr>
        <p:txBody>
          <a:bodyPr wrap="square" lIns="0" tIns="0" rIns="0" bIns="0" rtlCol="0" anchor="ctr"/>
          <a:lstStyle/>
          <a:p>
            <a:pPr indent="0" marL="0">
              <a:buNone/>
            </a:pPr>
            <a:r>
              <a:rPr lang="en-US" sz="1300" b="1" dirty="0">
                <a:solidFill>
                  <a:srgbClr val="0F2240"/>
                </a:solidFill>
                <a:latin typeface="Calibri" pitchFamily="34" charset="0"/>
                <a:ea typeface="Calibri" pitchFamily="34" charset="-122"/>
                <a:cs typeface="Calibri" pitchFamily="34" charset="-120"/>
              </a:rPr>
              <a:t>Seasonal Swings</a:t>
            </a:r>
            <a:endParaRPr lang="en-US" sz="1300" dirty="0"/>
          </a:p>
        </p:txBody>
      </p:sp>
      <p:sp>
        <p:nvSpPr>
          <p:cNvPr id="14" name="Text 12"/>
          <p:cNvSpPr/>
          <p:nvPr/>
        </p:nvSpPr>
        <p:spPr>
          <a:xfrm>
            <a:off x="6144768" y="2240280"/>
            <a:ext cx="2377440" cy="18288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 convertible in July vs. November differs by thousands — yet most models flatten this signal.</a:t>
            </a:r>
            <a:endParaRPr lang="en-US" sz="1100" dirty="0"/>
          </a:p>
        </p:txBody>
      </p:sp>
      <p:sp>
        <p:nvSpPr>
          <p:cNvPr id="15" name="Shape 13"/>
          <p:cNvSpPr/>
          <p:nvPr/>
        </p:nvSpPr>
        <p:spPr>
          <a:xfrm>
            <a:off x="365760" y="4407408"/>
            <a:ext cx="8412480" cy="502920"/>
          </a:xfrm>
          <a:prstGeom prst="rect">
            <a:avLst/>
          </a:prstGeom>
          <a:solidFill>
            <a:srgbClr val="0D9488"/>
          </a:solidFill>
          <a:ln w="12700">
            <a:solidFill>
              <a:srgbClr val="0D9488"/>
            </a:solidFill>
            <a:prstDash val="solid"/>
          </a:ln>
        </p:spPr>
      </p:sp>
      <p:sp>
        <p:nvSpPr>
          <p:cNvPr id="16" name="Text 14"/>
          <p:cNvSpPr/>
          <p:nvPr/>
        </p:nvSpPr>
        <p:spPr>
          <a:xfrm>
            <a:off x="502920" y="4434840"/>
            <a:ext cx="82296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Our Vision:  A live, macro-aware pricing agent that delivers a daily fair value + 12-month sell-timing strategy.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3000" b="1" dirty="0">
                <a:solidFill>
                  <a:srgbClr val="0F2240"/>
                </a:solidFill>
                <a:latin typeface="Calibri" pitchFamily="34" charset="0"/>
                <a:ea typeface="Calibri" pitchFamily="34" charset="-122"/>
                <a:cs typeface="Calibri" pitchFamily="34" charset="-120"/>
              </a:rPr>
              <a:t>Data Foundation</a:t>
            </a:r>
            <a:endParaRPr lang="en-US" sz="3000" dirty="0"/>
          </a:p>
        </p:txBody>
      </p:sp>
      <p:sp>
        <p:nvSpPr>
          <p:cNvPr id="3" name="Shape 1"/>
          <p:cNvSpPr/>
          <p:nvPr/>
        </p:nvSpPr>
        <p:spPr>
          <a:xfrm>
            <a:off x="365760" y="960120"/>
            <a:ext cx="3931920" cy="3886200"/>
          </a:xfrm>
          <a:prstGeom prst="rect">
            <a:avLst/>
          </a:prstGeom>
          <a:solidFill>
            <a:srgbClr val="EFF6FF"/>
          </a:solidFill>
          <a:ln w="12700">
            <a:solidFill>
              <a:srgbClr val="BFDBFE"/>
            </a:solidFill>
            <a:prstDash val="solid"/>
          </a:ln>
          <a:effectLst>
            <a:outerShdw sx="100000" sy="100000" kx="0" ky="0" algn="bl" rotWithShape="0" blurRad="76200" dist="25400" dir="8100000">
              <a:srgbClr val="000000">
                <a:alpha val="8000"/>
              </a:srgbClr>
            </a:outerShdw>
          </a:effectLst>
        </p:spPr>
      </p:sp>
      <p:sp>
        <p:nvSpPr>
          <p:cNvPr id="4" name="Text 2"/>
          <p:cNvSpPr/>
          <p:nvPr/>
        </p:nvSpPr>
        <p:spPr>
          <a:xfrm>
            <a:off x="502920" y="1078992"/>
            <a:ext cx="3657600" cy="365760"/>
          </a:xfrm>
          <a:prstGeom prst="rect">
            <a:avLst/>
          </a:prstGeom>
          <a:noFill/>
          <a:ln/>
        </p:spPr>
        <p:txBody>
          <a:bodyPr wrap="square" lIns="0" tIns="0" rIns="0" bIns="0" rtlCol="0" anchor="ctr"/>
          <a:lstStyle/>
          <a:p>
            <a:pPr indent="0" marL="0">
              <a:buNone/>
            </a:pPr>
            <a:r>
              <a:rPr lang="en-US" sz="1400" b="1" dirty="0">
                <a:solidFill>
                  <a:srgbClr val="0F2240"/>
                </a:solidFill>
                <a:latin typeface="Calibri" pitchFamily="34" charset="0"/>
                <a:ea typeface="Calibri" pitchFamily="34" charset="-122"/>
                <a:cs typeface="Calibri" pitchFamily="34" charset="-120"/>
              </a:rPr>
              <a:t>MICRO — Vehicle Data</a:t>
            </a:r>
            <a:endParaRPr lang="en-US" sz="1400" dirty="0"/>
          </a:p>
        </p:txBody>
      </p:sp>
      <p:sp>
        <p:nvSpPr>
          <p:cNvPr id="5" name="Text 3"/>
          <p:cNvSpPr/>
          <p:nvPr/>
        </p:nvSpPr>
        <p:spPr>
          <a:xfrm>
            <a:off x="502920" y="1508760"/>
            <a:ext cx="3657600" cy="5029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Manheim B2B Auction Dataset</a:t>
            </a:r>
            <a:endParaRPr lang="en-US" sz="1100" dirty="0"/>
          </a:p>
          <a:p>
            <a:pPr indent="0" marL="0">
              <a:buNone/>
            </a:pPr>
            <a:r>
              <a:rPr lang="en-US" sz="1100" i="1" dirty="0">
                <a:solidFill>
                  <a:srgbClr val="64748B"/>
                </a:solidFill>
                <a:latin typeface="Calibri" pitchFamily="34" charset="0"/>
                <a:ea typeface="Calibri" pitchFamily="34" charset="-122"/>
                <a:cs typeface="Calibri" pitchFamily="34" charset="-120"/>
              </a:rPr>
              <a:t>(Kaggle — tunguz/used-car-auction-prices)</a:t>
            </a:r>
            <a:endParaRPr lang="en-US" sz="1100" dirty="0"/>
          </a:p>
        </p:txBody>
      </p:sp>
      <p:sp>
        <p:nvSpPr>
          <p:cNvPr id="6" name="Text 4"/>
          <p:cNvSpPr/>
          <p:nvPr/>
        </p:nvSpPr>
        <p:spPr>
          <a:xfrm>
            <a:off x="548640" y="2103120"/>
            <a:ext cx="3566160" cy="457200"/>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558,743 real wholesale transactions</a:t>
            </a:r>
            <a:endParaRPr lang="en-US" sz="1100" dirty="0"/>
          </a:p>
        </p:txBody>
      </p:sp>
      <p:sp>
        <p:nvSpPr>
          <p:cNvPr id="7" name="Text 5"/>
          <p:cNvSpPr/>
          <p:nvPr/>
        </p:nvSpPr>
        <p:spPr>
          <a:xfrm>
            <a:off x="548640" y="2606040"/>
            <a:ext cx="3566160" cy="457200"/>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US market 2014–2015</a:t>
            </a:r>
            <a:endParaRPr lang="en-US" sz="1100" dirty="0"/>
          </a:p>
        </p:txBody>
      </p:sp>
      <p:sp>
        <p:nvSpPr>
          <p:cNvPr id="8" name="Text 6"/>
          <p:cNvSpPr/>
          <p:nvPr/>
        </p:nvSpPr>
        <p:spPr>
          <a:xfrm>
            <a:off x="548640" y="3108960"/>
            <a:ext cx="3566160" cy="457200"/>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Clean: Tara's pipeline removed outliers</a:t>
            </a:r>
            <a:endParaRPr lang="en-US" sz="1100" dirty="0"/>
          </a:p>
        </p:txBody>
      </p:sp>
      <p:sp>
        <p:nvSpPr>
          <p:cNvPr id="9" name="Text 7"/>
          <p:cNvSpPr/>
          <p:nvPr/>
        </p:nvSpPr>
        <p:spPr>
          <a:xfrm>
            <a:off x="548640" y="3611880"/>
            <a:ext cx="3566160" cy="457200"/>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Features: make, body, odometer,</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condition, age, transmission</a:t>
            </a:r>
            <a:endParaRPr lang="en-US" sz="1100" dirty="0"/>
          </a:p>
        </p:txBody>
      </p:sp>
      <p:sp>
        <p:nvSpPr>
          <p:cNvPr id="10" name="Text 8"/>
          <p:cNvSpPr/>
          <p:nvPr/>
        </p:nvSpPr>
        <p:spPr>
          <a:xfrm>
            <a:off x="548640" y="4114800"/>
            <a:ext cx="3566160" cy="457200"/>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No retail asking prices — unbiased</a:t>
            </a:r>
            <a:endParaRPr lang="en-US" sz="1100" dirty="0"/>
          </a:p>
        </p:txBody>
      </p:sp>
      <p:sp>
        <p:nvSpPr>
          <p:cNvPr id="11" name="Shape 9"/>
          <p:cNvSpPr/>
          <p:nvPr/>
        </p:nvSpPr>
        <p:spPr>
          <a:xfrm>
            <a:off x="4572000" y="960120"/>
            <a:ext cx="4206240" cy="3886200"/>
          </a:xfrm>
          <a:prstGeom prst="rect">
            <a:avLst/>
          </a:prstGeom>
          <a:solidFill>
            <a:srgbClr val="F0FDFA"/>
          </a:solidFill>
          <a:ln w="12700">
            <a:solidFill>
              <a:srgbClr val="99F6E4"/>
            </a:solidFill>
            <a:prstDash val="solid"/>
          </a:ln>
          <a:effectLst>
            <a:outerShdw sx="100000" sy="100000" kx="0" ky="0" algn="bl" rotWithShape="0" blurRad="76200" dist="25400" dir="8100000">
              <a:srgbClr val="000000">
                <a:alpha val="8000"/>
              </a:srgbClr>
            </a:outerShdw>
          </a:effectLst>
        </p:spPr>
      </p:sp>
      <p:sp>
        <p:nvSpPr>
          <p:cNvPr id="12" name="Text 10"/>
          <p:cNvSpPr/>
          <p:nvPr/>
        </p:nvSpPr>
        <p:spPr>
          <a:xfrm>
            <a:off x="4709160" y="1078992"/>
            <a:ext cx="3931920" cy="365760"/>
          </a:xfrm>
          <a:prstGeom prst="rect">
            <a:avLst/>
          </a:prstGeom>
          <a:noFill/>
          <a:ln/>
        </p:spPr>
        <p:txBody>
          <a:bodyPr wrap="square" lIns="0" tIns="0" rIns="0" bIns="0" rtlCol="0" anchor="ctr"/>
          <a:lstStyle/>
          <a:p>
            <a:pPr indent="0" marL="0">
              <a:buNone/>
            </a:pPr>
            <a:r>
              <a:rPr lang="en-US" sz="1400" b="1" dirty="0">
                <a:solidFill>
                  <a:srgbClr val="0F2240"/>
                </a:solidFill>
                <a:latin typeface="Calibri" pitchFamily="34" charset="0"/>
                <a:ea typeface="Calibri" pitchFamily="34" charset="-122"/>
                <a:cs typeface="Calibri" pitchFamily="34" charset="-120"/>
              </a:rPr>
              <a:t>MACRO — Economic Context</a:t>
            </a:r>
            <a:endParaRPr lang="en-US" sz="1400" dirty="0"/>
          </a:p>
        </p:txBody>
      </p:sp>
      <p:sp>
        <p:nvSpPr>
          <p:cNvPr id="13" name="Text 11"/>
          <p:cNvSpPr/>
          <p:nvPr/>
        </p:nvSpPr>
        <p:spPr>
          <a:xfrm>
            <a:off x="4709160" y="1508760"/>
            <a:ext cx="3931920" cy="32004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FRED (Federal Reserve) · 1996–2026</a:t>
            </a:r>
            <a:endParaRPr lang="en-US" sz="1100" dirty="0"/>
          </a:p>
        </p:txBody>
      </p:sp>
      <p:sp>
        <p:nvSpPr>
          <p:cNvPr id="14" name="Shape 12"/>
          <p:cNvSpPr/>
          <p:nvPr/>
        </p:nvSpPr>
        <p:spPr>
          <a:xfrm>
            <a:off x="4663440" y="1901952"/>
            <a:ext cx="36576" cy="274320"/>
          </a:xfrm>
          <a:prstGeom prst="rect">
            <a:avLst/>
          </a:prstGeom>
          <a:solidFill>
            <a:srgbClr val="0D9488"/>
          </a:solidFill>
          <a:ln w="12700">
            <a:solidFill>
              <a:srgbClr val="0D9488"/>
            </a:solidFill>
            <a:prstDash val="solid"/>
          </a:ln>
        </p:spPr>
      </p:sp>
      <p:sp>
        <p:nvSpPr>
          <p:cNvPr id="15" name="Text 13"/>
          <p:cNvSpPr/>
          <p:nvPr/>
        </p:nvSpPr>
        <p:spPr>
          <a:xfrm>
            <a:off x="4773168" y="1883664"/>
            <a:ext cx="1783080" cy="32004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cpi_used_cars</a:t>
            </a:r>
            <a:endParaRPr lang="en-US" sz="1000" dirty="0"/>
          </a:p>
        </p:txBody>
      </p:sp>
      <p:sp>
        <p:nvSpPr>
          <p:cNvPr id="16" name="Text 14"/>
          <p:cNvSpPr/>
          <p:nvPr/>
        </p:nvSpPr>
        <p:spPr>
          <a:xfrm>
            <a:off x="6583680" y="1883664"/>
            <a:ext cx="201168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MUVVI-Proxy (BLS)</a:t>
            </a:r>
            <a:endParaRPr lang="en-US" sz="1000" dirty="0"/>
          </a:p>
        </p:txBody>
      </p:sp>
      <p:sp>
        <p:nvSpPr>
          <p:cNvPr id="17" name="Shape 15"/>
          <p:cNvSpPr/>
          <p:nvPr/>
        </p:nvSpPr>
        <p:spPr>
          <a:xfrm>
            <a:off x="4663440" y="2322576"/>
            <a:ext cx="36576" cy="274320"/>
          </a:xfrm>
          <a:prstGeom prst="rect">
            <a:avLst/>
          </a:prstGeom>
          <a:solidFill>
            <a:srgbClr val="0D9488"/>
          </a:solidFill>
          <a:ln w="12700">
            <a:solidFill>
              <a:srgbClr val="0D9488"/>
            </a:solidFill>
            <a:prstDash val="solid"/>
          </a:ln>
        </p:spPr>
      </p:sp>
      <p:sp>
        <p:nvSpPr>
          <p:cNvPr id="18" name="Text 16"/>
          <p:cNvSpPr/>
          <p:nvPr/>
        </p:nvSpPr>
        <p:spPr>
          <a:xfrm>
            <a:off x="4773168" y="2304288"/>
            <a:ext cx="1783080" cy="32004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fedfunds</a:t>
            </a:r>
            <a:endParaRPr lang="en-US" sz="1000" dirty="0"/>
          </a:p>
        </p:txBody>
      </p:sp>
      <p:sp>
        <p:nvSpPr>
          <p:cNvPr id="19" name="Text 17"/>
          <p:cNvSpPr/>
          <p:nvPr/>
        </p:nvSpPr>
        <p:spPr>
          <a:xfrm>
            <a:off x="6583680" y="2304288"/>
            <a:ext cx="201168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US Interest Rate</a:t>
            </a:r>
            <a:endParaRPr lang="en-US" sz="1000" dirty="0"/>
          </a:p>
        </p:txBody>
      </p:sp>
      <p:sp>
        <p:nvSpPr>
          <p:cNvPr id="20" name="Shape 18"/>
          <p:cNvSpPr/>
          <p:nvPr/>
        </p:nvSpPr>
        <p:spPr>
          <a:xfrm>
            <a:off x="4663440" y="2743200"/>
            <a:ext cx="36576" cy="274320"/>
          </a:xfrm>
          <a:prstGeom prst="rect">
            <a:avLst/>
          </a:prstGeom>
          <a:solidFill>
            <a:srgbClr val="0D9488"/>
          </a:solidFill>
          <a:ln w="12700">
            <a:solidFill>
              <a:srgbClr val="0D9488"/>
            </a:solidFill>
            <a:prstDash val="solid"/>
          </a:ln>
        </p:spPr>
      </p:sp>
      <p:sp>
        <p:nvSpPr>
          <p:cNvPr id="21" name="Text 19"/>
          <p:cNvSpPr/>
          <p:nvPr/>
        </p:nvSpPr>
        <p:spPr>
          <a:xfrm>
            <a:off x="4773168" y="2724912"/>
            <a:ext cx="1783080" cy="32004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consumer_sentiment</a:t>
            </a:r>
            <a:endParaRPr lang="en-US" sz="1000" dirty="0"/>
          </a:p>
        </p:txBody>
      </p:sp>
      <p:sp>
        <p:nvSpPr>
          <p:cNvPr id="22" name="Text 20"/>
          <p:cNvSpPr/>
          <p:nvPr/>
        </p:nvSpPr>
        <p:spPr>
          <a:xfrm>
            <a:off x="6583680" y="2724912"/>
            <a:ext cx="201168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UoM Sentiment Index</a:t>
            </a:r>
            <a:endParaRPr lang="en-US" sz="1000" dirty="0"/>
          </a:p>
        </p:txBody>
      </p:sp>
      <p:sp>
        <p:nvSpPr>
          <p:cNvPr id="23" name="Shape 21"/>
          <p:cNvSpPr/>
          <p:nvPr/>
        </p:nvSpPr>
        <p:spPr>
          <a:xfrm>
            <a:off x="4663440" y="3163824"/>
            <a:ext cx="36576" cy="274320"/>
          </a:xfrm>
          <a:prstGeom prst="rect">
            <a:avLst/>
          </a:prstGeom>
          <a:solidFill>
            <a:srgbClr val="0D9488"/>
          </a:solidFill>
          <a:ln w="12700">
            <a:solidFill>
              <a:srgbClr val="0D9488"/>
            </a:solidFill>
            <a:prstDash val="solid"/>
          </a:ln>
        </p:spPr>
      </p:sp>
      <p:sp>
        <p:nvSpPr>
          <p:cNvPr id="24" name="Text 22"/>
          <p:cNvSpPr/>
          <p:nvPr/>
        </p:nvSpPr>
        <p:spPr>
          <a:xfrm>
            <a:off x="4773168" y="3145536"/>
            <a:ext cx="1783080" cy="32004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unemployment</a:t>
            </a:r>
            <a:endParaRPr lang="en-US" sz="1000" dirty="0"/>
          </a:p>
        </p:txBody>
      </p:sp>
      <p:sp>
        <p:nvSpPr>
          <p:cNvPr id="25" name="Text 23"/>
          <p:cNvSpPr/>
          <p:nvPr/>
        </p:nvSpPr>
        <p:spPr>
          <a:xfrm>
            <a:off x="6583680" y="3145536"/>
            <a:ext cx="201168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UNRATE</a:t>
            </a:r>
            <a:endParaRPr lang="en-US" sz="1000" dirty="0"/>
          </a:p>
        </p:txBody>
      </p:sp>
      <p:sp>
        <p:nvSpPr>
          <p:cNvPr id="26" name="Shape 24"/>
          <p:cNvSpPr/>
          <p:nvPr/>
        </p:nvSpPr>
        <p:spPr>
          <a:xfrm>
            <a:off x="4663440" y="3584448"/>
            <a:ext cx="36576" cy="274320"/>
          </a:xfrm>
          <a:prstGeom prst="rect">
            <a:avLst/>
          </a:prstGeom>
          <a:solidFill>
            <a:srgbClr val="0D9488"/>
          </a:solidFill>
          <a:ln w="12700">
            <a:solidFill>
              <a:srgbClr val="0D9488"/>
            </a:solidFill>
            <a:prstDash val="solid"/>
          </a:ln>
        </p:spPr>
      </p:sp>
      <p:sp>
        <p:nvSpPr>
          <p:cNvPr id="27" name="Text 25"/>
          <p:cNvSpPr/>
          <p:nvPr/>
        </p:nvSpPr>
        <p:spPr>
          <a:xfrm>
            <a:off x="4773168" y="3566160"/>
            <a:ext cx="1783080" cy="32004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total_vehicle_sales</a:t>
            </a:r>
            <a:endParaRPr lang="en-US" sz="1000" dirty="0"/>
          </a:p>
        </p:txBody>
      </p:sp>
      <p:sp>
        <p:nvSpPr>
          <p:cNvPr id="28" name="Text 26"/>
          <p:cNvSpPr/>
          <p:nvPr/>
        </p:nvSpPr>
        <p:spPr>
          <a:xfrm>
            <a:off x="6583680" y="3566160"/>
            <a:ext cx="201168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Market Volume</a:t>
            </a:r>
            <a:endParaRPr lang="en-US" sz="1000" dirty="0"/>
          </a:p>
        </p:txBody>
      </p:sp>
      <p:sp>
        <p:nvSpPr>
          <p:cNvPr id="29" name="Shape 27"/>
          <p:cNvSpPr/>
          <p:nvPr/>
        </p:nvSpPr>
        <p:spPr>
          <a:xfrm>
            <a:off x="4663440" y="4005072"/>
            <a:ext cx="36576" cy="274320"/>
          </a:xfrm>
          <a:prstGeom prst="rect">
            <a:avLst/>
          </a:prstGeom>
          <a:solidFill>
            <a:srgbClr val="0D9488"/>
          </a:solidFill>
          <a:ln w="12700">
            <a:solidFill>
              <a:srgbClr val="0D9488"/>
            </a:solidFill>
            <a:prstDash val="solid"/>
          </a:ln>
        </p:spPr>
      </p:sp>
      <p:sp>
        <p:nvSpPr>
          <p:cNvPr id="30" name="Text 28"/>
          <p:cNvSpPr/>
          <p:nvPr/>
        </p:nvSpPr>
        <p:spPr>
          <a:xfrm>
            <a:off x="4773168" y="3986784"/>
            <a:ext cx="1783080" cy="32004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recession</a:t>
            </a:r>
            <a:endParaRPr lang="en-US" sz="1000" dirty="0"/>
          </a:p>
        </p:txBody>
      </p:sp>
      <p:sp>
        <p:nvSpPr>
          <p:cNvPr id="31" name="Text 29"/>
          <p:cNvSpPr/>
          <p:nvPr/>
        </p:nvSpPr>
        <p:spPr>
          <a:xfrm>
            <a:off x="6583680" y="3986784"/>
            <a:ext cx="201168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NBER Recession Flag</a:t>
            </a:r>
            <a:endParaRPr lang="en-US" sz="1000" dirty="0"/>
          </a:p>
        </p:txBody>
      </p:sp>
      <p:sp>
        <p:nvSpPr>
          <p:cNvPr id="32" name="Shape 30"/>
          <p:cNvSpPr/>
          <p:nvPr/>
        </p:nvSpPr>
        <p:spPr>
          <a:xfrm>
            <a:off x="4663440" y="4425696"/>
            <a:ext cx="36576" cy="274320"/>
          </a:xfrm>
          <a:prstGeom prst="rect">
            <a:avLst/>
          </a:prstGeom>
          <a:solidFill>
            <a:srgbClr val="0D9488"/>
          </a:solidFill>
          <a:ln w="12700">
            <a:solidFill>
              <a:srgbClr val="0D9488"/>
            </a:solidFill>
            <a:prstDash val="solid"/>
          </a:ln>
        </p:spPr>
      </p:sp>
      <p:sp>
        <p:nvSpPr>
          <p:cNvPr id="33" name="Text 31"/>
          <p:cNvSpPr/>
          <p:nvPr/>
        </p:nvSpPr>
        <p:spPr>
          <a:xfrm>
            <a:off x="4773168" y="4407408"/>
            <a:ext cx="1783080" cy="32004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credit_spread</a:t>
            </a:r>
            <a:endParaRPr lang="en-US" sz="1000" dirty="0"/>
          </a:p>
        </p:txBody>
      </p:sp>
      <p:sp>
        <p:nvSpPr>
          <p:cNvPr id="34" name="Text 32"/>
          <p:cNvSpPr/>
          <p:nvPr/>
        </p:nvSpPr>
        <p:spPr>
          <a:xfrm>
            <a:off x="6583680" y="4407408"/>
            <a:ext cx="201168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High-Yield Spread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240"/>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3-Stage Ensemble Architecture</a:t>
            </a:r>
            <a:endParaRPr lang="en-US" sz="2800" dirty="0"/>
          </a:p>
        </p:txBody>
      </p:sp>
      <p:sp>
        <p:nvSpPr>
          <p:cNvPr id="3" name="Shape 1"/>
          <p:cNvSpPr/>
          <p:nvPr/>
        </p:nvSpPr>
        <p:spPr>
          <a:xfrm>
            <a:off x="320040" y="868680"/>
            <a:ext cx="2743200" cy="3931920"/>
          </a:xfrm>
          <a:prstGeom prst="rect">
            <a:avLst/>
          </a:prstGeom>
          <a:solidFill>
            <a:srgbClr val="162D4A"/>
          </a:solidFill>
          <a:ln w="12700">
            <a:solidFill>
              <a:srgbClr val="162D4A"/>
            </a:solidFill>
            <a:prstDash val="solid"/>
          </a:ln>
          <a:effectLst>
            <a:outerShdw sx="100000" sy="100000" kx="0" ky="0" algn="bl" rotWithShape="0" blurRad="152400" dist="50800" dir="8100000">
              <a:srgbClr val="000000">
                <a:alpha val="35000"/>
              </a:srgbClr>
            </a:outerShdw>
          </a:effectLst>
        </p:spPr>
      </p:sp>
      <p:sp>
        <p:nvSpPr>
          <p:cNvPr id="4" name="Shape 2"/>
          <p:cNvSpPr/>
          <p:nvPr/>
        </p:nvSpPr>
        <p:spPr>
          <a:xfrm>
            <a:off x="320040" y="868680"/>
            <a:ext cx="2743200" cy="73152"/>
          </a:xfrm>
          <a:prstGeom prst="rect">
            <a:avLst/>
          </a:prstGeom>
          <a:solidFill>
            <a:srgbClr val="0D9488"/>
          </a:solidFill>
          <a:ln w="12700">
            <a:solidFill>
              <a:srgbClr val="0D9488"/>
            </a:solidFill>
            <a:prstDash val="solid"/>
          </a:ln>
        </p:spPr>
      </p:sp>
      <p:sp>
        <p:nvSpPr>
          <p:cNvPr id="5" name="Shape 3"/>
          <p:cNvSpPr/>
          <p:nvPr/>
        </p:nvSpPr>
        <p:spPr>
          <a:xfrm>
            <a:off x="411480" y="1005840"/>
            <a:ext cx="475488" cy="475488"/>
          </a:xfrm>
          <a:prstGeom prst="ellipse">
            <a:avLst/>
          </a:prstGeom>
          <a:solidFill>
            <a:srgbClr val="0D9488"/>
          </a:solidFill>
          <a:ln w="12700">
            <a:solidFill>
              <a:srgbClr val="0D9488"/>
            </a:solidFill>
            <a:prstDash val="solid"/>
          </a:ln>
        </p:spPr>
      </p:sp>
      <p:sp>
        <p:nvSpPr>
          <p:cNvPr id="6" name="Text 4"/>
          <p:cNvSpPr/>
          <p:nvPr/>
        </p:nvSpPr>
        <p:spPr>
          <a:xfrm>
            <a:off x="411480" y="100584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978408" y="1033272"/>
            <a:ext cx="20116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Micro-Model</a:t>
            </a:r>
            <a:endParaRPr lang="en-US" sz="1400" dirty="0"/>
          </a:p>
        </p:txBody>
      </p:sp>
      <p:sp>
        <p:nvSpPr>
          <p:cNvPr id="8" name="Text 6"/>
          <p:cNvSpPr/>
          <p:nvPr/>
        </p:nvSpPr>
        <p:spPr>
          <a:xfrm>
            <a:off x="978408" y="1344168"/>
            <a:ext cx="2011680" cy="274320"/>
          </a:xfrm>
          <a:prstGeom prst="rect">
            <a:avLst/>
          </a:prstGeom>
          <a:noFill/>
          <a:ln/>
        </p:spPr>
        <p:txBody>
          <a:bodyPr wrap="square" lIns="0" tIns="0" rIns="0" bIns="0" rtlCol="0" anchor="ctr"/>
          <a:lstStyle/>
          <a:p>
            <a:pPr indent="0" marL="0">
              <a:buNone/>
            </a:pPr>
            <a:r>
              <a:rPr lang="en-US" sz="1000" i="1" dirty="0">
                <a:solidFill>
                  <a:srgbClr val="0D9488"/>
                </a:solidFill>
                <a:latin typeface="Calibri" pitchFamily="34" charset="0"/>
                <a:ea typeface="Calibri" pitchFamily="34" charset="-122"/>
                <a:cs typeface="Calibri" pitchFamily="34" charset="-120"/>
              </a:rPr>
              <a:t>XGBoost Regressor</a:t>
            </a:r>
            <a:endParaRPr lang="en-US" sz="1000" dirty="0"/>
          </a:p>
        </p:txBody>
      </p:sp>
      <p:sp>
        <p:nvSpPr>
          <p:cNvPr id="9" name="Text 7"/>
          <p:cNvSpPr/>
          <p:nvPr/>
        </p:nvSpPr>
        <p:spPr>
          <a:xfrm>
            <a:off x="457200" y="1783080"/>
            <a:ext cx="2468880" cy="274320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Learns vehicle physics:</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odometer, age, make, body,</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condition, transmission</a:t>
            </a:r>
            <a:endParaRPr lang="en-US" sz="1100" dirty="0"/>
          </a:p>
          <a:p>
            <a:pPr indent="0" marL="0">
              <a:buNone/>
            </a:pP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Output: Baseline Price</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(2015 USD)</a:t>
            </a:r>
            <a:endParaRPr lang="en-US" sz="1100" dirty="0"/>
          </a:p>
        </p:txBody>
      </p:sp>
      <p:sp>
        <p:nvSpPr>
          <p:cNvPr id="10" name="Shape 8"/>
          <p:cNvSpPr/>
          <p:nvPr/>
        </p:nvSpPr>
        <p:spPr>
          <a:xfrm>
            <a:off x="3090672" y="2880360"/>
            <a:ext cx="164592" cy="0"/>
          </a:xfrm>
          <a:prstGeom prst="line">
            <a:avLst/>
          </a:prstGeom>
          <a:noFill/>
          <a:ln w="25400">
            <a:solidFill>
              <a:srgbClr val="0D9488"/>
            </a:solidFill>
            <a:prstDash val="solid"/>
          </a:ln>
        </p:spPr>
      </p:sp>
      <p:sp>
        <p:nvSpPr>
          <p:cNvPr id="11" name="Text 9"/>
          <p:cNvSpPr/>
          <p:nvPr/>
        </p:nvSpPr>
        <p:spPr>
          <a:xfrm>
            <a:off x="3072384" y="2743200"/>
            <a:ext cx="201168" cy="274320"/>
          </a:xfrm>
          <a:prstGeom prst="rect">
            <a:avLst/>
          </a:prstGeom>
          <a:noFill/>
          <a:ln/>
        </p:spPr>
        <p:txBody>
          <a:bodyPr wrap="square" lIns="0" tIns="0" rIns="0" bIns="0" rtlCol="0" anchor="ctr"/>
          <a:lstStyle/>
          <a:p>
            <a:pPr algn="ctr" indent="0" marL="0">
              <a:buNone/>
            </a:pPr>
            <a:r>
              <a:rPr lang="en-US" sz="1600" b="1" dirty="0">
                <a:solidFill>
                  <a:srgbClr val="0D9488"/>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3264408" y="868680"/>
            <a:ext cx="2743200" cy="3931920"/>
          </a:xfrm>
          <a:prstGeom prst="rect">
            <a:avLst/>
          </a:prstGeom>
          <a:solidFill>
            <a:srgbClr val="162D4A"/>
          </a:solidFill>
          <a:ln w="12700">
            <a:solidFill>
              <a:srgbClr val="162D4A"/>
            </a:solidFill>
            <a:prstDash val="solid"/>
          </a:ln>
          <a:effectLst>
            <a:outerShdw sx="100000" sy="100000" kx="0" ky="0" algn="bl" rotWithShape="0" blurRad="152400" dist="50800" dir="8100000">
              <a:srgbClr val="000000">
                <a:alpha val="35000"/>
              </a:srgbClr>
            </a:outerShdw>
          </a:effectLst>
        </p:spPr>
      </p:sp>
      <p:sp>
        <p:nvSpPr>
          <p:cNvPr id="13" name="Shape 11"/>
          <p:cNvSpPr/>
          <p:nvPr/>
        </p:nvSpPr>
        <p:spPr>
          <a:xfrm>
            <a:off x="3264408" y="868680"/>
            <a:ext cx="2743200" cy="73152"/>
          </a:xfrm>
          <a:prstGeom prst="rect">
            <a:avLst/>
          </a:prstGeom>
          <a:solidFill>
            <a:srgbClr val="0891B2"/>
          </a:solidFill>
          <a:ln w="12700">
            <a:solidFill>
              <a:srgbClr val="0891B2"/>
            </a:solidFill>
            <a:prstDash val="solid"/>
          </a:ln>
        </p:spPr>
      </p:sp>
      <p:sp>
        <p:nvSpPr>
          <p:cNvPr id="14" name="Shape 12"/>
          <p:cNvSpPr/>
          <p:nvPr/>
        </p:nvSpPr>
        <p:spPr>
          <a:xfrm>
            <a:off x="3355848" y="1005840"/>
            <a:ext cx="475488" cy="475488"/>
          </a:xfrm>
          <a:prstGeom prst="ellipse">
            <a:avLst/>
          </a:prstGeom>
          <a:solidFill>
            <a:srgbClr val="0891B2"/>
          </a:solidFill>
          <a:ln w="12700">
            <a:solidFill>
              <a:srgbClr val="0891B2"/>
            </a:solidFill>
            <a:prstDash val="solid"/>
          </a:ln>
        </p:spPr>
      </p:sp>
      <p:sp>
        <p:nvSpPr>
          <p:cNvPr id="15" name="Text 13"/>
          <p:cNvSpPr/>
          <p:nvPr/>
        </p:nvSpPr>
        <p:spPr>
          <a:xfrm>
            <a:off x="3355848" y="100584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3922776" y="1033272"/>
            <a:ext cx="20116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Macro-Model</a:t>
            </a:r>
            <a:endParaRPr lang="en-US" sz="1400" dirty="0"/>
          </a:p>
        </p:txBody>
      </p:sp>
      <p:sp>
        <p:nvSpPr>
          <p:cNvPr id="17" name="Text 15"/>
          <p:cNvSpPr/>
          <p:nvPr/>
        </p:nvSpPr>
        <p:spPr>
          <a:xfrm>
            <a:off x="3922776" y="1344168"/>
            <a:ext cx="2011680" cy="274320"/>
          </a:xfrm>
          <a:prstGeom prst="rect">
            <a:avLst/>
          </a:prstGeom>
          <a:noFill/>
          <a:ln/>
        </p:spPr>
        <p:txBody>
          <a:bodyPr wrap="square" lIns="0" tIns="0" rIns="0" bIns="0" rtlCol="0" anchor="ctr"/>
          <a:lstStyle/>
          <a:p>
            <a:pPr indent="0" marL="0">
              <a:buNone/>
            </a:pPr>
            <a:r>
              <a:rPr lang="en-US" sz="1000" i="1" dirty="0">
                <a:solidFill>
                  <a:srgbClr val="0891B2"/>
                </a:solidFill>
                <a:latin typeface="Calibri" pitchFamily="34" charset="0"/>
                <a:ea typeface="Calibri" pitchFamily="34" charset="-122"/>
                <a:cs typeface="Calibri" pitchFamily="34" charset="-120"/>
              </a:rPr>
              <a:t>Expert System / Heuristic</a:t>
            </a:r>
            <a:endParaRPr lang="en-US" sz="1000" dirty="0"/>
          </a:p>
        </p:txBody>
      </p:sp>
      <p:sp>
        <p:nvSpPr>
          <p:cNvPr id="18" name="Text 16"/>
          <p:cNvSpPr/>
          <p:nvPr/>
        </p:nvSpPr>
        <p:spPr>
          <a:xfrm>
            <a:off x="3401568" y="1783080"/>
            <a:ext cx="2468880" cy="274320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Applies market multiplier:</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CPI Used Cars (MUVVI-Proxy),</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FedFunds Rate, recession flag</a:t>
            </a:r>
            <a:endParaRPr lang="en-US" sz="1100" dirty="0"/>
          </a:p>
          <a:p>
            <a:pPr indent="0" marL="0">
              <a:buNone/>
            </a:pP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Output: Market Multiplier</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(e.g. 1.20×)</a:t>
            </a:r>
            <a:endParaRPr lang="en-US" sz="1100" dirty="0"/>
          </a:p>
        </p:txBody>
      </p:sp>
      <p:sp>
        <p:nvSpPr>
          <p:cNvPr id="19" name="Shape 17"/>
          <p:cNvSpPr/>
          <p:nvPr/>
        </p:nvSpPr>
        <p:spPr>
          <a:xfrm>
            <a:off x="6035040" y="2880360"/>
            <a:ext cx="164592" cy="0"/>
          </a:xfrm>
          <a:prstGeom prst="line">
            <a:avLst/>
          </a:prstGeom>
          <a:noFill/>
          <a:ln w="25400">
            <a:solidFill>
              <a:srgbClr val="0D9488"/>
            </a:solidFill>
            <a:prstDash val="solid"/>
          </a:ln>
        </p:spPr>
      </p:sp>
      <p:sp>
        <p:nvSpPr>
          <p:cNvPr id="20" name="Text 18"/>
          <p:cNvSpPr/>
          <p:nvPr/>
        </p:nvSpPr>
        <p:spPr>
          <a:xfrm>
            <a:off x="6016752" y="2743200"/>
            <a:ext cx="201168" cy="274320"/>
          </a:xfrm>
          <a:prstGeom prst="rect">
            <a:avLst/>
          </a:prstGeom>
          <a:noFill/>
          <a:ln/>
        </p:spPr>
        <p:txBody>
          <a:bodyPr wrap="square" lIns="0" tIns="0" rIns="0" bIns="0" rtlCol="0" anchor="ctr"/>
          <a:lstStyle/>
          <a:p>
            <a:pPr algn="ctr" indent="0" marL="0">
              <a:buNone/>
            </a:pPr>
            <a:r>
              <a:rPr lang="en-US" sz="1600" b="1" dirty="0">
                <a:solidFill>
                  <a:srgbClr val="0D9488"/>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6208776" y="868680"/>
            <a:ext cx="2743200" cy="3931920"/>
          </a:xfrm>
          <a:prstGeom prst="rect">
            <a:avLst/>
          </a:prstGeom>
          <a:solidFill>
            <a:srgbClr val="162D4A"/>
          </a:solidFill>
          <a:ln w="12700">
            <a:solidFill>
              <a:srgbClr val="162D4A"/>
            </a:solidFill>
            <a:prstDash val="solid"/>
          </a:ln>
          <a:effectLst>
            <a:outerShdw sx="100000" sy="100000" kx="0" ky="0" algn="bl" rotWithShape="0" blurRad="152400" dist="50800" dir="8100000">
              <a:srgbClr val="000000">
                <a:alpha val="35000"/>
              </a:srgbClr>
            </a:outerShdw>
          </a:effectLst>
        </p:spPr>
      </p:sp>
      <p:sp>
        <p:nvSpPr>
          <p:cNvPr id="22" name="Shape 20"/>
          <p:cNvSpPr/>
          <p:nvPr/>
        </p:nvSpPr>
        <p:spPr>
          <a:xfrm>
            <a:off x="6208776" y="868680"/>
            <a:ext cx="2743200" cy="73152"/>
          </a:xfrm>
          <a:prstGeom prst="rect">
            <a:avLst/>
          </a:prstGeom>
          <a:solidFill>
            <a:srgbClr val="7C3AED"/>
          </a:solidFill>
          <a:ln w="12700">
            <a:solidFill>
              <a:srgbClr val="7C3AED"/>
            </a:solidFill>
            <a:prstDash val="solid"/>
          </a:ln>
        </p:spPr>
      </p:sp>
      <p:sp>
        <p:nvSpPr>
          <p:cNvPr id="23" name="Shape 21"/>
          <p:cNvSpPr/>
          <p:nvPr/>
        </p:nvSpPr>
        <p:spPr>
          <a:xfrm>
            <a:off x="6300216" y="1005840"/>
            <a:ext cx="475488" cy="475488"/>
          </a:xfrm>
          <a:prstGeom prst="ellipse">
            <a:avLst/>
          </a:prstGeom>
          <a:solidFill>
            <a:srgbClr val="7C3AED"/>
          </a:solidFill>
          <a:ln w="12700">
            <a:solidFill>
              <a:srgbClr val="7C3AED"/>
            </a:solidFill>
            <a:prstDash val="solid"/>
          </a:ln>
        </p:spPr>
      </p:sp>
      <p:sp>
        <p:nvSpPr>
          <p:cNvPr id="24" name="Text 22"/>
          <p:cNvSpPr/>
          <p:nvPr/>
        </p:nvSpPr>
        <p:spPr>
          <a:xfrm>
            <a:off x="6300216" y="100584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Text 23"/>
          <p:cNvSpPr/>
          <p:nvPr/>
        </p:nvSpPr>
        <p:spPr>
          <a:xfrm>
            <a:off x="6867144" y="1033272"/>
            <a:ext cx="20116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Strategy-Model</a:t>
            </a:r>
            <a:endParaRPr lang="en-US" sz="1400" dirty="0"/>
          </a:p>
        </p:txBody>
      </p:sp>
      <p:sp>
        <p:nvSpPr>
          <p:cNvPr id="26" name="Text 24"/>
          <p:cNvSpPr/>
          <p:nvPr/>
        </p:nvSpPr>
        <p:spPr>
          <a:xfrm>
            <a:off x="6867144" y="1344168"/>
            <a:ext cx="2011680" cy="274320"/>
          </a:xfrm>
          <a:prstGeom prst="rect">
            <a:avLst/>
          </a:prstGeom>
          <a:noFill/>
          <a:ln/>
        </p:spPr>
        <p:txBody>
          <a:bodyPr wrap="square" lIns="0" tIns="0" rIns="0" bIns="0" rtlCol="0" anchor="ctr"/>
          <a:lstStyle/>
          <a:p>
            <a:pPr indent="0" marL="0">
              <a:buNone/>
            </a:pPr>
            <a:r>
              <a:rPr lang="en-US" sz="1000" i="1" dirty="0">
                <a:solidFill>
                  <a:srgbClr val="7C3AED"/>
                </a:solidFill>
                <a:latin typeface="Calibri" pitchFamily="34" charset="0"/>
                <a:ea typeface="Calibri" pitchFamily="34" charset="-122"/>
                <a:cs typeface="Calibri" pitchFamily="34" charset="-120"/>
              </a:rPr>
              <a:t>Rule-Based Seasonality</a:t>
            </a:r>
            <a:endParaRPr lang="en-US" sz="1000" dirty="0"/>
          </a:p>
        </p:txBody>
      </p:sp>
      <p:sp>
        <p:nvSpPr>
          <p:cNvPr id="27" name="Text 25"/>
          <p:cNvSpPr/>
          <p:nvPr/>
        </p:nvSpPr>
        <p:spPr>
          <a:xfrm>
            <a:off x="6345936" y="1783080"/>
            <a:ext cx="2468880" cy="274320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Body-type demand psychology:</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Convertibles: summer peaks</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SUVs: autumn prep</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Budget sedans: Spring Bounce</a:t>
            </a:r>
            <a:endParaRPr lang="en-US" sz="1100" dirty="0"/>
          </a:p>
          <a:p>
            <a:pPr indent="0" marL="0">
              <a:buNone/>
            </a:pP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Output: Seasonal Factor</a:t>
            </a:r>
            <a:endParaRPr lang="en-US" sz="1100" dirty="0"/>
          </a:p>
        </p:txBody>
      </p:sp>
      <p:sp>
        <p:nvSpPr>
          <p:cNvPr id="28" name="Shape 26"/>
          <p:cNvSpPr/>
          <p:nvPr/>
        </p:nvSpPr>
        <p:spPr>
          <a:xfrm>
            <a:off x="320040" y="4663440"/>
            <a:ext cx="8503920" cy="320040"/>
          </a:xfrm>
          <a:prstGeom prst="rect">
            <a:avLst/>
          </a:prstGeom>
          <a:solidFill>
            <a:srgbClr val="0D1F35"/>
          </a:solidFill>
          <a:ln w="12700">
            <a:solidFill>
              <a:srgbClr val="0D1F35"/>
            </a:solidFill>
            <a:prstDash val="solid"/>
          </a:ln>
        </p:spPr>
      </p:sp>
      <p:sp>
        <p:nvSpPr>
          <p:cNvPr id="29" name="Text 27"/>
          <p:cNvSpPr/>
          <p:nvPr/>
        </p:nvSpPr>
        <p:spPr>
          <a:xfrm>
            <a:off x="457200" y="4681728"/>
            <a:ext cx="8229600" cy="274320"/>
          </a:xfrm>
          <a:prstGeom prst="rect">
            <a:avLst/>
          </a:prstGeom>
          <a:noFill/>
          <a:ln/>
        </p:spPr>
        <p:txBody>
          <a:bodyPr wrap="square" lIns="0" tIns="0" rIns="0" bIns="0" rtlCol="0" anchor="ctr"/>
          <a:lstStyle/>
          <a:p>
            <a:pPr algn="ctr" indent="0" marL="0">
              <a:buNone/>
            </a:pPr>
            <a:r>
              <a:rPr lang="en-US" sz="1100" b="1" dirty="0">
                <a:solidFill>
                  <a:srgbClr val="14B8A6"/>
                </a:solidFill>
                <a:latin typeface="Calibri" pitchFamily="34" charset="0"/>
                <a:ea typeface="Calibri" pitchFamily="34" charset="-122"/>
                <a:cs typeface="Calibri" pitchFamily="34" charset="-120"/>
              </a:rPr>
              <a:t>Live Price  =  Baseline (Stage 1)  ×  Market Multiplier (Stage 2)  ×  Seasonal Factor (Stage 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3000" b="1" dirty="0">
                <a:solidFill>
                  <a:srgbClr val="0F2240"/>
                </a:solidFill>
                <a:latin typeface="Calibri" pitchFamily="34" charset="0"/>
                <a:ea typeface="Calibri" pitchFamily="34" charset="-122"/>
                <a:cs typeface="Calibri" pitchFamily="34" charset="-120"/>
              </a:rPr>
              <a:t>Stage 1: XGBoost Results</a:t>
            </a:r>
            <a:endParaRPr lang="en-US" sz="3000" dirty="0"/>
          </a:p>
        </p:txBody>
      </p:sp>
      <p:sp>
        <p:nvSpPr>
          <p:cNvPr id="3" name="Shape 1"/>
          <p:cNvSpPr/>
          <p:nvPr/>
        </p:nvSpPr>
        <p:spPr>
          <a:xfrm>
            <a:off x="365760" y="960120"/>
            <a:ext cx="1965960" cy="118872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10000"/>
              </a:srgbClr>
            </a:outerShdw>
          </a:effectLst>
        </p:spPr>
      </p:sp>
      <p:sp>
        <p:nvSpPr>
          <p:cNvPr id="4" name="Text 2"/>
          <p:cNvSpPr/>
          <p:nvPr/>
        </p:nvSpPr>
        <p:spPr>
          <a:xfrm>
            <a:off x="457200" y="1051560"/>
            <a:ext cx="1783080" cy="548640"/>
          </a:xfrm>
          <a:prstGeom prst="rect">
            <a:avLst/>
          </a:prstGeom>
          <a:noFill/>
          <a:ln/>
        </p:spPr>
        <p:txBody>
          <a:bodyPr wrap="square" lIns="0" tIns="0" rIns="0" bIns="0" rtlCol="0" anchor="ctr"/>
          <a:lstStyle/>
          <a:p>
            <a:pPr algn="ctr" indent="0" marL="0">
              <a:buNone/>
            </a:pPr>
            <a:r>
              <a:rPr lang="en-US" sz="2600" b="1" dirty="0">
                <a:solidFill>
                  <a:srgbClr val="0D9488"/>
                </a:solidFill>
                <a:latin typeface="Calibri" pitchFamily="34" charset="0"/>
                <a:ea typeface="Calibri" pitchFamily="34" charset="-122"/>
                <a:cs typeface="Calibri" pitchFamily="34" charset="-120"/>
              </a:rPr>
              <a:t>$2,451</a:t>
            </a:r>
            <a:endParaRPr lang="en-US" sz="2600" dirty="0"/>
          </a:p>
        </p:txBody>
      </p:sp>
      <p:sp>
        <p:nvSpPr>
          <p:cNvPr id="5" name="Text 3"/>
          <p:cNvSpPr/>
          <p:nvPr/>
        </p:nvSpPr>
        <p:spPr>
          <a:xfrm>
            <a:off x="457200" y="1572768"/>
            <a:ext cx="1783080" cy="228600"/>
          </a:xfrm>
          <a:prstGeom prst="rect">
            <a:avLst/>
          </a:prstGeom>
          <a:noFill/>
          <a:ln/>
        </p:spPr>
        <p:txBody>
          <a:bodyPr wrap="square" lIns="0" tIns="0" rIns="0" bIns="0" rtlCol="0" anchor="ctr"/>
          <a:lstStyle/>
          <a:p>
            <a:pPr algn="ctr" indent="0" marL="0">
              <a:buNone/>
            </a:pPr>
            <a:r>
              <a:rPr lang="en-US" sz="1000" b="1" dirty="0">
                <a:solidFill>
                  <a:srgbClr val="0F2240"/>
                </a:solidFill>
                <a:latin typeface="Calibri" pitchFamily="34" charset="0"/>
                <a:ea typeface="Calibri" pitchFamily="34" charset="-122"/>
                <a:cs typeface="Calibri" pitchFamily="34" charset="-120"/>
              </a:rPr>
              <a:t>MAE</a:t>
            </a:r>
            <a:endParaRPr lang="en-US" sz="1000" dirty="0"/>
          </a:p>
        </p:txBody>
      </p:sp>
      <p:sp>
        <p:nvSpPr>
          <p:cNvPr id="6" name="Text 4"/>
          <p:cNvSpPr/>
          <p:nvPr/>
        </p:nvSpPr>
        <p:spPr>
          <a:xfrm>
            <a:off x="457200" y="1801368"/>
            <a:ext cx="1783080" cy="22860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17.6% of avg. price</a:t>
            </a:r>
            <a:endParaRPr lang="en-US" sz="900" dirty="0"/>
          </a:p>
        </p:txBody>
      </p:sp>
      <p:sp>
        <p:nvSpPr>
          <p:cNvPr id="7" name="Shape 5"/>
          <p:cNvSpPr/>
          <p:nvPr/>
        </p:nvSpPr>
        <p:spPr>
          <a:xfrm>
            <a:off x="2542032" y="960120"/>
            <a:ext cx="1965960" cy="118872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10000"/>
              </a:srgbClr>
            </a:outerShdw>
          </a:effectLst>
        </p:spPr>
      </p:sp>
      <p:sp>
        <p:nvSpPr>
          <p:cNvPr id="8" name="Text 6"/>
          <p:cNvSpPr/>
          <p:nvPr/>
        </p:nvSpPr>
        <p:spPr>
          <a:xfrm>
            <a:off x="2633472" y="1051560"/>
            <a:ext cx="1783080" cy="548640"/>
          </a:xfrm>
          <a:prstGeom prst="rect">
            <a:avLst/>
          </a:prstGeom>
          <a:noFill/>
          <a:ln/>
        </p:spPr>
        <p:txBody>
          <a:bodyPr wrap="square" lIns="0" tIns="0" rIns="0" bIns="0" rtlCol="0" anchor="ctr"/>
          <a:lstStyle/>
          <a:p>
            <a:pPr algn="ctr" indent="0" marL="0">
              <a:buNone/>
            </a:pPr>
            <a:r>
              <a:rPr lang="en-US" sz="2600" b="1" dirty="0">
                <a:solidFill>
                  <a:srgbClr val="0D9488"/>
                </a:solidFill>
                <a:latin typeface="Calibri" pitchFamily="34" charset="0"/>
                <a:ea typeface="Calibri" pitchFamily="34" charset="-122"/>
                <a:cs typeface="Calibri" pitchFamily="34" charset="-120"/>
              </a:rPr>
              <a:t>$3,951</a:t>
            </a:r>
            <a:endParaRPr lang="en-US" sz="2600" dirty="0"/>
          </a:p>
        </p:txBody>
      </p:sp>
      <p:sp>
        <p:nvSpPr>
          <p:cNvPr id="9" name="Text 7"/>
          <p:cNvSpPr/>
          <p:nvPr/>
        </p:nvSpPr>
        <p:spPr>
          <a:xfrm>
            <a:off x="2633472" y="1572768"/>
            <a:ext cx="1783080" cy="228600"/>
          </a:xfrm>
          <a:prstGeom prst="rect">
            <a:avLst/>
          </a:prstGeom>
          <a:noFill/>
          <a:ln/>
        </p:spPr>
        <p:txBody>
          <a:bodyPr wrap="square" lIns="0" tIns="0" rIns="0" bIns="0" rtlCol="0" anchor="ctr"/>
          <a:lstStyle/>
          <a:p>
            <a:pPr algn="ctr" indent="0" marL="0">
              <a:buNone/>
            </a:pPr>
            <a:r>
              <a:rPr lang="en-US" sz="1000" b="1" dirty="0">
                <a:solidFill>
                  <a:srgbClr val="0F2240"/>
                </a:solidFill>
                <a:latin typeface="Calibri" pitchFamily="34" charset="0"/>
                <a:ea typeface="Calibri" pitchFamily="34" charset="-122"/>
                <a:cs typeface="Calibri" pitchFamily="34" charset="-120"/>
              </a:rPr>
              <a:t>RMSE</a:t>
            </a:r>
            <a:endParaRPr lang="en-US" sz="1000" dirty="0"/>
          </a:p>
        </p:txBody>
      </p:sp>
      <p:sp>
        <p:nvSpPr>
          <p:cNvPr id="10" name="Text 8"/>
          <p:cNvSpPr/>
          <p:nvPr/>
        </p:nvSpPr>
        <p:spPr>
          <a:xfrm>
            <a:off x="2633472" y="1801368"/>
            <a:ext cx="1783080" cy="22860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Root mean sq. error</a:t>
            </a:r>
            <a:endParaRPr lang="en-US" sz="900" dirty="0"/>
          </a:p>
        </p:txBody>
      </p:sp>
      <p:sp>
        <p:nvSpPr>
          <p:cNvPr id="11" name="Shape 9"/>
          <p:cNvSpPr/>
          <p:nvPr/>
        </p:nvSpPr>
        <p:spPr>
          <a:xfrm>
            <a:off x="4718304" y="960120"/>
            <a:ext cx="1965960" cy="118872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10000"/>
              </a:srgbClr>
            </a:outerShdw>
          </a:effectLst>
        </p:spPr>
      </p:sp>
      <p:sp>
        <p:nvSpPr>
          <p:cNvPr id="12" name="Text 10"/>
          <p:cNvSpPr/>
          <p:nvPr/>
        </p:nvSpPr>
        <p:spPr>
          <a:xfrm>
            <a:off x="4809744" y="1051560"/>
            <a:ext cx="1783080" cy="548640"/>
          </a:xfrm>
          <a:prstGeom prst="rect">
            <a:avLst/>
          </a:prstGeom>
          <a:noFill/>
          <a:ln/>
        </p:spPr>
        <p:txBody>
          <a:bodyPr wrap="square" lIns="0" tIns="0" rIns="0" bIns="0" rtlCol="0" anchor="ctr"/>
          <a:lstStyle/>
          <a:p>
            <a:pPr algn="ctr" indent="0" marL="0">
              <a:buNone/>
            </a:pPr>
            <a:r>
              <a:rPr lang="en-US" sz="2600" b="1" dirty="0">
                <a:solidFill>
                  <a:srgbClr val="0D9488"/>
                </a:solidFill>
                <a:latin typeface="Calibri" pitchFamily="34" charset="0"/>
                <a:ea typeface="Calibri" pitchFamily="34" charset="-122"/>
                <a:cs typeface="Calibri" pitchFamily="34" charset="-120"/>
              </a:rPr>
              <a:t>$13,947</a:t>
            </a:r>
            <a:endParaRPr lang="en-US" sz="2600" dirty="0"/>
          </a:p>
        </p:txBody>
      </p:sp>
      <p:sp>
        <p:nvSpPr>
          <p:cNvPr id="13" name="Text 11"/>
          <p:cNvSpPr/>
          <p:nvPr/>
        </p:nvSpPr>
        <p:spPr>
          <a:xfrm>
            <a:off x="4809744" y="1572768"/>
            <a:ext cx="1783080" cy="228600"/>
          </a:xfrm>
          <a:prstGeom prst="rect">
            <a:avLst/>
          </a:prstGeom>
          <a:noFill/>
          <a:ln/>
        </p:spPr>
        <p:txBody>
          <a:bodyPr wrap="square" lIns="0" tIns="0" rIns="0" bIns="0" rtlCol="0" anchor="ctr"/>
          <a:lstStyle/>
          <a:p>
            <a:pPr algn="ctr" indent="0" marL="0">
              <a:buNone/>
            </a:pPr>
            <a:r>
              <a:rPr lang="en-US" sz="1000" b="1" dirty="0">
                <a:solidFill>
                  <a:srgbClr val="0F2240"/>
                </a:solidFill>
                <a:latin typeface="Calibri" pitchFamily="34" charset="0"/>
                <a:ea typeface="Calibri" pitchFamily="34" charset="-122"/>
                <a:cs typeface="Calibri" pitchFamily="34" charset="-120"/>
              </a:rPr>
              <a:t>Avg. Price</a:t>
            </a:r>
            <a:endParaRPr lang="en-US" sz="1000" dirty="0"/>
          </a:p>
        </p:txBody>
      </p:sp>
      <p:sp>
        <p:nvSpPr>
          <p:cNvPr id="14" name="Text 12"/>
          <p:cNvSpPr/>
          <p:nvPr/>
        </p:nvSpPr>
        <p:spPr>
          <a:xfrm>
            <a:off x="4809744" y="1801368"/>
            <a:ext cx="1783080" cy="22860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Test set baseline</a:t>
            </a:r>
            <a:endParaRPr lang="en-US" sz="900" dirty="0"/>
          </a:p>
        </p:txBody>
      </p:sp>
      <p:sp>
        <p:nvSpPr>
          <p:cNvPr id="15" name="Shape 13"/>
          <p:cNvSpPr/>
          <p:nvPr/>
        </p:nvSpPr>
        <p:spPr>
          <a:xfrm>
            <a:off x="6894576" y="960120"/>
            <a:ext cx="1965960" cy="118872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10000"/>
              </a:srgbClr>
            </a:outerShdw>
          </a:effectLst>
        </p:spPr>
      </p:sp>
      <p:sp>
        <p:nvSpPr>
          <p:cNvPr id="16" name="Text 14"/>
          <p:cNvSpPr/>
          <p:nvPr/>
        </p:nvSpPr>
        <p:spPr>
          <a:xfrm>
            <a:off x="6986016" y="1051560"/>
            <a:ext cx="1783080" cy="548640"/>
          </a:xfrm>
          <a:prstGeom prst="rect">
            <a:avLst/>
          </a:prstGeom>
          <a:noFill/>
          <a:ln/>
        </p:spPr>
        <p:txBody>
          <a:bodyPr wrap="square" lIns="0" tIns="0" rIns="0" bIns="0" rtlCol="0" anchor="ctr"/>
          <a:lstStyle/>
          <a:p>
            <a:pPr algn="ctr" indent="0" marL="0">
              <a:buNone/>
            </a:pPr>
            <a:r>
              <a:rPr lang="en-US" sz="2600" b="1" dirty="0">
                <a:solidFill>
                  <a:srgbClr val="0D9488"/>
                </a:solidFill>
                <a:latin typeface="Calibri" pitchFamily="34" charset="0"/>
                <a:ea typeface="Calibri" pitchFamily="34" charset="-122"/>
                <a:cs typeface="Calibri" pitchFamily="34" charset="-120"/>
              </a:rPr>
              <a:t>423,910</a:t>
            </a:r>
            <a:endParaRPr lang="en-US" sz="2600" dirty="0"/>
          </a:p>
        </p:txBody>
      </p:sp>
      <p:sp>
        <p:nvSpPr>
          <p:cNvPr id="17" name="Text 15"/>
          <p:cNvSpPr/>
          <p:nvPr/>
        </p:nvSpPr>
        <p:spPr>
          <a:xfrm>
            <a:off x="6986016" y="1572768"/>
            <a:ext cx="1783080" cy="228600"/>
          </a:xfrm>
          <a:prstGeom prst="rect">
            <a:avLst/>
          </a:prstGeom>
          <a:noFill/>
          <a:ln/>
        </p:spPr>
        <p:txBody>
          <a:bodyPr wrap="square" lIns="0" tIns="0" rIns="0" bIns="0" rtlCol="0" anchor="ctr"/>
          <a:lstStyle/>
          <a:p>
            <a:pPr algn="ctr" indent="0" marL="0">
              <a:buNone/>
            </a:pPr>
            <a:r>
              <a:rPr lang="en-US" sz="1000" b="1" dirty="0">
                <a:solidFill>
                  <a:srgbClr val="0F2240"/>
                </a:solidFill>
                <a:latin typeface="Calibri" pitchFamily="34" charset="0"/>
                <a:ea typeface="Calibri" pitchFamily="34" charset="-122"/>
                <a:cs typeface="Calibri" pitchFamily="34" charset="-120"/>
              </a:rPr>
              <a:t>Training rows</a:t>
            </a:r>
            <a:endParaRPr lang="en-US" sz="1000" dirty="0"/>
          </a:p>
        </p:txBody>
      </p:sp>
      <p:sp>
        <p:nvSpPr>
          <p:cNvPr id="18" name="Text 16"/>
          <p:cNvSpPr/>
          <p:nvPr/>
        </p:nvSpPr>
        <p:spPr>
          <a:xfrm>
            <a:off x="6986016" y="1801368"/>
            <a:ext cx="1783080" cy="22860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80% of 558k dataset</a:t>
            </a:r>
            <a:endParaRPr lang="en-US" sz="900" dirty="0"/>
          </a:p>
        </p:txBody>
      </p:sp>
      <p:sp>
        <p:nvSpPr>
          <p:cNvPr id="19" name="Text 17"/>
          <p:cNvSpPr/>
          <p:nvPr/>
        </p:nvSpPr>
        <p:spPr>
          <a:xfrm>
            <a:off x="457200" y="2331720"/>
            <a:ext cx="4114800" cy="320040"/>
          </a:xfrm>
          <a:prstGeom prst="rect">
            <a:avLst/>
          </a:prstGeom>
          <a:noFill/>
          <a:ln/>
        </p:spPr>
        <p:txBody>
          <a:bodyPr wrap="square" lIns="0" tIns="0" rIns="0" bIns="0" rtlCol="0" anchor="ctr"/>
          <a:lstStyle/>
          <a:p>
            <a:pPr indent="0" marL="0">
              <a:buNone/>
            </a:pPr>
            <a:r>
              <a:rPr lang="en-US" sz="1400" b="1" dirty="0">
                <a:solidFill>
                  <a:srgbClr val="0F2240"/>
                </a:solidFill>
                <a:latin typeface="Calibri" pitchFamily="34" charset="0"/>
                <a:ea typeface="Calibri" pitchFamily="34" charset="-122"/>
                <a:cs typeface="Calibri" pitchFamily="34" charset="-120"/>
              </a:rPr>
              <a:t>Feature Importance</a:t>
            </a:r>
            <a:endParaRPr lang="en-US" sz="1400" dirty="0"/>
          </a:p>
        </p:txBody>
      </p:sp>
      <p:graphicFrame>
        <p:nvGraphicFramePr>
          <p:cNvPr id="20" name="Chart 0" descr=""/>
          <p:cNvGraphicFramePr/>
          <p:nvPr/>
        </p:nvGraphicFramePr>
        <p:xfrm>
          <a:off x="365760" y="2697480"/>
          <a:ext cx="4754880" cy="2240280"/>
        </p:xfrm>
        <a:graphic xmlns:a="http://schemas.openxmlformats.org/drawingml/2006/main">
          <a:graphicData uri="http://schemas.openxmlformats.org/drawingml/2006/chart">
            <c:chart xmlns:c="http://schemas.openxmlformats.org/drawingml/2006/chart" r:id="rId1"/>
          </a:graphicData>
        </a:graphic>
      </p:graphicFrame>
      <p:sp>
        <p:nvSpPr>
          <p:cNvPr id="21" name="Shape 18"/>
          <p:cNvSpPr/>
          <p:nvPr/>
        </p:nvSpPr>
        <p:spPr>
          <a:xfrm>
            <a:off x="5394960" y="2331720"/>
            <a:ext cx="3383280" cy="2606040"/>
          </a:xfrm>
          <a:prstGeom prst="rect">
            <a:avLst/>
          </a:prstGeom>
          <a:solidFill>
            <a:srgbClr val="EFF6FF"/>
          </a:solidFill>
          <a:ln w="12700">
            <a:solidFill>
              <a:srgbClr val="BFDBFE"/>
            </a:solidFill>
            <a:prstDash val="solid"/>
          </a:ln>
        </p:spPr>
      </p:sp>
      <p:sp>
        <p:nvSpPr>
          <p:cNvPr id="22" name="Text 19"/>
          <p:cNvSpPr/>
          <p:nvPr/>
        </p:nvSpPr>
        <p:spPr>
          <a:xfrm>
            <a:off x="5532120" y="2450592"/>
            <a:ext cx="3108960" cy="320040"/>
          </a:xfrm>
          <a:prstGeom prst="rect">
            <a:avLst/>
          </a:prstGeom>
          <a:noFill/>
          <a:ln/>
        </p:spPr>
        <p:txBody>
          <a:bodyPr wrap="square" lIns="0" tIns="0" rIns="0" bIns="0" rtlCol="0" anchor="ctr"/>
          <a:lstStyle/>
          <a:p>
            <a:pPr indent="0" marL="0">
              <a:buNone/>
            </a:pPr>
            <a:r>
              <a:rPr lang="en-US" sz="1200" b="1" dirty="0">
                <a:solidFill>
                  <a:srgbClr val="0F2240"/>
                </a:solidFill>
                <a:latin typeface="Calibri" pitchFamily="34" charset="0"/>
                <a:ea typeface="Calibri" pitchFamily="34" charset="-122"/>
                <a:cs typeface="Calibri" pitchFamily="34" charset="-120"/>
              </a:rPr>
              <a:t>Key Design Decisions</a:t>
            </a:r>
            <a:endParaRPr lang="en-US" sz="1200" dirty="0"/>
          </a:p>
        </p:txBody>
      </p:sp>
      <p:sp>
        <p:nvSpPr>
          <p:cNvPr id="23" name="Text 20"/>
          <p:cNvSpPr/>
          <p:nvPr/>
        </p:nvSpPr>
        <p:spPr>
          <a:xfrm>
            <a:off x="5532120" y="2862072"/>
            <a:ext cx="3154680" cy="457200"/>
          </a:xfrm>
          <a:prstGeom prst="rect">
            <a:avLst/>
          </a:prstGeom>
          <a:noFill/>
          <a:ln/>
        </p:spPr>
        <p:txBody>
          <a:bodyPr wrap="square" lIns="0" tIns="0" rIns="0" bIns="0"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MMR excluded — would be near-data-leakage, model learns vehicle physics instead</a:t>
            </a:r>
            <a:endParaRPr lang="en-US" sz="1000" dirty="0"/>
          </a:p>
        </p:txBody>
      </p:sp>
      <p:sp>
        <p:nvSpPr>
          <p:cNvPr id="24" name="Text 21"/>
          <p:cNvSpPr/>
          <p:nvPr/>
        </p:nvSpPr>
        <p:spPr>
          <a:xfrm>
            <a:off x="5532120" y="3355848"/>
            <a:ext cx="3154680" cy="457200"/>
          </a:xfrm>
          <a:prstGeom prst="rect">
            <a:avLst/>
          </a:prstGeom>
          <a:noFill/>
          <a:ln/>
        </p:spPr>
        <p:txBody>
          <a:bodyPr wrap="square" lIns="0" tIns="0" rIns="0" bIns="0"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17.6% MAE is strong without dealer estimates</a:t>
            </a:r>
            <a:endParaRPr lang="en-US" sz="1000" dirty="0"/>
          </a:p>
        </p:txBody>
      </p:sp>
      <p:sp>
        <p:nvSpPr>
          <p:cNvPr id="25" name="Text 22"/>
          <p:cNvSpPr/>
          <p:nvPr/>
        </p:nvSpPr>
        <p:spPr>
          <a:xfrm>
            <a:off x="5532120" y="3849624"/>
            <a:ext cx="3154680" cy="457200"/>
          </a:xfrm>
          <a:prstGeom prst="rect">
            <a:avLst/>
          </a:prstGeom>
          <a:noFill/>
          <a:ln/>
        </p:spPr>
        <p:txBody>
          <a:bodyPr wrap="square" lIns="0" tIns="0" rIns="0" bIns="0"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Odometer + Age dominate: physically plausible</a:t>
            </a:r>
            <a:endParaRPr lang="en-US" sz="1000" dirty="0"/>
          </a:p>
        </p:txBody>
      </p:sp>
      <p:sp>
        <p:nvSpPr>
          <p:cNvPr id="26" name="Text 23"/>
          <p:cNvSpPr/>
          <p:nvPr/>
        </p:nvSpPr>
        <p:spPr>
          <a:xfrm>
            <a:off x="5532120" y="4343400"/>
            <a:ext cx="3154680" cy="457200"/>
          </a:xfrm>
          <a:prstGeom prst="rect">
            <a:avLst/>
          </a:prstGeom>
          <a:noFill/>
          <a:ln/>
        </p:spPr>
        <p:txBody>
          <a:bodyPr wrap="square" lIns="0" tIns="0" rIns="0" bIns="0"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State feature pending — could add regional signal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3000" b="1" dirty="0">
                <a:solidFill>
                  <a:srgbClr val="0F2240"/>
                </a:solidFill>
                <a:latin typeface="Calibri" pitchFamily="34" charset="0"/>
                <a:ea typeface="Calibri" pitchFamily="34" charset="-122"/>
                <a:cs typeface="Calibri" pitchFamily="34" charset="-120"/>
              </a:rPr>
              <a:t>What's Done — What's Next</a:t>
            </a:r>
            <a:endParaRPr lang="en-US" sz="3000" dirty="0"/>
          </a:p>
        </p:txBody>
      </p:sp>
      <p:sp>
        <p:nvSpPr>
          <p:cNvPr id="3" name="Shape 1"/>
          <p:cNvSpPr/>
          <p:nvPr/>
        </p:nvSpPr>
        <p:spPr>
          <a:xfrm>
            <a:off x="365760" y="960120"/>
            <a:ext cx="3931920" cy="347472"/>
          </a:xfrm>
          <a:prstGeom prst="rect">
            <a:avLst/>
          </a:prstGeom>
          <a:solidFill>
            <a:srgbClr val="DCFCE7"/>
          </a:solidFill>
          <a:ln w="12700">
            <a:solidFill>
              <a:srgbClr val="86EFAC"/>
            </a:solidFill>
            <a:prstDash val="solid"/>
          </a:ln>
        </p:spPr>
      </p:sp>
      <p:sp>
        <p:nvSpPr>
          <p:cNvPr id="4" name="Text 2"/>
          <p:cNvSpPr/>
          <p:nvPr/>
        </p:nvSpPr>
        <p:spPr>
          <a:xfrm>
            <a:off x="502920" y="987552"/>
            <a:ext cx="3657600" cy="274320"/>
          </a:xfrm>
          <a:prstGeom prst="rect">
            <a:avLst/>
          </a:prstGeom>
          <a:noFill/>
          <a:ln/>
        </p:spPr>
        <p:txBody>
          <a:bodyPr wrap="square" lIns="0" tIns="0" rIns="0" bIns="0" rtlCol="0" anchor="ctr"/>
          <a:lstStyle/>
          <a:p>
            <a:pPr indent="0" marL="0">
              <a:buNone/>
            </a:pPr>
            <a:r>
              <a:rPr lang="en-US" sz="1300" b="1" dirty="0">
                <a:solidFill>
                  <a:srgbClr val="15803D"/>
                </a:solidFill>
                <a:latin typeface="Calibri" pitchFamily="34" charset="0"/>
                <a:ea typeface="Calibri" pitchFamily="34" charset="-122"/>
                <a:cs typeface="Calibri" pitchFamily="34" charset="-120"/>
              </a:rPr>
              <a:t>✅  Completed</a:t>
            </a:r>
            <a:endParaRPr lang="en-US" sz="1300" dirty="0"/>
          </a:p>
        </p:txBody>
      </p:sp>
      <p:sp>
        <p:nvSpPr>
          <p:cNvPr id="5" name="Shape 3"/>
          <p:cNvSpPr/>
          <p:nvPr/>
        </p:nvSpPr>
        <p:spPr>
          <a:xfrm>
            <a:off x="365760" y="1417320"/>
            <a:ext cx="3931920" cy="530352"/>
          </a:xfrm>
          <a:prstGeom prst="rect">
            <a:avLst/>
          </a:prstGeom>
          <a:solidFill>
            <a:srgbClr val="F0FDF4"/>
          </a:solidFill>
          <a:ln w="12700">
            <a:solidFill>
              <a:srgbClr val="E2E8F0"/>
            </a:solidFill>
            <a:prstDash val="solid"/>
          </a:ln>
        </p:spPr>
      </p:sp>
      <p:sp>
        <p:nvSpPr>
          <p:cNvPr id="6" name="Text 4"/>
          <p:cNvSpPr/>
          <p:nvPr/>
        </p:nvSpPr>
        <p:spPr>
          <a:xfrm>
            <a:off x="502920" y="1444752"/>
            <a:ext cx="3657600" cy="475488"/>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Data cleaning pipeline (558k rows, reproducible)</a:t>
            </a:r>
            <a:endParaRPr lang="en-US" sz="1100" dirty="0"/>
          </a:p>
        </p:txBody>
      </p:sp>
      <p:sp>
        <p:nvSpPr>
          <p:cNvPr id="7" name="Shape 5"/>
          <p:cNvSpPr/>
          <p:nvPr/>
        </p:nvSpPr>
        <p:spPr>
          <a:xfrm>
            <a:off x="365760" y="2039112"/>
            <a:ext cx="3931920" cy="530352"/>
          </a:xfrm>
          <a:prstGeom prst="rect">
            <a:avLst/>
          </a:prstGeom>
          <a:solidFill>
            <a:srgbClr val="FFFFFF"/>
          </a:solidFill>
          <a:ln w="12700">
            <a:solidFill>
              <a:srgbClr val="E2E8F0"/>
            </a:solidFill>
            <a:prstDash val="solid"/>
          </a:ln>
        </p:spPr>
      </p:sp>
      <p:sp>
        <p:nvSpPr>
          <p:cNvPr id="8" name="Text 6"/>
          <p:cNvSpPr/>
          <p:nvPr/>
        </p:nvSpPr>
        <p:spPr>
          <a:xfrm>
            <a:off x="502920" y="2066544"/>
            <a:ext cx="3657600" cy="475488"/>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Macro data pipeline: 9 FRED series, 1996–2026</a:t>
            </a:r>
            <a:endParaRPr lang="en-US" sz="1100" dirty="0"/>
          </a:p>
        </p:txBody>
      </p:sp>
      <p:sp>
        <p:nvSpPr>
          <p:cNvPr id="9" name="Shape 7"/>
          <p:cNvSpPr/>
          <p:nvPr/>
        </p:nvSpPr>
        <p:spPr>
          <a:xfrm>
            <a:off x="365760" y="2660904"/>
            <a:ext cx="3931920" cy="530352"/>
          </a:xfrm>
          <a:prstGeom prst="rect">
            <a:avLst/>
          </a:prstGeom>
          <a:solidFill>
            <a:srgbClr val="F0FDF4"/>
          </a:solidFill>
          <a:ln w="12700">
            <a:solidFill>
              <a:srgbClr val="E2E8F0"/>
            </a:solidFill>
            <a:prstDash val="solid"/>
          </a:ln>
        </p:spPr>
      </p:sp>
      <p:sp>
        <p:nvSpPr>
          <p:cNvPr id="10" name="Text 8"/>
          <p:cNvSpPr/>
          <p:nvPr/>
        </p:nvSpPr>
        <p:spPr>
          <a:xfrm>
            <a:off x="502920" y="2688336"/>
            <a:ext cx="3657600" cy="475488"/>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cpi_multiplier as MUVVI-proxy for Stage 2</a:t>
            </a:r>
            <a:endParaRPr lang="en-US" sz="1100" dirty="0"/>
          </a:p>
        </p:txBody>
      </p:sp>
      <p:sp>
        <p:nvSpPr>
          <p:cNvPr id="11" name="Shape 9"/>
          <p:cNvSpPr/>
          <p:nvPr/>
        </p:nvSpPr>
        <p:spPr>
          <a:xfrm>
            <a:off x="365760" y="3282696"/>
            <a:ext cx="3931920" cy="530352"/>
          </a:xfrm>
          <a:prstGeom prst="rect">
            <a:avLst/>
          </a:prstGeom>
          <a:solidFill>
            <a:srgbClr val="FFFFFF"/>
          </a:solidFill>
          <a:ln w="12700">
            <a:solidFill>
              <a:srgbClr val="E2E8F0"/>
            </a:solidFill>
            <a:prstDash val="solid"/>
          </a:ln>
        </p:spPr>
      </p:sp>
      <p:sp>
        <p:nvSpPr>
          <p:cNvPr id="12" name="Text 10"/>
          <p:cNvSpPr/>
          <p:nvPr/>
        </p:nvSpPr>
        <p:spPr>
          <a:xfrm>
            <a:off x="502920" y="3310128"/>
            <a:ext cx="3657600" cy="475488"/>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Stage 1 XGBoost trained &amp; saved (MAE $2,451)</a:t>
            </a:r>
            <a:endParaRPr lang="en-US" sz="1100" dirty="0"/>
          </a:p>
        </p:txBody>
      </p:sp>
      <p:sp>
        <p:nvSpPr>
          <p:cNvPr id="13" name="Shape 11"/>
          <p:cNvSpPr/>
          <p:nvPr/>
        </p:nvSpPr>
        <p:spPr>
          <a:xfrm>
            <a:off x="365760" y="3904488"/>
            <a:ext cx="3931920" cy="530352"/>
          </a:xfrm>
          <a:prstGeom prst="rect">
            <a:avLst/>
          </a:prstGeom>
          <a:solidFill>
            <a:srgbClr val="F0FDF4"/>
          </a:solidFill>
          <a:ln w="12700">
            <a:solidFill>
              <a:srgbClr val="E2E8F0"/>
            </a:solidFill>
            <a:prstDash val="solid"/>
          </a:ln>
        </p:spPr>
      </p:sp>
      <p:sp>
        <p:nvSpPr>
          <p:cNvPr id="14" name="Text 12"/>
          <p:cNvSpPr/>
          <p:nvPr/>
        </p:nvSpPr>
        <p:spPr>
          <a:xfrm>
            <a:off x="502920" y="3931920"/>
            <a:ext cx="3657600" cy="475488"/>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macro_index.csv fixed: sorted, trimmed, ffill'd</a:t>
            </a:r>
            <a:endParaRPr lang="en-US" sz="1100" dirty="0"/>
          </a:p>
        </p:txBody>
      </p:sp>
      <p:sp>
        <p:nvSpPr>
          <p:cNvPr id="15" name="Shape 13"/>
          <p:cNvSpPr/>
          <p:nvPr/>
        </p:nvSpPr>
        <p:spPr>
          <a:xfrm>
            <a:off x="4572000" y="960120"/>
            <a:ext cx="4206240" cy="347472"/>
          </a:xfrm>
          <a:prstGeom prst="rect">
            <a:avLst/>
          </a:prstGeom>
          <a:solidFill>
            <a:srgbClr val="FEF3C7"/>
          </a:solidFill>
          <a:ln w="12700">
            <a:solidFill>
              <a:srgbClr val="FCD34D"/>
            </a:solidFill>
            <a:prstDash val="solid"/>
          </a:ln>
        </p:spPr>
      </p:sp>
      <p:sp>
        <p:nvSpPr>
          <p:cNvPr id="16" name="Text 14"/>
          <p:cNvSpPr/>
          <p:nvPr/>
        </p:nvSpPr>
        <p:spPr>
          <a:xfrm>
            <a:off x="4709160" y="987552"/>
            <a:ext cx="3931920" cy="274320"/>
          </a:xfrm>
          <a:prstGeom prst="rect">
            <a:avLst/>
          </a:prstGeom>
          <a:noFill/>
          <a:ln/>
        </p:spPr>
        <p:txBody>
          <a:bodyPr wrap="square" lIns="0" tIns="0" rIns="0" bIns="0" rtlCol="0" anchor="ctr"/>
          <a:lstStyle/>
          <a:p>
            <a:pPr indent="0" marL="0">
              <a:buNone/>
            </a:pPr>
            <a:r>
              <a:rPr lang="en-US" sz="1300" b="1" dirty="0">
                <a:solidFill>
                  <a:srgbClr val="92400E"/>
                </a:solidFill>
                <a:latin typeface="Calibri" pitchFamily="34" charset="0"/>
                <a:ea typeface="Calibri" pitchFamily="34" charset="-122"/>
                <a:cs typeface="Calibri" pitchFamily="34" charset="-120"/>
              </a:rPr>
              <a:t>🔜  Up Next</a:t>
            </a:r>
            <a:endParaRPr lang="en-US" sz="1300" dirty="0"/>
          </a:p>
        </p:txBody>
      </p:sp>
      <p:sp>
        <p:nvSpPr>
          <p:cNvPr id="17" name="Shape 15"/>
          <p:cNvSpPr/>
          <p:nvPr/>
        </p:nvSpPr>
        <p:spPr>
          <a:xfrm>
            <a:off x="4572000" y="1417320"/>
            <a:ext cx="4206240" cy="530352"/>
          </a:xfrm>
          <a:prstGeom prst="rect">
            <a:avLst/>
          </a:prstGeom>
          <a:solidFill>
            <a:srgbClr val="FFFBEB"/>
          </a:solidFill>
          <a:ln w="12700">
            <a:solidFill>
              <a:srgbClr val="E2E8F0"/>
            </a:solidFill>
            <a:prstDash val="solid"/>
          </a:ln>
        </p:spPr>
      </p:sp>
      <p:sp>
        <p:nvSpPr>
          <p:cNvPr id="18" name="Text 16"/>
          <p:cNvSpPr/>
          <p:nvPr/>
        </p:nvSpPr>
        <p:spPr>
          <a:xfrm>
            <a:off x="4709160" y="1444752"/>
            <a:ext cx="3931920" cy="475488"/>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Stage 2: apply cpi_multiplier to Stage 1 output</a:t>
            </a:r>
            <a:endParaRPr lang="en-US" sz="1100" dirty="0"/>
          </a:p>
        </p:txBody>
      </p:sp>
      <p:sp>
        <p:nvSpPr>
          <p:cNvPr id="19" name="Shape 17"/>
          <p:cNvSpPr/>
          <p:nvPr/>
        </p:nvSpPr>
        <p:spPr>
          <a:xfrm>
            <a:off x="4572000" y="2039112"/>
            <a:ext cx="4206240" cy="530352"/>
          </a:xfrm>
          <a:prstGeom prst="rect">
            <a:avLst/>
          </a:prstGeom>
          <a:solidFill>
            <a:srgbClr val="FFFFFF"/>
          </a:solidFill>
          <a:ln w="12700">
            <a:solidFill>
              <a:srgbClr val="E2E8F0"/>
            </a:solidFill>
            <a:prstDash val="solid"/>
          </a:ln>
        </p:spPr>
      </p:sp>
      <p:sp>
        <p:nvSpPr>
          <p:cNvPr id="20" name="Text 18"/>
          <p:cNvSpPr/>
          <p:nvPr/>
        </p:nvSpPr>
        <p:spPr>
          <a:xfrm>
            <a:off x="4709160" y="2066544"/>
            <a:ext cx="3931920" cy="475488"/>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Stage 3: body-type seasonal adjustment factors</a:t>
            </a:r>
            <a:endParaRPr lang="en-US" sz="1100" dirty="0"/>
          </a:p>
        </p:txBody>
      </p:sp>
      <p:sp>
        <p:nvSpPr>
          <p:cNvPr id="21" name="Shape 19"/>
          <p:cNvSpPr/>
          <p:nvPr/>
        </p:nvSpPr>
        <p:spPr>
          <a:xfrm>
            <a:off x="4572000" y="2660904"/>
            <a:ext cx="4206240" cy="530352"/>
          </a:xfrm>
          <a:prstGeom prst="rect">
            <a:avLst/>
          </a:prstGeom>
          <a:solidFill>
            <a:srgbClr val="FFFBEB"/>
          </a:solidFill>
          <a:ln w="12700">
            <a:solidFill>
              <a:srgbClr val="E2E8F0"/>
            </a:solidFill>
            <a:prstDash val="solid"/>
          </a:ln>
        </p:spPr>
      </p:sp>
      <p:sp>
        <p:nvSpPr>
          <p:cNvPr id="22" name="Text 20"/>
          <p:cNvSpPr/>
          <p:nvPr/>
        </p:nvSpPr>
        <p:spPr>
          <a:xfrm>
            <a:off x="4709160" y="2688336"/>
            <a:ext cx="3931920" cy="475488"/>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Streamlit App: vehicle input form + live price</a:t>
            </a:r>
            <a:endParaRPr lang="en-US" sz="1100" dirty="0"/>
          </a:p>
        </p:txBody>
      </p:sp>
      <p:sp>
        <p:nvSpPr>
          <p:cNvPr id="23" name="Shape 21"/>
          <p:cNvSpPr/>
          <p:nvPr/>
        </p:nvSpPr>
        <p:spPr>
          <a:xfrm>
            <a:off x="4572000" y="3282696"/>
            <a:ext cx="4206240" cy="530352"/>
          </a:xfrm>
          <a:prstGeom prst="rect">
            <a:avLst/>
          </a:prstGeom>
          <a:solidFill>
            <a:srgbClr val="FFFFFF"/>
          </a:solidFill>
          <a:ln w="12700">
            <a:solidFill>
              <a:srgbClr val="E2E8F0"/>
            </a:solidFill>
            <a:prstDash val="solid"/>
          </a:ln>
        </p:spPr>
      </p:sp>
      <p:sp>
        <p:nvSpPr>
          <p:cNvPr id="24" name="Text 22"/>
          <p:cNvSpPr/>
          <p:nvPr/>
        </p:nvSpPr>
        <p:spPr>
          <a:xfrm>
            <a:off x="4709160" y="3310128"/>
            <a:ext cx="3931920" cy="475488"/>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LLM orchestrator: natural-language sell advice</a:t>
            </a:r>
            <a:endParaRPr lang="en-US" sz="1100" dirty="0"/>
          </a:p>
        </p:txBody>
      </p:sp>
      <p:sp>
        <p:nvSpPr>
          <p:cNvPr id="25" name="Shape 23"/>
          <p:cNvSpPr/>
          <p:nvPr/>
        </p:nvSpPr>
        <p:spPr>
          <a:xfrm>
            <a:off x="4572000" y="3904488"/>
            <a:ext cx="4206240" cy="530352"/>
          </a:xfrm>
          <a:prstGeom prst="rect">
            <a:avLst/>
          </a:prstGeom>
          <a:solidFill>
            <a:srgbClr val="FFFBEB"/>
          </a:solidFill>
          <a:ln w="12700">
            <a:solidFill>
              <a:srgbClr val="E2E8F0"/>
            </a:solidFill>
            <a:prstDash val="solid"/>
          </a:ln>
        </p:spPr>
      </p:sp>
      <p:sp>
        <p:nvSpPr>
          <p:cNvPr id="26" name="Text 24"/>
          <p:cNvSpPr/>
          <p:nvPr/>
        </p:nvSpPr>
        <p:spPr>
          <a:xfrm>
            <a:off x="4709160" y="3931920"/>
            <a:ext cx="3931920" cy="475488"/>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MUVVI vs. CPI: discuss with Prof → final choice</a:t>
            </a:r>
            <a:endParaRPr lang="en-US" sz="1100" dirty="0"/>
          </a:p>
        </p:txBody>
      </p:sp>
      <p:sp>
        <p:nvSpPr>
          <p:cNvPr id="27" name="Shape 25"/>
          <p:cNvSpPr/>
          <p:nvPr/>
        </p:nvSpPr>
        <p:spPr>
          <a:xfrm>
            <a:off x="365760" y="4663440"/>
            <a:ext cx="8412480" cy="292608"/>
          </a:xfrm>
          <a:prstGeom prst="rect">
            <a:avLst/>
          </a:prstGeom>
          <a:solidFill>
            <a:srgbClr val="0F2240"/>
          </a:solidFill>
          <a:ln w="12700">
            <a:solidFill>
              <a:srgbClr val="0F2240"/>
            </a:solidFill>
            <a:prstDash val="solid"/>
          </a:ln>
        </p:spPr>
      </p:sp>
      <p:sp>
        <p:nvSpPr>
          <p:cNvPr id="28" name="Text 26"/>
          <p:cNvSpPr/>
          <p:nvPr/>
        </p:nvSpPr>
        <p:spPr>
          <a:xfrm>
            <a:off x="502920" y="4690872"/>
            <a:ext cx="8229600" cy="237744"/>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Deadline: 31. Juli 2026   ·   Deliverables: Python Pipeline · 12-page LNCS Paper · This Presentation Deck</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AI Agent for Dynamic Used Car Pricing</dc:title>
  <dc:subject>PptxGenJS Presentation</dc:subject>
  <dc:creator>PptxGenJS</dc:creator>
  <cp:lastModifiedBy>PptxGenJS</cp:lastModifiedBy>
  <cp:revision>1</cp:revision>
  <dcterms:created xsi:type="dcterms:W3CDTF">2026-06-16T17:59:34Z</dcterms:created>
  <dcterms:modified xsi:type="dcterms:W3CDTF">2026-06-16T17:59:34Z</dcterms:modified>
</cp:coreProperties>
</file>